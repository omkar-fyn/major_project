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82" r:id="rId4"/>
    <p:sldId id="275" r:id="rId5"/>
    <p:sldId id="259" r:id="rId6"/>
    <p:sldId id="260" r:id="rId7"/>
    <p:sldId id="277" r:id="rId8"/>
    <p:sldId id="278" r:id="rId9"/>
    <p:sldId id="274" r:id="rId10"/>
    <p:sldId id="283" r:id="rId11"/>
    <p:sldId id="284" r:id="rId12"/>
    <p:sldId id="285" r:id="rId13"/>
    <p:sldId id="286" r:id="rId14"/>
    <p:sldId id="265" r:id="rId15"/>
    <p:sldId id="287" r:id="rId16"/>
    <p:sldId id="288" r:id="rId17"/>
    <p:sldId id="289" r:id="rId18"/>
  </p:sldIdLst>
  <p:sldSz cx="14630400" cy="8229600"/>
  <p:notesSz cx="14630400" cy="82296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5F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35EDA5-F613-FF1F-42E6-018C6FBADECA}" v="1600" dt="2026-04-12T13:09:03.353"/>
    <p1510:client id="{59D03AAA-A69D-B27F-8E3A-C662453ED0EF}" v="1530" dt="2026-04-12T05:56:40.08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72" y="44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4310634" y="104901"/>
            <a:ext cx="6009131" cy="330834"/>
          </a:xfrm>
          <a:prstGeom prst="rect">
            <a:avLst/>
          </a:prstGeom>
        </p:spPr>
        <p:txBody>
          <a:bodyPr wrap="square" lIns="0" tIns="0" rIns="0" bIns="0">
            <a:spAutoFit/>
          </a:bodyPr>
          <a:lstStyle>
            <a:lvl1pPr>
              <a:defRPr sz="30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2194560" y="4608576"/>
            <a:ext cx="10241280" cy="2057400"/>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800" b="1" i="0">
                <a:solidFill>
                  <a:srgbClr val="ADABAB"/>
                </a:solidFill>
                <a:latin typeface="Times New Roman"/>
                <a:cs typeface="Times New Roman"/>
              </a:defRPr>
            </a:lvl1pPr>
          </a:lstStyle>
          <a:p>
            <a:pPr marL="141605">
              <a:lnSpc>
                <a:spcPts val="2065"/>
              </a:lnSpc>
            </a:pPr>
            <a:r>
              <a:rPr spc="-10" dirty="0"/>
              <a:t>IoT-</a:t>
            </a:r>
            <a:r>
              <a:rPr dirty="0"/>
              <a:t>Based</a:t>
            </a:r>
            <a:r>
              <a:rPr spc="-30" dirty="0"/>
              <a:t> </a:t>
            </a:r>
            <a:r>
              <a:rPr dirty="0"/>
              <a:t>Smart</a:t>
            </a:r>
            <a:r>
              <a:rPr spc="-15" dirty="0"/>
              <a:t> </a:t>
            </a:r>
            <a:r>
              <a:rPr spc="-10" dirty="0"/>
              <a:t>Automobile</a:t>
            </a:r>
          </a:p>
        </p:txBody>
      </p:sp>
      <p:sp>
        <p:nvSpPr>
          <p:cNvPr id="5" name="Holder 5"/>
          <p:cNvSpPr>
            <a:spLocks noGrp="1"/>
          </p:cNvSpPr>
          <p:nvPr>
            <p:ph type="dt" sz="half" idx="6"/>
          </p:nvPr>
        </p:nvSpPr>
        <p:spPr/>
        <p:txBody>
          <a:bodyPr lIns="0" tIns="0" rIns="0" bIns="0"/>
          <a:lstStyle>
            <a:lvl1pPr>
              <a:defRPr sz="1800" b="0" i="0">
                <a:solidFill>
                  <a:srgbClr val="888888"/>
                </a:solidFill>
                <a:latin typeface="Arial MT"/>
                <a:cs typeface="Arial MT"/>
              </a:defRPr>
            </a:lvl1pPr>
          </a:lstStyle>
          <a:p>
            <a:pPr marL="12700">
              <a:lnSpc>
                <a:spcPts val="2090"/>
              </a:lnSpc>
            </a:pPr>
            <a:r>
              <a:rPr spc="-10" dirty="0"/>
              <a:t>26/11/2025</a:t>
            </a:r>
          </a:p>
        </p:txBody>
      </p:sp>
      <p:sp>
        <p:nvSpPr>
          <p:cNvPr id="6" name="Holder 6"/>
          <p:cNvSpPr>
            <a:spLocks noGrp="1"/>
          </p:cNvSpPr>
          <p:nvPr>
            <p:ph type="sldNum" sz="quarter" idx="7"/>
          </p:nvPr>
        </p:nvSpPr>
        <p:spPr/>
        <p:txBody>
          <a:bodyPr lIns="0" tIns="0" rIns="0" bIns="0"/>
          <a:lstStyle>
            <a:lvl1pPr>
              <a:defRPr sz="1800" b="0" i="0">
                <a:solidFill>
                  <a:srgbClr val="888888"/>
                </a:solidFill>
                <a:latin typeface="Arial MT"/>
                <a:cs typeface="Arial MT"/>
              </a:defRPr>
            </a:lvl1pPr>
          </a:lstStyle>
          <a:p>
            <a:pPr marL="363855">
              <a:lnSpc>
                <a:spcPct val="100000"/>
              </a:lnSpc>
              <a:spcBef>
                <a:spcPts val="45"/>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800" b="1" i="0">
                <a:solidFill>
                  <a:srgbClr val="ADABAB"/>
                </a:solidFill>
                <a:latin typeface="Times New Roman"/>
                <a:cs typeface="Times New Roman"/>
              </a:defRPr>
            </a:lvl1pPr>
          </a:lstStyle>
          <a:p>
            <a:pPr marL="141605">
              <a:lnSpc>
                <a:spcPts val="2065"/>
              </a:lnSpc>
            </a:pPr>
            <a:r>
              <a:rPr spc="-10" dirty="0"/>
              <a:t>IoT-</a:t>
            </a:r>
            <a:r>
              <a:rPr dirty="0"/>
              <a:t>Based</a:t>
            </a:r>
            <a:r>
              <a:rPr spc="-30" dirty="0"/>
              <a:t> </a:t>
            </a:r>
            <a:r>
              <a:rPr dirty="0"/>
              <a:t>Smart</a:t>
            </a:r>
            <a:r>
              <a:rPr spc="-15" dirty="0"/>
              <a:t> </a:t>
            </a:r>
            <a:r>
              <a:rPr spc="-10" dirty="0"/>
              <a:t>Automobile</a:t>
            </a:r>
          </a:p>
        </p:txBody>
      </p:sp>
      <p:sp>
        <p:nvSpPr>
          <p:cNvPr id="5" name="Holder 5"/>
          <p:cNvSpPr>
            <a:spLocks noGrp="1"/>
          </p:cNvSpPr>
          <p:nvPr>
            <p:ph type="dt" sz="half" idx="6"/>
          </p:nvPr>
        </p:nvSpPr>
        <p:spPr/>
        <p:txBody>
          <a:bodyPr lIns="0" tIns="0" rIns="0" bIns="0"/>
          <a:lstStyle>
            <a:lvl1pPr>
              <a:defRPr sz="1800" b="0" i="0">
                <a:solidFill>
                  <a:srgbClr val="888888"/>
                </a:solidFill>
                <a:latin typeface="Arial MT"/>
                <a:cs typeface="Arial MT"/>
              </a:defRPr>
            </a:lvl1pPr>
          </a:lstStyle>
          <a:p>
            <a:pPr marL="12700">
              <a:lnSpc>
                <a:spcPts val="2090"/>
              </a:lnSpc>
            </a:pPr>
            <a:r>
              <a:rPr spc="-10" dirty="0"/>
              <a:t>26/11/2025</a:t>
            </a:r>
          </a:p>
        </p:txBody>
      </p:sp>
      <p:sp>
        <p:nvSpPr>
          <p:cNvPr id="6" name="Holder 6"/>
          <p:cNvSpPr>
            <a:spLocks noGrp="1"/>
          </p:cNvSpPr>
          <p:nvPr>
            <p:ph type="sldNum" sz="quarter" idx="7"/>
          </p:nvPr>
        </p:nvSpPr>
        <p:spPr/>
        <p:txBody>
          <a:bodyPr lIns="0" tIns="0" rIns="0" bIns="0"/>
          <a:lstStyle>
            <a:lvl1pPr>
              <a:defRPr sz="1800" b="0" i="0">
                <a:solidFill>
                  <a:srgbClr val="888888"/>
                </a:solidFill>
                <a:latin typeface="Arial MT"/>
                <a:cs typeface="Arial MT"/>
              </a:defRPr>
            </a:lvl1pPr>
          </a:lstStyle>
          <a:p>
            <a:pPr marL="363855">
              <a:lnSpc>
                <a:spcPct val="100000"/>
              </a:lnSpc>
              <a:spcBef>
                <a:spcPts val="45"/>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731520" y="1892808"/>
            <a:ext cx="6364224" cy="543153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7534656" y="1892808"/>
            <a:ext cx="6364224" cy="543153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800" b="1" i="0">
                <a:solidFill>
                  <a:srgbClr val="ADABAB"/>
                </a:solidFill>
                <a:latin typeface="Times New Roman"/>
                <a:cs typeface="Times New Roman"/>
              </a:defRPr>
            </a:lvl1pPr>
          </a:lstStyle>
          <a:p>
            <a:pPr marL="141605">
              <a:lnSpc>
                <a:spcPts val="2065"/>
              </a:lnSpc>
            </a:pPr>
            <a:r>
              <a:rPr spc="-10" dirty="0"/>
              <a:t>IoT-</a:t>
            </a:r>
            <a:r>
              <a:rPr dirty="0"/>
              <a:t>Based</a:t>
            </a:r>
            <a:r>
              <a:rPr spc="-30" dirty="0"/>
              <a:t> </a:t>
            </a:r>
            <a:r>
              <a:rPr dirty="0"/>
              <a:t>Smart</a:t>
            </a:r>
            <a:r>
              <a:rPr spc="-15" dirty="0"/>
              <a:t> </a:t>
            </a:r>
            <a:r>
              <a:rPr spc="-10" dirty="0"/>
              <a:t>Automobile</a:t>
            </a:r>
          </a:p>
        </p:txBody>
      </p:sp>
      <p:sp>
        <p:nvSpPr>
          <p:cNvPr id="6" name="Holder 6"/>
          <p:cNvSpPr>
            <a:spLocks noGrp="1"/>
          </p:cNvSpPr>
          <p:nvPr>
            <p:ph type="dt" sz="half" idx="6"/>
          </p:nvPr>
        </p:nvSpPr>
        <p:spPr/>
        <p:txBody>
          <a:bodyPr lIns="0" tIns="0" rIns="0" bIns="0"/>
          <a:lstStyle>
            <a:lvl1pPr>
              <a:defRPr sz="1800" b="0" i="0">
                <a:solidFill>
                  <a:srgbClr val="888888"/>
                </a:solidFill>
                <a:latin typeface="Arial MT"/>
                <a:cs typeface="Arial MT"/>
              </a:defRPr>
            </a:lvl1pPr>
          </a:lstStyle>
          <a:p>
            <a:pPr marL="12700">
              <a:lnSpc>
                <a:spcPts val="2090"/>
              </a:lnSpc>
            </a:pPr>
            <a:r>
              <a:rPr spc="-10" dirty="0"/>
              <a:t>26/11/2025</a:t>
            </a:r>
          </a:p>
        </p:txBody>
      </p:sp>
      <p:sp>
        <p:nvSpPr>
          <p:cNvPr id="7" name="Holder 7"/>
          <p:cNvSpPr>
            <a:spLocks noGrp="1"/>
          </p:cNvSpPr>
          <p:nvPr>
            <p:ph type="sldNum" sz="quarter" idx="7"/>
          </p:nvPr>
        </p:nvSpPr>
        <p:spPr/>
        <p:txBody>
          <a:bodyPr lIns="0" tIns="0" rIns="0" bIns="0"/>
          <a:lstStyle>
            <a:lvl1pPr>
              <a:defRPr sz="1800" b="0" i="0">
                <a:solidFill>
                  <a:srgbClr val="888888"/>
                </a:solidFill>
                <a:latin typeface="Arial MT"/>
                <a:cs typeface="Arial MT"/>
              </a:defRPr>
            </a:lvl1pPr>
          </a:lstStyle>
          <a:p>
            <a:pPr marL="363855">
              <a:lnSpc>
                <a:spcPct val="100000"/>
              </a:lnSpc>
              <a:spcBef>
                <a:spcPts val="45"/>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800" b="1" i="0">
                <a:solidFill>
                  <a:srgbClr val="ADABAB"/>
                </a:solidFill>
                <a:latin typeface="Times New Roman"/>
                <a:cs typeface="Times New Roman"/>
              </a:defRPr>
            </a:lvl1pPr>
          </a:lstStyle>
          <a:p>
            <a:pPr marL="141605">
              <a:lnSpc>
                <a:spcPts val="2065"/>
              </a:lnSpc>
            </a:pPr>
            <a:r>
              <a:rPr spc="-10" dirty="0"/>
              <a:t>IoT-</a:t>
            </a:r>
            <a:r>
              <a:rPr dirty="0"/>
              <a:t>Based</a:t>
            </a:r>
            <a:r>
              <a:rPr spc="-30" dirty="0"/>
              <a:t> </a:t>
            </a:r>
            <a:r>
              <a:rPr dirty="0"/>
              <a:t>Smart</a:t>
            </a:r>
            <a:r>
              <a:rPr spc="-15" dirty="0"/>
              <a:t> </a:t>
            </a:r>
            <a:r>
              <a:rPr spc="-10" dirty="0"/>
              <a:t>Automobile</a:t>
            </a:r>
          </a:p>
        </p:txBody>
      </p:sp>
      <p:sp>
        <p:nvSpPr>
          <p:cNvPr id="4" name="Holder 4"/>
          <p:cNvSpPr>
            <a:spLocks noGrp="1"/>
          </p:cNvSpPr>
          <p:nvPr>
            <p:ph type="dt" sz="half" idx="6"/>
          </p:nvPr>
        </p:nvSpPr>
        <p:spPr/>
        <p:txBody>
          <a:bodyPr lIns="0" tIns="0" rIns="0" bIns="0"/>
          <a:lstStyle>
            <a:lvl1pPr>
              <a:defRPr sz="1800" b="0" i="0">
                <a:solidFill>
                  <a:srgbClr val="888888"/>
                </a:solidFill>
                <a:latin typeface="Arial MT"/>
                <a:cs typeface="Arial MT"/>
              </a:defRPr>
            </a:lvl1pPr>
          </a:lstStyle>
          <a:p>
            <a:pPr marL="12700">
              <a:lnSpc>
                <a:spcPts val="2090"/>
              </a:lnSpc>
            </a:pPr>
            <a:r>
              <a:rPr spc="-10" dirty="0"/>
              <a:t>26/11/2025</a:t>
            </a:r>
          </a:p>
        </p:txBody>
      </p:sp>
      <p:sp>
        <p:nvSpPr>
          <p:cNvPr id="5" name="Holder 5"/>
          <p:cNvSpPr>
            <a:spLocks noGrp="1"/>
          </p:cNvSpPr>
          <p:nvPr>
            <p:ph type="sldNum" sz="quarter" idx="7"/>
          </p:nvPr>
        </p:nvSpPr>
        <p:spPr/>
        <p:txBody>
          <a:bodyPr lIns="0" tIns="0" rIns="0" bIns="0"/>
          <a:lstStyle>
            <a:lvl1pPr>
              <a:defRPr sz="1800" b="0" i="0">
                <a:solidFill>
                  <a:srgbClr val="888888"/>
                </a:solidFill>
                <a:latin typeface="Arial MT"/>
                <a:cs typeface="Arial MT"/>
              </a:defRPr>
            </a:lvl1pPr>
          </a:lstStyle>
          <a:p>
            <a:pPr marL="363855">
              <a:lnSpc>
                <a:spcPct val="100000"/>
              </a:lnSpc>
              <a:spcBef>
                <a:spcPts val="45"/>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 y="1393948"/>
            <a:ext cx="14630400" cy="6835775"/>
          </a:xfrm>
          <a:custGeom>
            <a:avLst/>
            <a:gdLst/>
            <a:ahLst/>
            <a:cxnLst/>
            <a:rect l="l" t="t" r="r" b="b"/>
            <a:pathLst>
              <a:path w="14630400" h="6835775">
                <a:moveTo>
                  <a:pt x="0" y="6835648"/>
                </a:moveTo>
                <a:lnTo>
                  <a:pt x="14630400" y="6835648"/>
                </a:lnTo>
                <a:lnTo>
                  <a:pt x="14630400" y="0"/>
                </a:lnTo>
                <a:lnTo>
                  <a:pt x="0" y="0"/>
                </a:lnTo>
                <a:lnTo>
                  <a:pt x="0" y="6835648"/>
                </a:lnTo>
                <a:close/>
              </a:path>
            </a:pathLst>
          </a:custGeom>
          <a:ln w="19050">
            <a:solidFill>
              <a:srgbClr val="2D5395"/>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800" b="1" i="0">
                <a:solidFill>
                  <a:srgbClr val="ADABAB"/>
                </a:solidFill>
                <a:latin typeface="Times New Roman"/>
                <a:cs typeface="Times New Roman"/>
              </a:defRPr>
            </a:lvl1pPr>
          </a:lstStyle>
          <a:p>
            <a:pPr marL="141605">
              <a:lnSpc>
                <a:spcPts val="2065"/>
              </a:lnSpc>
            </a:pPr>
            <a:r>
              <a:rPr spc="-10" dirty="0"/>
              <a:t>IoT-</a:t>
            </a:r>
            <a:r>
              <a:rPr dirty="0"/>
              <a:t>Based</a:t>
            </a:r>
            <a:r>
              <a:rPr spc="-30" dirty="0"/>
              <a:t> </a:t>
            </a:r>
            <a:r>
              <a:rPr dirty="0"/>
              <a:t>Smart</a:t>
            </a:r>
            <a:r>
              <a:rPr spc="-15" dirty="0"/>
              <a:t> </a:t>
            </a:r>
            <a:r>
              <a:rPr spc="-10" dirty="0"/>
              <a:t>Automobile</a:t>
            </a:r>
          </a:p>
        </p:txBody>
      </p:sp>
      <p:sp>
        <p:nvSpPr>
          <p:cNvPr id="3" name="Holder 3"/>
          <p:cNvSpPr>
            <a:spLocks noGrp="1"/>
          </p:cNvSpPr>
          <p:nvPr>
            <p:ph type="dt" sz="half" idx="6"/>
          </p:nvPr>
        </p:nvSpPr>
        <p:spPr/>
        <p:txBody>
          <a:bodyPr lIns="0" tIns="0" rIns="0" bIns="0"/>
          <a:lstStyle>
            <a:lvl1pPr>
              <a:defRPr sz="1800" b="0" i="0">
                <a:solidFill>
                  <a:srgbClr val="888888"/>
                </a:solidFill>
                <a:latin typeface="Arial MT"/>
                <a:cs typeface="Arial MT"/>
              </a:defRPr>
            </a:lvl1pPr>
          </a:lstStyle>
          <a:p>
            <a:pPr marL="12700">
              <a:lnSpc>
                <a:spcPts val="2090"/>
              </a:lnSpc>
            </a:pPr>
            <a:r>
              <a:rPr spc="-10" dirty="0"/>
              <a:t>26/11/2025</a:t>
            </a:r>
          </a:p>
        </p:txBody>
      </p:sp>
      <p:sp>
        <p:nvSpPr>
          <p:cNvPr id="4" name="Holder 4"/>
          <p:cNvSpPr>
            <a:spLocks noGrp="1"/>
          </p:cNvSpPr>
          <p:nvPr>
            <p:ph type="sldNum" sz="quarter" idx="7"/>
          </p:nvPr>
        </p:nvSpPr>
        <p:spPr/>
        <p:txBody>
          <a:bodyPr lIns="0" tIns="0" rIns="0" bIns="0"/>
          <a:lstStyle>
            <a:lvl1pPr>
              <a:defRPr sz="1800" b="0" i="0">
                <a:solidFill>
                  <a:srgbClr val="888888"/>
                </a:solidFill>
                <a:latin typeface="Arial MT"/>
                <a:cs typeface="Arial MT"/>
              </a:defRPr>
            </a:lvl1pPr>
          </a:lstStyle>
          <a:p>
            <a:pPr marL="363855">
              <a:lnSpc>
                <a:spcPct val="100000"/>
              </a:lnSpc>
              <a:spcBef>
                <a:spcPts val="45"/>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541398" cy="533019"/>
          </a:xfrm>
          <a:prstGeom prst="rect">
            <a:avLst/>
          </a:prstGeom>
        </p:spPr>
      </p:pic>
      <p:sp>
        <p:nvSpPr>
          <p:cNvPr id="17" name="bg object 17"/>
          <p:cNvSpPr/>
          <p:nvPr/>
        </p:nvSpPr>
        <p:spPr>
          <a:xfrm>
            <a:off x="1541398" y="50"/>
            <a:ext cx="13089255" cy="501650"/>
          </a:xfrm>
          <a:custGeom>
            <a:avLst/>
            <a:gdLst/>
            <a:ahLst/>
            <a:cxnLst/>
            <a:rect l="l" t="t" r="r" b="b"/>
            <a:pathLst>
              <a:path w="13089255" h="501650">
                <a:moveTo>
                  <a:pt x="13089001" y="0"/>
                </a:moveTo>
                <a:lnTo>
                  <a:pt x="0" y="0"/>
                </a:lnTo>
                <a:lnTo>
                  <a:pt x="0" y="501091"/>
                </a:lnTo>
                <a:lnTo>
                  <a:pt x="13089001" y="501091"/>
                </a:lnTo>
                <a:lnTo>
                  <a:pt x="13089001" y="0"/>
                </a:lnTo>
                <a:close/>
              </a:path>
            </a:pathLst>
          </a:custGeom>
          <a:solidFill>
            <a:srgbClr val="155F82"/>
          </a:solidFill>
        </p:spPr>
        <p:txBody>
          <a:bodyPr wrap="square" lIns="0" tIns="0" rIns="0" bIns="0" rtlCol="0"/>
          <a:lstStyle/>
          <a:p>
            <a:endParaRPr/>
          </a:p>
        </p:txBody>
      </p:sp>
      <p:sp>
        <p:nvSpPr>
          <p:cNvPr id="2" name="Holder 2"/>
          <p:cNvSpPr>
            <a:spLocks noGrp="1"/>
          </p:cNvSpPr>
          <p:nvPr>
            <p:ph type="title"/>
          </p:nvPr>
        </p:nvSpPr>
        <p:spPr>
          <a:xfrm>
            <a:off x="3493770" y="713358"/>
            <a:ext cx="7355840" cy="482600"/>
          </a:xfrm>
          <a:prstGeom prst="rect">
            <a:avLst/>
          </a:prstGeom>
        </p:spPr>
        <p:txBody>
          <a:bodyPr wrap="square" lIns="0" tIns="0" rIns="0" bIns="0">
            <a:spAutoFit/>
          </a:bodyPr>
          <a:lstStyle>
            <a:lvl1pPr>
              <a:defRPr sz="30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851001" y="1769490"/>
            <a:ext cx="12928396" cy="4479925"/>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5731509" y="7626128"/>
            <a:ext cx="3036697" cy="306774"/>
          </a:xfrm>
          <a:prstGeom prst="rect">
            <a:avLst/>
          </a:prstGeom>
        </p:spPr>
        <p:txBody>
          <a:bodyPr wrap="square" lIns="0" tIns="0" rIns="0" bIns="0">
            <a:spAutoFit/>
          </a:bodyPr>
          <a:lstStyle>
            <a:lvl1pPr>
              <a:defRPr sz="1800" b="1" i="0">
                <a:solidFill>
                  <a:srgbClr val="ADABAB"/>
                </a:solidFill>
                <a:latin typeface="Times New Roman"/>
                <a:cs typeface="Times New Roman"/>
              </a:defRPr>
            </a:lvl1pPr>
          </a:lstStyle>
          <a:p>
            <a:pPr marL="141605">
              <a:lnSpc>
                <a:spcPts val="2065"/>
              </a:lnSpc>
            </a:pPr>
            <a:r>
              <a:rPr spc="-10" dirty="0"/>
              <a:t>IoT-</a:t>
            </a:r>
            <a:r>
              <a:rPr dirty="0"/>
              <a:t>Based</a:t>
            </a:r>
            <a:r>
              <a:rPr spc="-30" dirty="0"/>
              <a:t> </a:t>
            </a:r>
            <a:r>
              <a:rPr dirty="0"/>
              <a:t>Smart</a:t>
            </a:r>
            <a:r>
              <a:rPr spc="-15" dirty="0"/>
              <a:t> </a:t>
            </a:r>
            <a:r>
              <a:rPr spc="-10" dirty="0"/>
              <a:t>Automobile</a:t>
            </a:r>
          </a:p>
        </p:txBody>
      </p:sp>
      <p:sp>
        <p:nvSpPr>
          <p:cNvPr id="5" name="Holder 5"/>
          <p:cNvSpPr>
            <a:spLocks noGrp="1"/>
          </p:cNvSpPr>
          <p:nvPr>
            <p:ph type="dt" sz="half" idx="6"/>
          </p:nvPr>
        </p:nvSpPr>
        <p:spPr>
          <a:xfrm>
            <a:off x="4673" y="7617676"/>
            <a:ext cx="1225956" cy="321233"/>
          </a:xfrm>
          <a:prstGeom prst="rect">
            <a:avLst/>
          </a:prstGeom>
        </p:spPr>
        <p:txBody>
          <a:bodyPr wrap="square" lIns="0" tIns="0" rIns="0" bIns="0">
            <a:spAutoFit/>
          </a:bodyPr>
          <a:lstStyle>
            <a:lvl1pPr>
              <a:defRPr sz="1800" b="0" i="0">
                <a:solidFill>
                  <a:srgbClr val="888888"/>
                </a:solidFill>
                <a:latin typeface="Arial MT"/>
                <a:cs typeface="Arial MT"/>
              </a:defRPr>
            </a:lvl1pPr>
          </a:lstStyle>
          <a:p>
            <a:pPr marL="12700">
              <a:lnSpc>
                <a:spcPts val="2090"/>
              </a:lnSpc>
            </a:pPr>
            <a:r>
              <a:rPr spc="-10" dirty="0"/>
              <a:t>26/11/2025</a:t>
            </a:r>
          </a:p>
        </p:txBody>
      </p:sp>
      <p:sp>
        <p:nvSpPr>
          <p:cNvPr id="6" name="Holder 6"/>
          <p:cNvSpPr>
            <a:spLocks noGrp="1"/>
          </p:cNvSpPr>
          <p:nvPr>
            <p:ph type="sldNum" sz="quarter" idx="7"/>
          </p:nvPr>
        </p:nvSpPr>
        <p:spPr>
          <a:xfrm>
            <a:off x="13607541" y="7657910"/>
            <a:ext cx="541910" cy="281304"/>
          </a:xfrm>
          <a:prstGeom prst="rect">
            <a:avLst/>
          </a:prstGeom>
        </p:spPr>
        <p:txBody>
          <a:bodyPr wrap="square" lIns="0" tIns="0" rIns="0" bIns="0">
            <a:spAutoFit/>
          </a:bodyPr>
          <a:lstStyle>
            <a:lvl1pPr>
              <a:defRPr sz="1800" b="0" i="0">
                <a:solidFill>
                  <a:srgbClr val="888888"/>
                </a:solidFill>
                <a:latin typeface="Arial MT"/>
                <a:cs typeface="Arial MT"/>
              </a:defRPr>
            </a:lvl1pPr>
          </a:lstStyle>
          <a:p>
            <a:pPr marL="363855">
              <a:lnSpc>
                <a:spcPct val="100000"/>
              </a:lnSpc>
              <a:spcBef>
                <a:spcPts val="45"/>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amcgroup.edu.in/" TargetMode="External"/><Relationship Id="rId3" Type="http://schemas.openxmlformats.org/officeDocument/2006/relationships/image" Target="../media/image3.jp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5.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656203" y="1578807"/>
            <a:ext cx="7228840" cy="2891817"/>
          </a:xfrm>
          <a:prstGeom prst="rect">
            <a:avLst/>
          </a:prstGeom>
        </p:spPr>
        <p:txBody>
          <a:bodyPr vert="horz" wrap="square" lIns="0" tIns="12700" rIns="0" bIns="0" rtlCol="0" anchor="t">
            <a:spAutoFit/>
          </a:bodyPr>
          <a:lstStyle/>
          <a:p>
            <a:pPr marL="12700" marR="5080" indent="2120900">
              <a:lnSpc>
                <a:spcPct val="125099"/>
              </a:lnSpc>
              <a:spcBef>
                <a:spcPts val="100"/>
              </a:spcBef>
            </a:pPr>
            <a:r>
              <a:rPr sz="2800" b="1" spc="-45" dirty="0">
                <a:latin typeface="Times New Roman"/>
                <a:cs typeface="Times New Roman"/>
              </a:rPr>
              <a:t>DEPARTMENT</a:t>
            </a:r>
            <a:r>
              <a:rPr sz="2800" b="1" spc="-130" dirty="0">
                <a:latin typeface="Times New Roman"/>
                <a:cs typeface="Times New Roman"/>
              </a:rPr>
              <a:t> </a:t>
            </a:r>
            <a:r>
              <a:rPr sz="2800" b="1" spc="-25" dirty="0">
                <a:latin typeface="Times New Roman"/>
                <a:cs typeface="Times New Roman"/>
              </a:rPr>
              <a:t>OF </a:t>
            </a:r>
            <a:r>
              <a:rPr sz="2800" b="1" spc="-20" dirty="0">
                <a:latin typeface="Times New Roman"/>
                <a:cs typeface="Times New Roman"/>
              </a:rPr>
              <a:t>COMPUTER</a:t>
            </a:r>
            <a:r>
              <a:rPr sz="2800" b="1" spc="-130" dirty="0">
                <a:latin typeface="Times New Roman"/>
                <a:cs typeface="Times New Roman"/>
              </a:rPr>
              <a:t> </a:t>
            </a:r>
            <a:r>
              <a:rPr sz="2800" b="1" spc="-10" dirty="0">
                <a:latin typeface="Times New Roman"/>
                <a:cs typeface="Times New Roman"/>
              </a:rPr>
              <a:t>SCIENCE</a:t>
            </a:r>
            <a:r>
              <a:rPr sz="2800" b="1" spc="-145" dirty="0">
                <a:latin typeface="Times New Roman"/>
                <a:cs typeface="Times New Roman"/>
              </a:rPr>
              <a:t> </a:t>
            </a:r>
            <a:r>
              <a:rPr sz="2800" b="1" dirty="0">
                <a:latin typeface="Times New Roman"/>
                <a:cs typeface="Times New Roman"/>
              </a:rPr>
              <a:t>AND</a:t>
            </a:r>
            <a:r>
              <a:rPr sz="2800" b="1" spc="-110" dirty="0">
                <a:latin typeface="Times New Roman"/>
                <a:cs typeface="Times New Roman"/>
              </a:rPr>
              <a:t> </a:t>
            </a:r>
            <a:r>
              <a:rPr sz="2800" b="1" spc="-10" dirty="0">
                <a:latin typeface="Times New Roman"/>
                <a:cs typeface="Times New Roman"/>
              </a:rPr>
              <a:t>ENGINEERING</a:t>
            </a:r>
            <a:endParaRPr lang="en-US" sz="2800" dirty="0">
              <a:latin typeface="Times New Roman"/>
              <a:cs typeface="Times New Roman"/>
            </a:endParaRPr>
          </a:p>
          <a:p>
            <a:pPr marL="12700" marR="5080" indent="2120900">
              <a:lnSpc>
                <a:spcPct val="125099"/>
              </a:lnSpc>
              <a:spcBef>
                <a:spcPts val="100"/>
              </a:spcBef>
            </a:pPr>
            <a:r>
              <a:rPr lang="en-US" sz="3200" b="1" spc="-10" dirty="0">
                <a:latin typeface="Times New Roman"/>
                <a:cs typeface="Times New Roman"/>
              </a:rPr>
              <a:t> Asset Tokenization: Decentralized Platform for real-World Asset Tokenization Using  Blockchain</a:t>
            </a:r>
            <a:endParaRPr lang="en-US" sz="2800" dirty="0">
              <a:latin typeface="Times New Roman"/>
              <a:cs typeface="Times New Roman"/>
            </a:endParaRPr>
          </a:p>
        </p:txBody>
      </p:sp>
      <p:sp>
        <p:nvSpPr>
          <p:cNvPr id="5" name="object 5"/>
          <p:cNvSpPr txBox="1"/>
          <p:nvPr/>
        </p:nvSpPr>
        <p:spPr>
          <a:xfrm>
            <a:off x="8570180" y="5832855"/>
            <a:ext cx="5569586" cy="766620"/>
          </a:xfrm>
          <a:prstGeom prst="rect">
            <a:avLst/>
          </a:prstGeom>
        </p:spPr>
        <p:txBody>
          <a:bodyPr vert="horz" wrap="square" lIns="0" tIns="12065" rIns="0" bIns="0" rtlCol="0" anchor="t">
            <a:spAutoFit/>
          </a:bodyPr>
          <a:lstStyle/>
          <a:p>
            <a:pPr marL="12700" marR="5080">
              <a:lnSpc>
                <a:spcPct val="113700"/>
              </a:lnSpc>
              <a:spcBef>
                <a:spcPts val="95"/>
              </a:spcBef>
            </a:pPr>
            <a:r>
              <a:rPr sz="2200" b="1" dirty="0">
                <a:latin typeface="Times New Roman"/>
                <a:cs typeface="Times New Roman"/>
              </a:rPr>
              <a:t>Under</a:t>
            </a:r>
            <a:r>
              <a:rPr sz="2200" b="1" spc="-75" dirty="0">
                <a:latin typeface="Times New Roman"/>
                <a:cs typeface="Times New Roman"/>
              </a:rPr>
              <a:t> </a:t>
            </a:r>
            <a:r>
              <a:rPr sz="2200" b="1" dirty="0">
                <a:latin typeface="Times New Roman"/>
                <a:cs typeface="Times New Roman"/>
              </a:rPr>
              <a:t>the</a:t>
            </a:r>
            <a:r>
              <a:rPr sz="2200" b="1" spc="-65" dirty="0">
                <a:latin typeface="Times New Roman"/>
                <a:cs typeface="Times New Roman"/>
              </a:rPr>
              <a:t> </a:t>
            </a:r>
            <a:r>
              <a:rPr sz="2200" b="1" dirty="0">
                <a:latin typeface="Times New Roman"/>
                <a:cs typeface="Times New Roman"/>
              </a:rPr>
              <a:t>guidance</a:t>
            </a:r>
            <a:r>
              <a:rPr sz="2200" b="1" spc="-100" dirty="0">
                <a:latin typeface="Times New Roman"/>
                <a:cs typeface="Times New Roman"/>
              </a:rPr>
              <a:t> </a:t>
            </a:r>
            <a:r>
              <a:rPr sz="2200" b="1" spc="-25" dirty="0">
                <a:latin typeface="Times New Roman"/>
                <a:cs typeface="Times New Roman"/>
              </a:rPr>
              <a:t>of </a:t>
            </a:r>
            <a:r>
              <a:rPr lang="en-US" sz="2200" b="1" spc="-25">
                <a:latin typeface="Times New Roman"/>
                <a:cs typeface="Times New Roman"/>
              </a:rPr>
              <a:t>Prof. Premkumar</a:t>
            </a:r>
            <a:r>
              <a:rPr lang="en-US" sz="2200" b="1" spc="-25" dirty="0">
                <a:latin typeface="Times New Roman"/>
                <a:cs typeface="Times New Roman"/>
              </a:rPr>
              <a:t> M K </a:t>
            </a:r>
            <a:r>
              <a:rPr lang="en-US" sz="2200" b="1" dirty="0">
                <a:latin typeface="Times New Roman"/>
                <a:cs typeface="Times New Roman"/>
              </a:rPr>
              <a:t> </a:t>
            </a:r>
            <a:endParaRPr lang="en-US" sz="2200" dirty="0">
              <a:latin typeface="Times New Roman"/>
              <a:cs typeface="Times New Roman"/>
            </a:endParaRPr>
          </a:p>
          <a:p>
            <a:pPr marL="12700" marR="5080">
              <a:lnSpc>
                <a:spcPct val="113700"/>
              </a:lnSpc>
              <a:spcBef>
                <a:spcPts val="95"/>
              </a:spcBef>
            </a:pPr>
            <a:r>
              <a:rPr sz="2200" b="1">
                <a:latin typeface="Times New Roman"/>
                <a:cs typeface="Times New Roman"/>
              </a:rPr>
              <a:t>Assistant</a:t>
            </a:r>
            <a:r>
              <a:rPr sz="2200" b="1" spc="-135" dirty="0">
                <a:latin typeface="Times New Roman"/>
                <a:cs typeface="Times New Roman"/>
              </a:rPr>
              <a:t> </a:t>
            </a:r>
            <a:r>
              <a:rPr sz="2200" b="1" spc="-10" dirty="0">
                <a:latin typeface="Times New Roman"/>
                <a:cs typeface="Times New Roman"/>
              </a:rPr>
              <a:t>Professor </a:t>
            </a:r>
            <a:r>
              <a:rPr sz="2200" b="1" dirty="0">
                <a:latin typeface="Times New Roman"/>
                <a:cs typeface="Times New Roman"/>
              </a:rPr>
              <a:t>Dept.</a:t>
            </a:r>
            <a:r>
              <a:rPr sz="2200" b="1" spc="-45" dirty="0">
                <a:latin typeface="Times New Roman"/>
                <a:cs typeface="Times New Roman"/>
              </a:rPr>
              <a:t> </a:t>
            </a:r>
            <a:r>
              <a:rPr sz="2200" b="1" spc="-10" dirty="0">
                <a:latin typeface="Times New Roman"/>
                <a:cs typeface="Times New Roman"/>
              </a:rPr>
              <a:t>CSE</a:t>
            </a:r>
            <a:r>
              <a:rPr sz="2200" b="1" spc="-105" dirty="0">
                <a:latin typeface="Times New Roman"/>
                <a:cs typeface="Times New Roman"/>
              </a:rPr>
              <a:t> </a:t>
            </a:r>
            <a:r>
              <a:rPr sz="2200" b="1" spc="-10" dirty="0">
                <a:latin typeface="Times New Roman"/>
                <a:cs typeface="Times New Roman"/>
              </a:rPr>
              <a:t>AMCEC</a:t>
            </a:r>
            <a:endParaRPr sz="2200">
              <a:latin typeface="Times New Roman"/>
              <a:cs typeface="Times New Roman"/>
            </a:endParaRPr>
          </a:p>
        </p:txBody>
      </p:sp>
      <p:grpSp>
        <p:nvGrpSpPr>
          <p:cNvPr id="6" name="object 6"/>
          <p:cNvGrpSpPr/>
          <p:nvPr/>
        </p:nvGrpSpPr>
        <p:grpSpPr>
          <a:xfrm>
            <a:off x="-8762" y="-12700"/>
            <a:ext cx="14648815" cy="1473835"/>
            <a:chOff x="-8762" y="-12700"/>
            <a:chExt cx="14648815" cy="1473835"/>
          </a:xfrm>
        </p:grpSpPr>
        <p:pic>
          <p:nvPicPr>
            <p:cNvPr id="7" name="object 7"/>
            <p:cNvPicPr/>
            <p:nvPr/>
          </p:nvPicPr>
          <p:blipFill>
            <a:blip r:embed="rId2" cstate="print"/>
            <a:stretch>
              <a:fillRect/>
            </a:stretch>
          </p:blipFill>
          <p:spPr>
            <a:xfrm>
              <a:off x="13043280" y="0"/>
              <a:ext cx="1587119" cy="1393952"/>
            </a:xfrm>
            <a:prstGeom prst="rect">
              <a:avLst/>
            </a:prstGeom>
          </p:spPr>
        </p:pic>
        <p:sp>
          <p:nvSpPr>
            <p:cNvPr id="8" name="object 8"/>
            <p:cNvSpPr/>
            <p:nvPr/>
          </p:nvSpPr>
          <p:spPr>
            <a:xfrm>
              <a:off x="13038454" y="758"/>
              <a:ext cx="1591945" cy="1398270"/>
            </a:xfrm>
            <a:custGeom>
              <a:avLst/>
              <a:gdLst/>
              <a:ahLst/>
              <a:cxnLst/>
              <a:rect l="l" t="t" r="r" b="b"/>
              <a:pathLst>
                <a:path w="1591944" h="1398270">
                  <a:moveTo>
                    <a:pt x="0" y="0"/>
                  </a:moveTo>
                  <a:lnTo>
                    <a:pt x="0" y="1398019"/>
                  </a:lnTo>
                  <a:lnTo>
                    <a:pt x="1591944" y="1398019"/>
                  </a:lnTo>
                </a:path>
              </a:pathLst>
            </a:custGeom>
            <a:ln w="9525">
              <a:solidFill>
                <a:srgbClr val="000000"/>
              </a:solidFill>
            </a:ln>
          </p:spPr>
          <p:txBody>
            <a:bodyPr wrap="square" lIns="0" tIns="0" rIns="0" bIns="0" rtlCol="0"/>
            <a:lstStyle/>
            <a:p>
              <a:endParaRPr/>
            </a:p>
          </p:txBody>
        </p:sp>
        <p:sp>
          <p:nvSpPr>
            <p:cNvPr id="9" name="object 9"/>
            <p:cNvSpPr/>
            <p:nvPr/>
          </p:nvSpPr>
          <p:spPr>
            <a:xfrm>
              <a:off x="762" y="761"/>
              <a:ext cx="14629765" cy="1402715"/>
            </a:xfrm>
            <a:custGeom>
              <a:avLst/>
              <a:gdLst/>
              <a:ahLst/>
              <a:cxnLst/>
              <a:rect l="l" t="t" r="r" b="b"/>
              <a:pathLst>
                <a:path w="14629765" h="1402715">
                  <a:moveTo>
                    <a:pt x="13032994" y="0"/>
                  </a:moveTo>
                  <a:lnTo>
                    <a:pt x="13032994" y="1402715"/>
                  </a:lnTo>
                  <a:lnTo>
                    <a:pt x="14629638" y="1402715"/>
                  </a:lnTo>
                </a:path>
                <a:path w="14629765" h="1402715">
                  <a:moveTo>
                    <a:pt x="0" y="1402715"/>
                  </a:moveTo>
                  <a:lnTo>
                    <a:pt x="13052044" y="1402715"/>
                  </a:lnTo>
                  <a:lnTo>
                    <a:pt x="13052044" y="0"/>
                  </a:lnTo>
                </a:path>
              </a:pathLst>
            </a:custGeom>
            <a:ln w="19050">
              <a:solidFill>
                <a:srgbClr val="2D5395"/>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76201" y="152349"/>
              <a:ext cx="2438400" cy="1077391"/>
            </a:xfrm>
            <a:prstGeom prst="rect">
              <a:avLst/>
            </a:prstGeom>
          </p:spPr>
        </p:pic>
        <p:sp>
          <p:nvSpPr>
            <p:cNvPr id="11" name="object 11"/>
            <p:cNvSpPr/>
            <p:nvPr/>
          </p:nvSpPr>
          <p:spPr>
            <a:xfrm>
              <a:off x="2524125" y="0"/>
              <a:ext cx="10509250" cy="1394460"/>
            </a:xfrm>
            <a:custGeom>
              <a:avLst/>
              <a:gdLst/>
              <a:ahLst/>
              <a:cxnLst/>
              <a:rect l="l" t="t" r="r" b="b"/>
              <a:pathLst>
                <a:path w="10509250" h="1394460">
                  <a:moveTo>
                    <a:pt x="10509250" y="0"/>
                  </a:moveTo>
                  <a:lnTo>
                    <a:pt x="0" y="0"/>
                  </a:lnTo>
                  <a:lnTo>
                    <a:pt x="0" y="1393952"/>
                  </a:lnTo>
                  <a:lnTo>
                    <a:pt x="10509250" y="1393952"/>
                  </a:lnTo>
                  <a:lnTo>
                    <a:pt x="10509250" y="0"/>
                  </a:lnTo>
                  <a:close/>
                </a:path>
              </a:pathLst>
            </a:custGeom>
            <a:solidFill>
              <a:srgbClr val="FFFFFF"/>
            </a:solidFill>
          </p:spPr>
          <p:txBody>
            <a:bodyPr wrap="square" lIns="0" tIns="0" rIns="0" bIns="0" rtlCol="0"/>
            <a:lstStyle/>
            <a:p>
              <a:endParaRPr/>
            </a:p>
          </p:txBody>
        </p:sp>
        <p:sp>
          <p:nvSpPr>
            <p:cNvPr id="12" name="object 12"/>
            <p:cNvSpPr/>
            <p:nvPr/>
          </p:nvSpPr>
          <p:spPr>
            <a:xfrm>
              <a:off x="2524125" y="0"/>
              <a:ext cx="10509250" cy="1394460"/>
            </a:xfrm>
            <a:custGeom>
              <a:avLst/>
              <a:gdLst/>
              <a:ahLst/>
              <a:cxnLst/>
              <a:rect l="l" t="t" r="r" b="b"/>
              <a:pathLst>
                <a:path w="10509250" h="1394460">
                  <a:moveTo>
                    <a:pt x="0" y="1393952"/>
                  </a:moveTo>
                  <a:lnTo>
                    <a:pt x="10509250" y="1393952"/>
                  </a:lnTo>
                  <a:lnTo>
                    <a:pt x="10509250" y="0"/>
                  </a:lnTo>
                  <a:lnTo>
                    <a:pt x="0" y="0"/>
                  </a:lnTo>
                  <a:lnTo>
                    <a:pt x="0" y="1393952"/>
                  </a:lnTo>
                  <a:close/>
                </a:path>
              </a:pathLst>
            </a:custGeom>
            <a:ln w="25400">
              <a:solidFill>
                <a:srgbClr val="F79546"/>
              </a:solidFill>
            </a:ln>
          </p:spPr>
          <p:txBody>
            <a:bodyPr wrap="square" lIns="0" tIns="0" rIns="0" bIns="0" rtlCol="0"/>
            <a:lstStyle/>
            <a:p>
              <a:endParaRPr/>
            </a:p>
          </p:txBody>
        </p:sp>
        <p:pic>
          <p:nvPicPr>
            <p:cNvPr id="13" name="object 13"/>
            <p:cNvPicPr/>
            <p:nvPr/>
          </p:nvPicPr>
          <p:blipFill>
            <a:blip r:embed="rId4" cstate="print"/>
            <a:stretch>
              <a:fillRect/>
            </a:stretch>
          </p:blipFill>
          <p:spPr>
            <a:xfrm>
              <a:off x="5451347" y="0"/>
              <a:ext cx="4717542" cy="585977"/>
            </a:xfrm>
            <a:prstGeom prst="rect">
              <a:avLst/>
            </a:prstGeom>
          </p:spPr>
        </p:pic>
        <p:pic>
          <p:nvPicPr>
            <p:cNvPr id="14" name="object 14"/>
            <p:cNvPicPr/>
            <p:nvPr/>
          </p:nvPicPr>
          <p:blipFill>
            <a:blip r:embed="rId5" cstate="print"/>
            <a:stretch>
              <a:fillRect/>
            </a:stretch>
          </p:blipFill>
          <p:spPr>
            <a:xfrm>
              <a:off x="5558027" y="274320"/>
              <a:ext cx="4449318" cy="454914"/>
            </a:xfrm>
            <a:prstGeom prst="rect">
              <a:avLst/>
            </a:prstGeom>
          </p:spPr>
        </p:pic>
        <p:pic>
          <p:nvPicPr>
            <p:cNvPr id="15" name="object 15"/>
            <p:cNvPicPr/>
            <p:nvPr/>
          </p:nvPicPr>
          <p:blipFill>
            <a:blip r:embed="rId6" cstate="print"/>
            <a:stretch>
              <a:fillRect/>
            </a:stretch>
          </p:blipFill>
          <p:spPr>
            <a:xfrm>
              <a:off x="4945379" y="518159"/>
              <a:ext cx="476262" cy="454914"/>
            </a:xfrm>
            <a:prstGeom prst="rect">
              <a:avLst/>
            </a:prstGeom>
          </p:spPr>
        </p:pic>
        <p:pic>
          <p:nvPicPr>
            <p:cNvPr id="16" name="object 16"/>
            <p:cNvPicPr/>
            <p:nvPr/>
          </p:nvPicPr>
          <p:blipFill>
            <a:blip r:embed="rId7" cstate="print"/>
            <a:stretch>
              <a:fillRect/>
            </a:stretch>
          </p:blipFill>
          <p:spPr>
            <a:xfrm>
              <a:off x="5189220" y="542544"/>
              <a:ext cx="308610" cy="313181"/>
            </a:xfrm>
            <a:prstGeom prst="rect">
              <a:avLst/>
            </a:prstGeom>
          </p:spPr>
        </p:pic>
        <p:pic>
          <p:nvPicPr>
            <p:cNvPr id="17" name="object 17"/>
            <p:cNvPicPr/>
            <p:nvPr/>
          </p:nvPicPr>
          <p:blipFill>
            <a:blip r:embed="rId8" cstate="print"/>
            <a:stretch>
              <a:fillRect/>
            </a:stretch>
          </p:blipFill>
          <p:spPr>
            <a:xfrm>
              <a:off x="5315712" y="518159"/>
              <a:ext cx="4627626" cy="454914"/>
            </a:xfrm>
            <a:prstGeom prst="rect">
              <a:avLst/>
            </a:prstGeom>
          </p:spPr>
        </p:pic>
        <p:pic>
          <p:nvPicPr>
            <p:cNvPr id="18" name="object 18"/>
            <p:cNvPicPr/>
            <p:nvPr/>
          </p:nvPicPr>
          <p:blipFill>
            <a:blip r:embed="rId9" cstate="print"/>
            <a:stretch>
              <a:fillRect/>
            </a:stretch>
          </p:blipFill>
          <p:spPr>
            <a:xfrm>
              <a:off x="9671304" y="518159"/>
              <a:ext cx="334530" cy="454914"/>
            </a:xfrm>
            <a:prstGeom prst="rect">
              <a:avLst/>
            </a:prstGeom>
          </p:spPr>
        </p:pic>
        <p:pic>
          <p:nvPicPr>
            <p:cNvPr id="19" name="object 19"/>
            <p:cNvPicPr/>
            <p:nvPr/>
          </p:nvPicPr>
          <p:blipFill>
            <a:blip r:embed="rId10" cstate="print"/>
            <a:stretch>
              <a:fillRect/>
            </a:stretch>
          </p:blipFill>
          <p:spPr>
            <a:xfrm>
              <a:off x="9733788" y="518159"/>
              <a:ext cx="936498" cy="454914"/>
            </a:xfrm>
            <a:prstGeom prst="rect">
              <a:avLst/>
            </a:prstGeom>
          </p:spPr>
        </p:pic>
        <p:pic>
          <p:nvPicPr>
            <p:cNvPr id="20" name="object 20"/>
            <p:cNvPicPr/>
            <p:nvPr/>
          </p:nvPicPr>
          <p:blipFill>
            <a:blip r:embed="rId11" cstate="print"/>
            <a:stretch>
              <a:fillRect/>
            </a:stretch>
          </p:blipFill>
          <p:spPr>
            <a:xfrm>
              <a:off x="5641847" y="762000"/>
              <a:ext cx="4280154" cy="454914"/>
            </a:xfrm>
            <a:prstGeom prst="rect">
              <a:avLst/>
            </a:prstGeom>
          </p:spPr>
        </p:pic>
        <p:pic>
          <p:nvPicPr>
            <p:cNvPr id="21" name="object 21"/>
            <p:cNvPicPr/>
            <p:nvPr/>
          </p:nvPicPr>
          <p:blipFill>
            <a:blip r:embed="rId12" cstate="print"/>
            <a:stretch>
              <a:fillRect/>
            </a:stretch>
          </p:blipFill>
          <p:spPr>
            <a:xfrm>
              <a:off x="6384035" y="1005839"/>
              <a:ext cx="2797302" cy="454914"/>
            </a:xfrm>
            <a:prstGeom prst="rect">
              <a:avLst/>
            </a:prstGeom>
          </p:spPr>
        </p:pic>
      </p:grpSp>
      <p:sp>
        <p:nvSpPr>
          <p:cNvPr id="22" name="object 22"/>
          <p:cNvSpPr txBox="1"/>
          <p:nvPr/>
        </p:nvSpPr>
        <p:spPr>
          <a:xfrm>
            <a:off x="5039867" y="-115697"/>
            <a:ext cx="5477510" cy="1437640"/>
          </a:xfrm>
          <a:prstGeom prst="rect">
            <a:avLst/>
          </a:prstGeom>
        </p:spPr>
        <p:txBody>
          <a:bodyPr vert="horz" wrap="square" lIns="0" tIns="12065" rIns="0" bIns="0" rtlCol="0">
            <a:spAutoFit/>
          </a:bodyPr>
          <a:lstStyle/>
          <a:p>
            <a:pPr marL="51435" algn="ctr">
              <a:lnSpc>
                <a:spcPct val="100000"/>
              </a:lnSpc>
              <a:spcBef>
                <a:spcPts val="95"/>
              </a:spcBef>
            </a:pPr>
            <a:r>
              <a:rPr lang="en-US" sz="2800" b="1" dirty="0">
                <a:latin typeface="Calibri"/>
                <a:cs typeface="Calibri"/>
              </a:rPr>
              <a:t>AMC</a:t>
            </a:r>
            <a:r>
              <a:rPr lang="en-US" sz="2800" b="1" spc="-114" dirty="0">
                <a:latin typeface="Calibri"/>
                <a:cs typeface="Calibri"/>
              </a:rPr>
              <a:t> </a:t>
            </a:r>
            <a:r>
              <a:rPr lang="en-US" sz="2800" b="1" dirty="0">
                <a:latin typeface="Calibri"/>
                <a:cs typeface="Calibri"/>
              </a:rPr>
              <a:t>ENGINEERING</a:t>
            </a:r>
            <a:r>
              <a:rPr lang="en-US" sz="2800" b="1" spc="-85" dirty="0">
                <a:latin typeface="Calibri"/>
                <a:cs typeface="Calibri"/>
              </a:rPr>
              <a:t> </a:t>
            </a:r>
            <a:r>
              <a:rPr lang="en-US" sz="2800" b="1" spc="-10" dirty="0">
                <a:latin typeface="Calibri"/>
                <a:cs typeface="Calibri"/>
              </a:rPr>
              <a:t>COLLEGE</a:t>
            </a:r>
            <a:endParaRPr lang="en-US" sz="2800" dirty="0">
              <a:latin typeface="Calibri"/>
              <a:cs typeface="Calibri"/>
            </a:endParaRPr>
          </a:p>
          <a:p>
            <a:pPr algn="ctr">
              <a:lnSpc>
                <a:spcPct val="100000"/>
              </a:lnSpc>
              <a:spcBef>
                <a:spcPts val="85"/>
              </a:spcBef>
            </a:pPr>
            <a:r>
              <a:rPr lang="en-US" sz="1600" dirty="0">
                <a:latin typeface="Calibri"/>
                <a:cs typeface="Calibri"/>
              </a:rPr>
              <a:t>(NAAC</a:t>
            </a:r>
            <a:r>
              <a:rPr lang="en-US" sz="1600" spc="-45" dirty="0">
                <a:latin typeface="Calibri"/>
                <a:cs typeface="Calibri"/>
              </a:rPr>
              <a:t> </a:t>
            </a:r>
            <a:r>
              <a:rPr lang="en-US" sz="1600" dirty="0">
                <a:latin typeface="Calibri"/>
                <a:cs typeface="Calibri"/>
              </a:rPr>
              <a:t>A+</a:t>
            </a:r>
            <a:r>
              <a:rPr lang="en-US" sz="1600" spc="-40" dirty="0">
                <a:latin typeface="Calibri"/>
                <a:cs typeface="Calibri"/>
              </a:rPr>
              <a:t> </a:t>
            </a:r>
            <a:r>
              <a:rPr lang="en-US" sz="1600" dirty="0">
                <a:latin typeface="Calibri"/>
                <a:cs typeface="Calibri"/>
              </a:rPr>
              <a:t>Accredited</a:t>
            </a:r>
            <a:r>
              <a:rPr lang="en-US" sz="1600" spc="-30" dirty="0">
                <a:latin typeface="Calibri"/>
                <a:cs typeface="Calibri"/>
              </a:rPr>
              <a:t> </a:t>
            </a:r>
            <a:r>
              <a:rPr lang="en-US" sz="1600" dirty="0">
                <a:latin typeface="Calibri"/>
                <a:cs typeface="Calibri"/>
              </a:rPr>
              <a:t>and</a:t>
            </a:r>
            <a:r>
              <a:rPr lang="en-US" sz="1600" spc="-60" dirty="0">
                <a:latin typeface="Calibri"/>
                <a:cs typeface="Calibri"/>
              </a:rPr>
              <a:t> </a:t>
            </a:r>
            <a:r>
              <a:rPr lang="en-US" sz="1600" dirty="0">
                <a:latin typeface="Calibri"/>
                <a:cs typeface="Calibri"/>
              </a:rPr>
              <a:t>AICTE</a:t>
            </a:r>
            <a:r>
              <a:rPr lang="en-US" sz="1600" spc="-45" dirty="0">
                <a:latin typeface="Calibri"/>
                <a:cs typeface="Calibri"/>
              </a:rPr>
              <a:t> </a:t>
            </a:r>
            <a:r>
              <a:rPr lang="en-US" sz="1600" dirty="0">
                <a:latin typeface="Calibri"/>
                <a:cs typeface="Calibri"/>
              </a:rPr>
              <a:t>Certified</a:t>
            </a:r>
            <a:r>
              <a:rPr lang="en-US" sz="1600" spc="-50" dirty="0">
                <a:latin typeface="Calibri"/>
                <a:cs typeface="Calibri"/>
              </a:rPr>
              <a:t> </a:t>
            </a:r>
            <a:r>
              <a:rPr lang="en-US" sz="1600" spc="-10" dirty="0">
                <a:latin typeface="Calibri"/>
                <a:cs typeface="Calibri"/>
              </a:rPr>
              <a:t>Institute)</a:t>
            </a:r>
            <a:endParaRPr lang="en-US" sz="1600" dirty="0">
              <a:latin typeface="Calibri"/>
              <a:cs typeface="Calibri"/>
            </a:endParaRPr>
          </a:p>
          <a:p>
            <a:pPr algn="ctr">
              <a:lnSpc>
                <a:spcPct val="100000"/>
              </a:lnSpc>
            </a:pPr>
            <a:r>
              <a:rPr lang="en-US" sz="1600" dirty="0">
                <a:latin typeface="Calibri"/>
                <a:cs typeface="Calibri"/>
              </a:rPr>
              <a:t>18</a:t>
            </a:r>
            <a:r>
              <a:rPr lang="en-US" sz="1575" baseline="26455" dirty="0">
                <a:latin typeface="Calibri"/>
                <a:cs typeface="Calibri"/>
              </a:rPr>
              <a:t>th</a:t>
            </a:r>
            <a:r>
              <a:rPr lang="en-US" sz="1575" spc="179" baseline="26455" dirty="0">
                <a:latin typeface="Calibri"/>
                <a:cs typeface="Calibri"/>
              </a:rPr>
              <a:t> </a:t>
            </a:r>
            <a:r>
              <a:rPr lang="en-US" sz="1600" dirty="0">
                <a:latin typeface="Calibri"/>
                <a:cs typeface="Calibri"/>
              </a:rPr>
              <a:t>K.M.</a:t>
            </a:r>
            <a:r>
              <a:rPr lang="en-US" sz="1600" spc="-30" dirty="0">
                <a:latin typeface="Calibri"/>
                <a:cs typeface="Calibri"/>
              </a:rPr>
              <a:t> </a:t>
            </a:r>
            <a:r>
              <a:rPr lang="en-US" sz="1600" dirty="0">
                <a:latin typeface="Calibri"/>
                <a:cs typeface="Calibri"/>
              </a:rPr>
              <a:t>Bannerghatta</a:t>
            </a:r>
            <a:r>
              <a:rPr lang="en-US" sz="1600" spc="-25" dirty="0">
                <a:latin typeface="Calibri"/>
                <a:cs typeface="Calibri"/>
              </a:rPr>
              <a:t> </a:t>
            </a:r>
            <a:r>
              <a:rPr lang="en-US" sz="1600" dirty="0">
                <a:latin typeface="Calibri"/>
                <a:cs typeface="Calibri"/>
              </a:rPr>
              <a:t>Main</a:t>
            </a:r>
            <a:r>
              <a:rPr lang="en-US" sz="1600" spc="-45" dirty="0">
                <a:latin typeface="Calibri"/>
                <a:cs typeface="Calibri"/>
              </a:rPr>
              <a:t> </a:t>
            </a:r>
            <a:r>
              <a:rPr lang="en-US" sz="1600" dirty="0">
                <a:latin typeface="Calibri"/>
                <a:cs typeface="Calibri"/>
              </a:rPr>
              <a:t>Road, Bengaluru,</a:t>
            </a:r>
            <a:r>
              <a:rPr lang="en-US" sz="1600" spc="-25" dirty="0">
                <a:latin typeface="Calibri"/>
                <a:cs typeface="Calibri"/>
              </a:rPr>
              <a:t> </a:t>
            </a:r>
            <a:r>
              <a:rPr lang="en-US" sz="1600" spc="-10" dirty="0">
                <a:latin typeface="Calibri"/>
                <a:cs typeface="Calibri"/>
              </a:rPr>
              <a:t>Karnataka-560083</a:t>
            </a:r>
            <a:endParaRPr lang="en-US" sz="1600" dirty="0">
              <a:latin typeface="Calibri"/>
              <a:cs typeface="Calibri"/>
            </a:endParaRPr>
          </a:p>
          <a:p>
            <a:pPr algn="ctr">
              <a:lnSpc>
                <a:spcPct val="100000"/>
              </a:lnSpc>
            </a:pPr>
            <a:r>
              <a:rPr lang="en-US" sz="1600" b="1" dirty="0">
                <a:latin typeface="Calibri"/>
                <a:cs typeface="Calibri"/>
              </a:rPr>
              <a:t>Phone</a:t>
            </a:r>
            <a:r>
              <a:rPr lang="en-US" sz="1600" b="1" spc="-50" dirty="0">
                <a:latin typeface="Calibri"/>
                <a:cs typeface="Calibri"/>
              </a:rPr>
              <a:t> </a:t>
            </a:r>
            <a:r>
              <a:rPr lang="en-US" sz="1600" b="1" dirty="0">
                <a:latin typeface="Calibri"/>
                <a:cs typeface="Calibri"/>
              </a:rPr>
              <a:t>No.</a:t>
            </a:r>
            <a:r>
              <a:rPr lang="en-US" sz="1600" b="1" spc="-60" dirty="0">
                <a:latin typeface="Calibri"/>
                <a:cs typeface="Calibri"/>
              </a:rPr>
              <a:t> </a:t>
            </a:r>
            <a:r>
              <a:rPr lang="en-US" sz="1600" b="1" dirty="0">
                <a:latin typeface="Calibri"/>
                <a:cs typeface="Calibri"/>
              </a:rPr>
              <a:t>Phone</a:t>
            </a:r>
            <a:r>
              <a:rPr lang="en-US" sz="1600" b="1" spc="-40" dirty="0">
                <a:latin typeface="Calibri"/>
                <a:cs typeface="Calibri"/>
              </a:rPr>
              <a:t> </a:t>
            </a:r>
            <a:r>
              <a:rPr lang="en-US" sz="1600" b="1" dirty="0">
                <a:latin typeface="Calibri"/>
                <a:cs typeface="Calibri"/>
              </a:rPr>
              <a:t>No.</a:t>
            </a:r>
            <a:r>
              <a:rPr lang="en-US" sz="1600" b="1" spc="-60" dirty="0">
                <a:latin typeface="Calibri"/>
                <a:cs typeface="Calibri"/>
              </a:rPr>
              <a:t> </a:t>
            </a:r>
            <a:r>
              <a:rPr lang="en-US" sz="1600" b="1" dirty="0">
                <a:latin typeface="Calibri"/>
                <a:cs typeface="Calibri"/>
              </a:rPr>
              <a:t>9250376104,</a:t>
            </a:r>
            <a:r>
              <a:rPr lang="en-US" sz="1600" b="1" spc="-10" dirty="0">
                <a:latin typeface="Calibri"/>
                <a:cs typeface="Calibri"/>
              </a:rPr>
              <a:t> 9811004275</a:t>
            </a:r>
            <a:endParaRPr lang="en-US" sz="1600" dirty="0">
              <a:latin typeface="Calibri"/>
              <a:cs typeface="Calibri"/>
            </a:endParaRPr>
          </a:p>
          <a:p>
            <a:pPr marL="1270" algn="ctr">
              <a:lnSpc>
                <a:spcPct val="100000"/>
              </a:lnSpc>
            </a:pPr>
            <a:r>
              <a:rPr lang="en-US" sz="1600" b="1" spc="-10" dirty="0">
                <a:latin typeface="Calibri"/>
                <a:cs typeface="Calibri"/>
                <a:hlinkClick r:id="rId13"/>
              </a:rPr>
              <a:t>http://www.amcgroup.edu.in</a:t>
            </a:r>
            <a:endParaRPr lang="en-US" sz="1600" dirty="0">
              <a:latin typeface="Calibri"/>
              <a:cs typeface="Calibri"/>
            </a:endParaRPr>
          </a:p>
        </p:txBody>
      </p:sp>
      <p:sp>
        <p:nvSpPr>
          <p:cNvPr id="29" name="TextBox 28">
            <a:extLst>
              <a:ext uri="{FF2B5EF4-FFF2-40B4-BE49-F238E27FC236}">
                <a16:creationId xmlns:a16="http://schemas.microsoft.com/office/drawing/2014/main" id="{8F0A5899-4601-ADCE-69F8-876B163B62A5}"/>
              </a:ext>
            </a:extLst>
          </p:cNvPr>
          <p:cNvSpPr txBox="1"/>
          <p:nvPr/>
        </p:nvSpPr>
        <p:spPr>
          <a:xfrm>
            <a:off x="815008" y="5267739"/>
            <a:ext cx="5916219"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dirty="0"/>
              <a:t>BY</a:t>
            </a:r>
          </a:p>
          <a:p>
            <a:pPr algn="l"/>
            <a:r>
              <a:rPr lang="en-US" sz="2000" b="1" dirty="0">
                <a:solidFill>
                  <a:srgbClr val="000000"/>
                </a:solidFill>
              </a:rPr>
              <a:t>Omkar Bharath Pukale(1AM23CS127)</a:t>
            </a:r>
          </a:p>
          <a:p>
            <a:pPr algn="l"/>
            <a:r>
              <a:rPr lang="en-US" sz="2400" b="1" dirty="0">
                <a:solidFill>
                  <a:srgbClr val="000000"/>
                </a:solidFill>
                <a:latin typeface="Calibri"/>
                <a:ea typeface="Calibri"/>
                <a:cs typeface="Calibri"/>
              </a:rPr>
              <a:t>Sahil Kumar Mishra(1AM23CS176)</a:t>
            </a:r>
            <a:endParaRPr lang="en-US" sz="2400" dirty="0">
              <a:solidFill>
                <a:srgbClr val="000000"/>
              </a:solidFill>
              <a:latin typeface="Calibri"/>
              <a:ea typeface="Calibri"/>
              <a:cs typeface="Calibri"/>
            </a:endParaRPr>
          </a:p>
          <a:p>
            <a:pPr algn="l"/>
            <a:r>
              <a:rPr lang="en-US" sz="2400" b="1" dirty="0">
                <a:solidFill>
                  <a:srgbClr val="000000"/>
                </a:solidFill>
                <a:latin typeface="Calibri"/>
                <a:ea typeface="Calibri"/>
                <a:cs typeface="Calibri"/>
              </a:rPr>
              <a:t>Sandesh G.C(1AM23CS183)</a:t>
            </a:r>
            <a:endParaRPr lang="en-US" sz="2400" dirty="0">
              <a:solidFill>
                <a:srgbClr val="000000"/>
              </a:solidFill>
              <a:latin typeface="Calibri"/>
              <a:ea typeface="Calibri"/>
              <a:cs typeface="Calibri"/>
            </a:endParaRPr>
          </a:p>
          <a:p>
            <a:pPr algn="l"/>
            <a:r>
              <a:rPr lang="en-US" sz="2400" b="1" dirty="0">
                <a:solidFill>
                  <a:srgbClr val="000000"/>
                </a:solidFill>
                <a:latin typeface="Calibri"/>
                <a:ea typeface="Calibri"/>
                <a:cs typeface="Calibri"/>
              </a:rPr>
              <a:t>Sanjitha A(1AM23CS186)</a:t>
            </a:r>
            <a:endParaRPr lang="en-US" sz="2400" dirty="0">
              <a:solidFill>
                <a:srgbClr val="000000"/>
              </a:solidFill>
              <a:latin typeface="Calibri"/>
              <a:ea typeface="Calibri"/>
              <a:cs typeface="Calibri"/>
            </a:endParaRPr>
          </a:p>
          <a:p>
            <a:pPr algn="l"/>
            <a:endParaRPr lang="en-US" sz="2400" b="1" dirty="0">
              <a:solidFill>
                <a:srgbClr val="000000"/>
              </a:solidFill>
            </a:endParaRPr>
          </a:p>
          <a:p>
            <a:pPr algn="l"/>
            <a:endParaRPr lang="en-US" sz="2400" b="1" dirty="0">
              <a:solidFill>
                <a:srgbClr val="000000"/>
              </a:solidFill>
            </a:endParaRPr>
          </a:p>
        </p:txBody>
      </p:sp>
      <p:sp>
        <p:nvSpPr>
          <p:cNvPr id="3" name="object 16">
            <a:extLst>
              <a:ext uri="{FF2B5EF4-FFF2-40B4-BE49-F238E27FC236}">
                <a16:creationId xmlns:a16="http://schemas.microsoft.com/office/drawing/2014/main" id="{FC69B36F-AB9C-D892-E574-87C5E3D93E3E}"/>
              </a:ext>
            </a:extLst>
          </p:cNvPr>
          <p:cNvSpPr txBox="1">
            <a:spLocks noGrp="1"/>
          </p:cNvSpPr>
          <p:nvPr>
            <p:ph type="sldNum" sz="quarter" idx="7"/>
          </p:nvPr>
        </p:nvSpPr>
        <p:spPr>
          <a:xfrm>
            <a:off x="13607541" y="7657910"/>
            <a:ext cx="541910" cy="281304"/>
          </a:xfrm>
          <a:prstGeom prst="rect">
            <a:avLst/>
          </a:prstGeom>
        </p:spPr>
        <p:txBody>
          <a:bodyPr vert="horz" wrap="square" lIns="0" tIns="0" rIns="0" bIns="0" rtlCol="0">
            <a:spAutoFit/>
          </a:bodyPr>
          <a:lstStyle/>
          <a:p>
            <a:pPr marL="164465">
              <a:lnSpc>
                <a:spcPts val="2090"/>
              </a:lnSpc>
            </a:pPr>
            <a:fld id="{81D60167-4931-47E6-BA6A-407CBD079E47}" type="slidenum">
              <a:rPr spc="-50" dirty="0"/>
              <a:t>1</a:t>
            </a:fld>
            <a:endParaRPr spc="-50" dirty="0"/>
          </a:p>
        </p:txBody>
      </p:sp>
      <p:sp>
        <p:nvSpPr>
          <p:cNvPr id="4" name="TextBox 3">
            <a:extLst>
              <a:ext uri="{FF2B5EF4-FFF2-40B4-BE49-F238E27FC236}">
                <a16:creationId xmlns:a16="http://schemas.microsoft.com/office/drawing/2014/main" id="{359A167C-AC16-CEC3-3B50-1CDF20BEEB90}"/>
              </a:ext>
            </a:extLst>
          </p:cNvPr>
          <p:cNvSpPr txBox="1"/>
          <p:nvPr/>
        </p:nvSpPr>
        <p:spPr>
          <a:xfrm>
            <a:off x="657226" y="7745532"/>
            <a:ext cx="2743200" cy="276999"/>
          </a:xfrm>
          <a:prstGeom prst="rect">
            <a:avLst/>
          </a:prstGeom>
          <a:noFill/>
        </p:spPr>
        <p:txBody>
          <a:bodyPr wrap="square" rtlCol="0">
            <a:spAutoFit/>
          </a:bodyPr>
          <a:lstStyle/>
          <a:p>
            <a:r>
              <a:rPr lang="en-US" sz="1200" dirty="0">
                <a:solidFill>
                  <a:schemeClr val="bg1">
                    <a:lumMod val="50000"/>
                  </a:schemeClr>
                </a:solidFill>
              </a:rPr>
              <a:t>ASSET TOKENIZATION</a:t>
            </a:r>
            <a:endParaRPr lang="en-IN" sz="1200" dirty="0">
              <a:solidFill>
                <a:schemeClr val="bg1">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55438" y="1025398"/>
            <a:ext cx="4578985" cy="513715"/>
          </a:xfrm>
          <a:prstGeom prst="rect">
            <a:avLst/>
          </a:prstGeom>
        </p:spPr>
        <p:txBody>
          <a:bodyPr vert="horz" wrap="square" lIns="0" tIns="12700" rIns="0" bIns="0" rtlCol="0">
            <a:spAutoFit/>
          </a:bodyPr>
          <a:lstStyle/>
          <a:p>
            <a:pPr marL="12700">
              <a:lnSpc>
                <a:spcPct val="100000"/>
              </a:lnSpc>
              <a:spcBef>
                <a:spcPts val="100"/>
              </a:spcBef>
            </a:pPr>
            <a:r>
              <a:rPr sz="3200" dirty="0"/>
              <a:t>PRESENTATION</a:t>
            </a:r>
            <a:r>
              <a:rPr sz="3200" spc="-85" dirty="0"/>
              <a:t> </a:t>
            </a:r>
            <a:r>
              <a:rPr sz="3200" spc="-20" dirty="0"/>
              <a:t>FLOW</a:t>
            </a:r>
            <a:endParaRPr sz="3200"/>
          </a:p>
        </p:txBody>
      </p:sp>
      <p:sp>
        <p:nvSpPr>
          <p:cNvPr id="12" name="object 12"/>
          <p:cNvSpPr/>
          <p:nvPr/>
        </p:nvSpPr>
        <p:spPr>
          <a:xfrm>
            <a:off x="5495651" y="7020648"/>
            <a:ext cx="3674110" cy="462915"/>
          </a:xfrm>
          <a:custGeom>
            <a:avLst/>
            <a:gdLst/>
            <a:ahLst/>
            <a:cxnLst/>
            <a:rect l="l" t="t" r="r" b="b"/>
            <a:pathLst>
              <a:path w="3674109" h="462915">
                <a:moveTo>
                  <a:pt x="0" y="77076"/>
                </a:moveTo>
                <a:lnTo>
                  <a:pt x="6062" y="47073"/>
                </a:lnTo>
                <a:lnTo>
                  <a:pt x="22590" y="22574"/>
                </a:lnTo>
                <a:lnTo>
                  <a:pt x="47095" y="6056"/>
                </a:lnTo>
                <a:lnTo>
                  <a:pt x="77088" y="0"/>
                </a:lnTo>
                <a:lnTo>
                  <a:pt x="3596512" y="0"/>
                </a:lnTo>
                <a:lnTo>
                  <a:pt x="3626506" y="6056"/>
                </a:lnTo>
                <a:lnTo>
                  <a:pt x="3651011" y="22574"/>
                </a:lnTo>
                <a:lnTo>
                  <a:pt x="3667539" y="47073"/>
                </a:lnTo>
                <a:lnTo>
                  <a:pt x="3673602" y="77076"/>
                </a:lnTo>
                <a:lnTo>
                  <a:pt x="3673602" y="385356"/>
                </a:lnTo>
                <a:lnTo>
                  <a:pt x="3667539" y="415351"/>
                </a:lnTo>
                <a:lnTo>
                  <a:pt x="3651011" y="439847"/>
                </a:lnTo>
                <a:lnTo>
                  <a:pt x="3626506" y="456363"/>
                </a:lnTo>
                <a:lnTo>
                  <a:pt x="3596512" y="462419"/>
                </a:lnTo>
                <a:lnTo>
                  <a:pt x="77088" y="462419"/>
                </a:lnTo>
                <a:lnTo>
                  <a:pt x="47095" y="456363"/>
                </a:lnTo>
                <a:lnTo>
                  <a:pt x="22590" y="439847"/>
                </a:lnTo>
                <a:lnTo>
                  <a:pt x="6062" y="415351"/>
                </a:lnTo>
                <a:lnTo>
                  <a:pt x="0" y="385356"/>
                </a:lnTo>
                <a:lnTo>
                  <a:pt x="0" y="77076"/>
                </a:lnTo>
                <a:close/>
              </a:path>
            </a:pathLst>
          </a:custGeom>
          <a:ln w="25400">
            <a:solidFill>
              <a:srgbClr val="FFFFFF"/>
            </a:solidFill>
          </a:ln>
        </p:spPr>
        <p:txBody>
          <a:bodyPr wrap="square" lIns="0" tIns="0" rIns="0" bIns="0" rtlCol="0"/>
          <a:lstStyle/>
          <a:p>
            <a:endParaRPr/>
          </a:p>
        </p:txBody>
      </p:sp>
      <p:sp>
        <p:nvSpPr>
          <p:cNvPr id="14" name="object 14"/>
          <p:cNvSpPr txBox="1"/>
          <p:nvPr/>
        </p:nvSpPr>
        <p:spPr>
          <a:xfrm>
            <a:off x="4312411" y="111709"/>
            <a:ext cx="5965825" cy="331470"/>
          </a:xfrm>
          <a:prstGeom prst="rect">
            <a:avLst/>
          </a:prstGeom>
        </p:spPr>
        <p:txBody>
          <a:bodyPr vert="horz" wrap="square" lIns="0" tIns="13335" rIns="0" bIns="0" rtlCol="0">
            <a:spAutoFit/>
          </a:bodyPr>
          <a:lstStyle/>
          <a:p>
            <a:pPr marL="12700">
              <a:lnSpc>
                <a:spcPct val="100000"/>
              </a:lnSpc>
              <a:spcBef>
                <a:spcPts val="105"/>
              </a:spcBef>
            </a:pPr>
            <a:r>
              <a:rPr sz="2000" spc="-30" dirty="0">
                <a:solidFill>
                  <a:srgbClr val="FFFFFF"/>
                </a:solidFill>
                <a:latin typeface="Calibri"/>
                <a:cs typeface="Calibri"/>
              </a:rPr>
              <a:t>DEPARTMENT</a:t>
            </a:r>
            <a:r>
              <a:rPr sz="2000" spc="-85" dirty="0">
                <a:solidFill>
                  <a:srgbClr val="FFFFFF"/>
                </a:solidFill>
                <a:latin typeface="Calibri"/>
                <a:cs typeface="Calibri"/>
              </a:rPr>
              <a:t> </a:t>
            </a:r>
            <a:r>
              <a:rPr sz="2000" dirty="0">
                <a:solidFill>
                  <a:srgbClr val="FFFFFF"/>
                </a:solidFill>
                <a:latin typeface="Calibri"/>
                <a:cs typeface="Calibri"/>
              </a:rPr>
              <a:t>OF</a:t>
            </a:r>
            <a:r>
              <a:rPr sz="2000" spc="-30" dirty="0">
                <a:solidFill>
                  <a:srgbClr val="FFFFFF"/>
                </a:solidFill>
                <a:latin typeface="Calibri"/>
                <a:cs typeface="Calibri"/>
              </a:rPr>
              <a:t> </a:t>
            </a:r>
            <a:r>
              <a:rPr sz="2000" dirty="0">
                <a:solidFill>
                  <a:srgbClr val="FFFFFF"/>
                </a:solidFill>
                <a:latin typeface="Calibri"/>
                <a:cs typeface="Calibri"/>
              </a:rPr>
              <a:t>COMPUTER</a:t>
            </a:r>
            <a:r>
              <a:rPr sz="2000" spc="-65" dirty="0">
                <a:solidFill>
                  <a:srgbClr val="FFFFFF"/>
                </a:solidFill>
                <a:latin typeface="Calibri"/>
                <a:cs typeface="Calibri"/>
              </a:rPr>
              <a:t> </a:t>
            </a:r>
            <a:r>
              <a:rPr sz="2000" dirty="0">
                <a:solidFill>
                  <a:srgbClr val="FFFFFF"/>
                </a:solidFill>
                <a:latin typeface="Calibri"/>
                <a:cs typeface="Calibri"/>
              </a:rPr>
              <a:t>SCIENCE</a:t>
            </a:r>
            <a:r>
              <a:rPr sz="2000" spc="-80" dirty="0">
                <a:solidFill>
                  <a:srgbClr val="FFFFFF"/>
                </a:solidFill>
                <a:latin typeface="Calibri"/>
                <a:cs typeface="Calibri"/>
              </a:rPr>
              <a:t> </a:t>
            </a:r>
            <a:r>
              <a:rPr sz="2000" dirty="0">
                <a:solidFill>
                  <a:srgbClr val="FFFFFF"/>
                </a:solidFill>
                <a:latin typeface="Calibri"/>
                <a:cs typeface="Calibri"/>
              </a:rPr>
              <a:t>AND</a:t>
            </a:r>
            <a:r>
              <a:rPr sz="2000" spc="-55" dirty="0">
                <a:solidFill>
                  <a:srgbClr val="FFFFFF"/>
                </a:solidFill>
                <a:latin typeface="Calibri"/>
                <a:cs typeface="Calibri"/>
              </a:rPr>
              <a:t> </a:t>
            </a:r>
            <a:r>
              <a:rPr sz="2000" spc="-10" dirty="0">
                <a:solidFill>
                  <a:srgbClr val="FFFFFF"/>
                </a:solidFill>
                <a:latin typeface="Calibri"/>
                <a:cs typeface="Calibri"/>
              </a:rPr>
              <a:t>ENGINEERING</a:t>
            </a:r>
            <a:endParaRPr sz="2000">
              <a:latin typeface="Calibri"/>
              <a:cs typeface="Calibri"/>
            </a:endParaRPr>
          </a:p>
        </p:txBody>
      </p:sp>
      <p:graphicFrame>
        <p:nvGraphicFramePr>
          <p:cNvPr id="10" name="Table 9">
            <a:extLst>
              <a:ext uri="{FF2B5EF4-FFF2-40B4-BE49-F238E27FC236}">
                <a16:creationId xmlns:a16="http://schemas.microsoft.com/office/drawing/2014/main" id="{0A6B898A-A702-134B-9C79-066CD1A01AF8}"/>
              </a:ext>
            </a:extLst>
          </p:cNvPr>
          <p:cNvGraphicFramePr>
            <a:graphicFrameLocks noGrp="1"/>
          </p:cNvGraphicFramePr>
          <p:nvPr>
            <p:extLst>
              <p:ext uri="{D42A27DB-BD31-4B8C-83A1-F6EECF244321}">
                <p14:modId xmlns:p14="http://schemas.microsoft.com/office/powerpoint/2010/main" val="164285633"/>
              </p:ext>
            </p:extLst>
          </p:nvPr>
        </p:nvGraphicFramePr>
        <p:xfrm>
          <a:off x="1541108" y="1828800"/>
          <a:ext cx="11441214" cy="4419600"/>
        </p:xfrm>
        <a:graphic>
          <a:graphicData uri="http://schemas.openxmlformats.org/drawingml/2006/table">
            <a:tbl>
              <a:tblPr firstRow="1" bandRow="1">
                <a:tableStyleId>{5C22544A-7EE6-4342-B048-85BDC9FD1C3A}</a:tableStyleId>
              </a:tblPr>
              <a:tblGrid>
                <a:gridCol w="11441214">
                  <a:extLst>
                    <a:ext uri="{9D8B030D-6E8A-4147-A177-3AD203B41FA5}">
                      <a16:colId xmlns:a16="http://schemas.microsoft.com/office/drawing/2014/main" val="202344502"/>
                    </a:ext>
                  </a:extLst>
                </a:gridCol>
              </a:tblGrid>
              <a:tr h="552450">
                <a:tc>
                  <a:txBody>
                    <a:bodyPr/>
                    <a:lstStyle/>
                    <a:p>
                      <a:pPr algn="ctr"/>
                      <a:r>
                        <a:rPr lang="en-US" b="1">
                          <a:solidFill>
                            <a:schemeClr val="tx1"/>
                          </a:solidFill>
                        </a:rPr>
                        <a:t>ABSTRACT</a:t>
                      </a:r>
                    </a:p>
                  </a:txBody>
                  <a:tcPr/>
                </a:tc>
                <a:extLst>
                  <a:ext uri="{0D108BD9-81ED-4DB2-BD59-A6C34878D82A}">
                    <a16:rowId xmlns:a16="http://schemas.microsoft.com/office/drawing/2014/main" val="2991068972"/>
                  </a:ext>
                </a:extLst>
              </a:tr>
              <a:tr h="552450">
                <a:tc>
                  <a:txBody>
                    <a:bodyPr/>
                    <a:lstStyle/>
                    <a:p>
                      <a:pPr algn="ctr"/>
                      <a:r>
                        <a:rPr lang="en-US" b="1">
                          <a:solidFill>
                            <a:schemeClr val="tx1"/>
                          </a:solidFill>
                        </a:rPr>
                        <a:t>INTRODUCTION</a:t>
                      </a:r>
                    </a:p>
                  </a:txBody>
                  <a:tcPr/>
                </a:tc>
                <a:extLst>
                  <a:ext uri="{0D108BD9-81ED-4DB2-BD59-A6C34878D82A}">
                    <a16:rowId xmlns:a16="http://schemas.microsoft.com/office/drawing/2014/main" val="216363542"/>
                  </a:ext>
                </a:extLst>
              </a:tr>
              <a:tr h="552450">
                <a:tc>
                  <a:txBody>
                    <a:bodyPr/>
                    <a:lstStyle/>
                    <a:p>
                      <a:pPr algn="ctr"/>
                      <a:r>
                        <a:rPr lang="en-US" b="1">
                          <a:solidFill>
                            <a:schemeClr val="tx1"/>
                          </a:solidFill>
                        </a:rPr>
                        <a:t>LITERATURE SURVEY</a:t>
                      </a:r>
                    </a:p>
                  </a:txBody>
                  <a:tcPr/>
                </a:tc>
                <a:extLst>
                  <a:ext uri="{0D108BD9-81ED-4DB2-BD59-A6C34878D82A}">
                    <a16:rowId xmlns:a16="http://schemas.microsoft.com/office/drawing/2014/main" val="1418864674"/>
                  </a:ext>
                </a:extLst>
              </a:tr>
              <a:tr h="552450">
                <a:tc>
                  <a:txBody>
                    <a:bodyPr/>
                    <a:lstStyle/>
                    <a:p>
                      <a:pPr algn="ctr"/>
                      <a:r>
                        <a:rPr lang="en-US" b="1" dirty="0">
                          <a:solidFill>
                            <a:schemeClr val="tx1"/>
                          </a:solidFill>
                        </a:rPr>
                        <a:t>PROBLEM STATEMENTS</a:t>
                      </a:r>
                    </a:p>
                  </a:txBody>
                  <a:tcPr/>
                </a:tc>
                <a:extLst>
                  <a:ext uri="{0D108BD9-81ED-4DB2-BD59-A6C34878D82A}">
                    <a16:rowId xmlns:a16="http://schemas.microsoft.com/office/drawing/2014/main" val="724552498"/>
                  </a:ext>
                </a:extLst>
              </a:tr>
              <a:tr h="552450">
                <a:tc>
                  <a:txBody>
                    <a:bodyPr/>
                    <a:lstStyle/>
                    <a:p>
                      <a:pPr algn="ctr"/>
                      <a:r>
                        <a:rPr lang="en-US" b="1">
                          <a:solidFill>
                            <a:schemeClr val="tx1"/>
                          </a:solidFill>
                        </a:rPr>
                        <a:t>OBJECTIVES</a:t>
                      </a:r>
                    </a:p>
                  </a:txBody>
                  <a:tcPr/>
                </a:tc>
                <a:extLst>
                  <a:ext uri="{0D108BD9-81ED-4DB2-BD59-A6C34878D82A}">
                    <a16:rowId xmlns:a16="http://schemas.microsoft.com/office/drawing/2014/main" val="2840527391"/>
                  </a:ext>
                </a:extLst>
              </a:tr>
              <a:tr h="552450">
                <a:tc>
                  <a:txBody>
                    <a:bodyPr/>
                    <a:lstStyle/>
                    <a:p>
                      <a:pPr algn="ctr"/>
                      <a:r>
                        <a:rPr lang="en-US" b="1">
                          <a:solidFill>
                            <a:schemeClr val="tx1"/>
                          </a:solidFill>
                        </a:rPr>
                        <a:t>METHODOLOGY</a:t>
                      </a:r>
                    </a:p>
                  </a:txBody>
                  <a:tcPr/>
                </a:tc>
                <a:extLst>
                  <a:ext uri="{0D108BD9-81ED-4DB2-BD59-A6C34878D82A}">
                    <a16:rowId xmlns:a16="http://schemas.microsoft.com/office/drawing/2014/main" val="2728748449"/>
                  </a:ext>
                </a:extLst>
              </a:tr>
              <a:tr h="552450">
                <a:tc>
                  <a:txBody>
                    <a:bodyPr/>
                    <a:lstStyle/>
                    <a:p>
                      <a:pPr algn="ctr"/>
                      <a:r>
                        <a:rPr lang="en-US" b="1">
                          <a:solidFill>
                            <a:schemeClr val="tx1"/>
                          </a:solidFill>
                        </a:rPr>
                        <a:t>ARCHITECTURE DIAGRAM</a:t>
                      </a:r>
                    </a:p>
                  </a:txBody>
                  <a:tcPr/>
                </a:tc>
                <a:extLst>
                  <a:ext uri="{0D108BD9-81ED-4DB2-BD59-A6C34878D82A}">
                    <a16:rowId xmlns:a16="http://schemas.microsoft.com/office/drawing/2014/main" val="613430359"/>
                  </a:ext>
                </a:extLst>
              </a:tr>
              <a:tr h="552450">
                <a:tc>
                  <a:txBody>
                    <a:bodyPr/>
                    <a:lstStyle/>
                    <a:p>
                      <a:pPr algn="ctr"/>
                      <a:r>
                        <a:rPr lang="en-US" b="1" dirty="0">
                          <a:solidFill>
                            <a:schemeClr val="tx1"/>
                          </a:solidFill>
                        </a:rPr>
                        <a:t>HARDWARE/SOFTWARE COMPONENTS</a:t>
                      </a:r>
                    </a:p>
                  </a:txBody>
                  <a:tcPr/>
                </a:tc>
                <a:extLst>
                  <a:ext uri="{0D108BD9-81ED-4DB2-BD59-A6C34878D82A}">
                    <a16:rowId xmlns:a16="http://schemas.microsoft.com/office/drawing/2014/main" val="3258180375"/>
                  </a:ext>
                </a:extLst>
              </a:tr>
            </a:tbl>
          </a:graphicData>
        </a:graphic>
      </p:graphicFrame>
      <p:graphicFrame>
        <p:nvGraphicFramePr>
          <p:cNvPr id="19" name="Table 18">
            <a:extLst>
              <a:ext uri="{FF2B5EF4-FFF2-40B4-BE49-F238E27FC236}">
                <a16:creationId xmlns:a16="http://schemas.microsoft.com/office/drawing/2014/main" id="{F635C2D8-28F4-6D98-98CD-751D7601E474}"/>
              </a:ext>
            </a:extLst>
          </p:cNvPr>
          <p:cNvGraphicFramePr>
            <a:graphicFrameLocks noGrp="1"/>
          </p:cNvGraphicFramePr>
          <p:nvPr>
            <p:extLst>
              <p:ext uri="{D42A27DB-BD31-4B8C-83A1-F6EECF244321}">
                <p14:modId xmlns:p14="http://schemas.microsoft.com/office/powerpoint/2010/main" val="3487312706"/>
              </p:ext>
            </p:extLst>
          </p:nvPr>
        </p:nvGraphicFramePr>
        <p:xfrm>
          <a:off x="1541108" y="6248400"/>
          <a:ext cx="11441214" cy="894080"/>
        </p:xfrm>
        <a:graphic>
          <a:graphicData uri="http://schemas.openxmlformats.org/drawingml/2006/table">
            <a:tbl>
              <a:tblPr firstRow="1" bandRow="1">
                <a:tableStyleId>{5C22544A-7EE6-4342-B048-85BDC9FD1C3A}</a:tableStyleId>
              </a:tblPr>
              <a:tblGrid>
                <a:gridCol w="11441214">
                  <a:extLst>
                    <a:ext uri="{9D8B030D-6E8A-4147-A177-3AD203B41FA5}">
                      <a16:colId xmlns:a16="http://schemas.microsoft.com/office/drawing/2014/main" val="1013006076"/>
                    </a:ext>
                  </a:extLst>
                </a:gridCol>
              </a:tblGrid>
              <a:tr h="447040">
                <a:tc>
                  <a:txBody>
                    <a:bodyPr/>
                    <a:lstStyle/>
                    <a:p>
                      <a:pPr algn="ctr"/>
                      <a:r>
                        <a:rPr lang="en-US" b="1">
                          <a:solidFill>
                            <a:schemeClr val="tx1"/>
                          </a:solidFill>
                        </a:rPr>
                        <a:t>DATA FLOW DIAGRAM</a:t>
                      </a:r>
                    </a:p>
                  </a:txBody>
                  <a:tcPr/>
                </a:tc>
                <a:extLst>
                  <a:ext uri="{0D108BD9-81ED-4DB2-BD59-A6C34878D82A}">
                    <a16:rowId xmlns:a16="http://schemas.microsoft.com/office/drawing/2014/main" val="3789338857"/>
                  </a:ext>
                </a:extLst>
              </a:tr>
              <a:tr h="447040">
                <a:tc>
                  <a:txBody>
                    <a:bodyPr/>
                    <a:lstStyle/>
                    <a:p>
                      <a:pPr algn="ctr"/>
                      <a:r>
                        <a:rPr lang="en-US" b="1" dirty="0">
                          <a:solidFill>
                            <a:schemeClr val="tx1"/>
                          </a:solidFill>
                        </a:rPr>
                        <a:t>APPLICATION SCREEN/DASHBOARDS</a:t>
                      </a:r>
                    </a:p>
                  </a:txBody>
                  <a:tcPr/>
                </a:tc>
                <a:extLst>
                  <a:ext uri="{0D108BD9-81ED-4DB2-BD59-A6C34878D82A}">
                    <a16:rowId xmlns:a16="http://schemas.microsoft.com/office/drawing/2014/main" val="56042115"/>
                  </a:ext>
                </a:extLst>
              </a:tr>
            </a:tbl>
          </a:graphicData>
        </a:graphic>
      </p:graphicFrame>
      <p:sp>
        <p:nvSpPr>
          <p:cNvPr id="7" name="object 16">
            <a:extLst>
              <a:ext uri="{FF2B5EF4-FFF2-40B4-BE49-F238E27FC236}">
                <a16:creationId xmlns:a16="http://schemas.microsoft.com/office/drawing/2014/main" id="{5B0386AC-FAB5-1B44-5D8E-FD529771C385}"/>
              </a:ext>
            </a:extLst>
          </p:cNvPr>
          <p:cNvSpPr txBox="1">
            <a:spLocks noGrp="1"/>
          </p:cNvSpPr>
          <p:nvPr>
            <p:ph type="sldNum" sz="quarter" idx="7"/>
          </p:nvPr>
        </p:nvSpPr>
        <p:spPr>
          <a:xfrm>
            <a:off x="13607541" y="7657910"/>
            <a:ext cx="541910" cy="281304"/>
          </a:xfrm>
          <a:prstGeom prst="rect">
            <a:avLst/>
          </a:prstGeom>
        </p:spPr>
        <p:txBody>
          <a:bodyPr vert="horz" wrap="square" lIns="0" tIns="0" rIns="0" bIns="0" rtlCol="0">
            <a:spAutoFit/>
          </a:bodyPr>
          <a:lstStyle/>
          <a:p>
            <a:pPr marL="164465">
              <a:lnSpc>
                <a:spcPts val="2090"/>
              </a:lnSpc>
            </a:pPr>
            <a:fld id="{81D60167-4931-47E6-BA6A-407CBD079E47}" type="slidenum">
              <a:rPr spc="-50" dirty="0"/>
              <a:t>2</a:t>
            </a:fld>
            <a:endParaRPr spc="-50" dirty="0"/>
          </a:p>
        </p:txBody>
      </p:sp>
      <p:sp>
        <p:nvSpPr>
          <p:cNvPr id="8" name="TextBox 7">
            <a:extLst>
              <a:ext uri="{FF2B5EF4-FFF2-40B4-BE49-F238E27FC236}">
                <a16:creationId xmlns:a16="http://schemas.microsoft.com/office/drawing/2014/main" id="{4E9586E4-57DC-9E6D-EFB7-98CADDF8E185}"/>
              </a:ext>
            </a:extLst>
          </p:cNvPr>
          <p:cNvSpPr txBox="1"/>
          <p:nvPr/>
        </p:nvSpPr>
        <p:spPr>
          <a:xfrm>
            <a:off x="657226" y="7745532"/>
            <a:ext cx="2743200" cy="276999"/>
          </a:xfrm>
          <a:prstGeom prst="rect">
            <a:avLst/>
          </a:prstGeom>
          <a:noFill/>
        </p:spPr>
        <p:txBody>
          <a:bodyPr wrap="square" rtlCol="0">
            <a:spAutoFit/>
          </a:bodyPr>
          <a:lstStyle/>
          <a:p>
            <a:r>
              <a:rPr lang="en-US" sz="1200" dirty="0">
                <a:solidFill>
                  <a:schemeClr val="bg1">
                    <a:lumMod val="50000"/>
                  </a:schemeClr>
                </a:solidFill>
              </a:rPr>
              <a:t>ASSET TOKENIZATION</a:t>
            </a:r>
            <a:endParaRPr lang="en-IN" sz="1200" dirty="0">
              <a:solidFill>
                <a:schemeClr val="bg1">
                  <a:lumMod val="50000"/>
                </a:schemeClr>
              </a:solidFill>
            </a:endParaRPr>
          </a:p>
        </p:txBody>
      </p:sp>
      <p:grpSp>
        <p:nvGrpSpPr>
          <p:cNvPr id="9" name="object 3">
            <a:extLst>
              <a:ext uri="{FF2B5EF4-FFF2-40B4-BE49-F238E27FC236}">
                <a16:creationId xmlns:a16="http://schemas.microsoft.com/office/drawing/2014/main" id="{FB6B5FD3-E0EC-4FBB-799F-B5A80675A08F}"/>
              </a:ext>
            </a:extLst>
          </p:cNvPr>
          <p:cNvGrpSpPr/>
          <p:nvPr/>
        </p:nvGrpSpPr>
        <p:grpSpPr>
          <a:xfrm>
            <a:off x="16854" y="0"/>
            <a:ext cx="14613800" cy="720000"/>
            <a:chOff x="16854" y="0"/>
            <a:chExt cx="14613800" cy="720000"/>
          </a:xfrm>
        </p:grpSpPr>
        <p:sp>
          <p:nvSpPr>
            <p:cNvPr id="11" name="object 4">
              <a:extLst>
                <a:ext uri="{FF2B5EF4-FFF2-40B4-BE49-F238E27FC236}">
                  <a16:creationId xmlns:a16="http://schemas.microsoft.com/office/drawing/2014/main" id="{19901D2D-5B84-6114-B23F-0167F9F6FB25}"/>
                </a:ext>
              </a:extLst>
            </p:cNvPr>
            <p:cNvSpPr/>
            <p:nvPr/>
          </p:nvSpPr>
          <p:spPr>
            <a:xfrm>
              <a:off x="1541399" y="38"/>
              <a:ext cx="13089255" cy="696811"/>
            </a:xfrm>
            <a:custGeom>
              <a:avLst/>
              <a:gdLst/>
              <a:ahLst/>
              <a:cxnLst/>
              <a:rect l="l" t="t" r="r" b="b"/>
              <a:pathLst>
                <a:path w="13089255" h="541655">
                  <a:moveTo>
                    <a:pt x="13089001" y="0"/>
                  </a:moveTo>
                  <a:lnTo>
                    <a:pt x="0" y="0"/>
                  </a:lnTo>
                  <a:lnTo>
                    <a:pt x="0" y="541489"/>
                  </a:lnTo>
                  <a:lnTo>
                    <a:pt x="13089001" y="541489"/>
                  </a:lnTo>
                  <a:lnTo>
                    <a:pt x="13089001" y="0"/>
                  </a:lnTo>
                  <a:close/>
                </a:path>
              </a:pathLst>
            </a:custGeom>
            <a:solidFill>
              <a:srgbClr val="155F82"/>
            </a:solidFill>
          </p:spPr>
          <p:txBody>
            <a:bodyPr wrap="square" lIns="0" tIns="0" rIns="0" bIns="0" rtlCol="0"/>
            <a:lstStyle/>
            <a:p>
              <a:endParaRPr/>
            </a:p>
          </p:txBody>
        </p:sp>
        <p:pic>
          <p:nvPicPr>
            <p:cNvPr id="13" name="object 5">
              <a:extLst>
                <a:ext uri="{FF2B5EF4-FFF2-40B4-BE49-F238E27FC236}">
                  <a16:creationId xmlns:a16="http://schemas.microsoft.com/office/drawing/2014/main" id="{2ECBBCF4-6ED7-5877-DABF-7B36A8ADA59C}"/>
                </a:ext>
              </a:extLst>
            </p:cNvPr>
            <p:cNvPicPr/>
            <p:nvPr/>
          </p:nvPicPr>
          <p:blipFill>
            <a:blip r:embed="rId2" cstate="print"/>
            <a:stretch>
              <a:fillRect/>
            </a:stretch>
          </p:blipFill>
          <p:spPr>
            <a:xfrm>
              <a:off x="13856311" y="0"/>
              <a:ext cx="720000" cy="720000"/>
            </a:xfrm>
            <a:prstGeom prst="rect">
              <a:avLst/>
            </a:prstGeom>
          </p:spPr>
        </p:pic>
        <p:pic>
          <p:nvPicPr>
            <p:cNvPr id="15" name="object 6">
              <a:extLst>
                <a:ext uri="{FF2B5EF4-FFF2-40B4-BE49-F238E27FC236}">
                  <a16:creationId xmlns:a16="http://schemas.microsoft.com/office/drawing/2014/main" id="{C372C397-7C08-A4C7-F003-DB39DDB5FF70}"/>
                </a:ext>
              </a:extLst>
            </p:cNvPr>
            <p:cNvPicPr/>
            <p:nvPr/>
          </p:nvPicPr>
          <p:blipFill>
            <a:blip r:embed="rId3" cstate="print"/>
            <a:stretch>
              <a:fillRect/>
            </a:stretch>
          </p:blipFill>
          <p:spPr>
            <a:xfrm>
              <a:off x="16854" y="11176"/>
              <a:ext cx="1524254" cy="685673"/>
            </a:xfrm>
            <a:prstGeom prst="rect">
              <a:avLst/>
            </a:prstGeom>
          </p:spPr>
        </p:pic>
      </p:grpSp>
      <p:sp>
        <p:nvSpPr>
          <p:cNvPr id="16" name="object 13">
            <a:extLst>
              <a:ext uri="{FF2B5EF4-FFF2-40B4-BE49-F238E27FC236}">
                <a16:creationId xmlns:a16="http://schemas.microsoft.com/office/drawing/2014/main" id="{92B6980E-3A70-02C5-8E78-4F51B196E997}"/>
              </a:ext>
            </a:extLst>
          </p:cNvPr>
          <p:cNvSpPr txBox="1"/>
          <p:nvPr/>
        </p:nvSpPr>
        <p:spPr>
          <a:xfrm>
            <a:off x="4312411" y="115315"/>
            <a:ext cx="5966460" cy="330835"/>
          </a:xfrm>
          <a:prstGeom prst="rect">
            <a:avLst/>
          </a:prstGeom>
        </p:spPr>
        <p:txBody>
          <a:bodyPr vert="horz" wrap="square" lIns="0" tIns="12700" rIns="0" bIns="0" rtlCol="0">
            <a:spAutoFit/>
          </a:bodyPr>
          <a:lstStyle/>
          <a:p>
            <a:pPr marL="12700">
              <a:lnSpc>
                <a:spcPct val="100000"/>
              </a:lnSpc>
              <a:spcBef>
                <a:spcPts val="100"/>
              </a:spcBef>
            </a:pPr>
            <a:r>
              <a:rPr sz="2000" spc="-30" dirty="0">
                <a:solidFill>
                  <a:srgbClr val="FFFFFF"/>
                </a:solidFill>
                <a:latin typeface="Calibri"/>
                <a:cs typeface="Calibri"/>
              </a:rPr>
              <a:t>DEPARTMENT</a:t>
            </a:r>
            <a:r>
              <a:rPr sz="2000" spc="-85" dirty="0">
                <a:solidFill>
                  <a:srgbClr val="FFFFFF"/>
                </a:solidFill>
                <a:latin typeface="Calibri"/>
                <a:cs typeface="Calibri"/>
              </a:rPr>
              <a:t> </a:t>
            </a:r>
            <a:r>
              <a:rPr sz="2000" dirty="0">
                <a:solidFill>
                  <a:srgbClr val="FFFFFF"/>
                </a:solidFill>
                <a:latin typeface="Calibri"/>
                <a:cs typeface="Calibri"/>
              </a:rPr>
              <a:t>OF</a:t>
            </a:r>
            <a:r>
              <a:rPr sz="2000" spc="-40" dirty="0">
                <a:solidFill>
                  <a:srgbClr val="FFFFFF"/>
                </a:solidFill>
                <a:latin typeface="Calibri"/>
                <a:cs typeface="Calibri"/>
              </a:rPr>
              <a:t> </a:t>
            </a:r>
            <a:r>
              <a:rPr sz="2000" dirty="0">
                <a:solidFill>
                  <a:srgbClr val="FFFFFF"/>
                </a:solidFill>
                <a:latin typeface="Calibri"/>
                <a:cs typeface="Calibri"/>
              </a:rPr>
              <a:t>COMPUTER</a:t>
            </a:r>
            <a:r>
              <a:rPr sz="2000" spc="-60" dirty="0">
                <a:solidFill>
                  <a:srgbClr val="FFFFFF"/>
                </a:solidFill>
                <a:latin typeface="Calibri"/>
                <a:cs typeface="Calibri"/>
              </a:rPr>
              <a:t> </a:t>
            </a:r>
            <a:r>
              <a:rPr sz="2000" dirty="0">
                <a:solidFill>
                  <a:srgbClr val="FFFFFF"/>
                </a:solidFill>
                <a:latin typeface="Calibri"/>
                <a:cs typeface="Calibri"/>
              </a:rPr>
              <a:t>SCIENCE</a:t>
            </a:r>
            <a:r>
              <a:rPr sz="2000" spc="-80" dirty="0">
                <a:solidFill>
                  <a:srgbClr val="FFFFFF"/>
                </a:solidFill>
                <a:latin typeface="Calibri"/>
                <a:cs typeface="Calibri"/>
              </a:rPr>
              <a:t> </a:t>
            </a:r>
            <a:r>
              <a:rPr sz="2000" dirty="0">
                <a:solidFill>
                  <a:srgbClr val="FFFFFF"/>
                </a:solidFill>
                <a:latin typeface="Calibri"/>
                <a:cs typeface="Calibri"/>
              </a:rPr>
              <a:t>AND</a:t>
            </a:r>
            <a:r>
              <a:rPr sz="2000" spc="-55" dirty="0">
                <a:solidFill>
                  <a:srgbClr val="FFFFFF"/>
                </a:solidFill>
                <a:latin typeface="Calibri"/>
                <a:cs typeface="Calibri"/>
              </a:rPr>
              <a:t> </a:t>
            </a:r>
            <a:r>
              <a:rPr sz="2000" spc="-10" dirty="0">
                <a:solidFill>
                  <a:srgbClr val="FFFFFF"/>
                </a:solidFill>
                <a:latin typeface="Calibri"/>
                <a:cs typeface="Calibri"/>
              </a:rPr>
              <a:t>ENGINEERING</a:t>
            </a:r>
            <a:endParaRPr sz="2000" dirty="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45634-1830-6713-3C1D-C0849722D817}"/>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3DC8BD80-EC48-531B-6769-BAED4AE11D26}"/>
              </a:ext>
            </a:extLst>
          </p:cNvPr>
          <p:cNvSpPr txBox="1">
            <a:spLocks noGrp="1"/>
          </p:cNvSpPr>
          <p:nvPr>
            <p:ph type="title"/>
          </p:nvPr>
        </p:nvSpPr>
        <p:spPr>
          <a:prstGeom prst="rect">
            <a:avLst/>
          </a:prstGeom>
        </p:spPr>
        <p:txBody>
          <a:bodyPr vert="horz" wrap="square" lIns="0" tIns="12700" rIns="0" bIns="0" rtlCol="0">
            <a:spAutoFit/>
          </a:bodyPr>
          <a:lstStyle/>
          <a:p>
            <a:pPr marL="2758440">
              <a:lnSpc>
                <a:spcPct val="100000"/>
              </a:lnSpc>
              <a:spcBef>
                <a:spcPts val="100"/>
              </a:spcBef>
            </a:pPr>
            <a:r>
              <a:rPr spc="-10" dirty="0"/>
              <a:t>ABSTRACT</a:t>
            </a:r>
          </a:p>
        </p:txBody>
      </p:sp>
      <p:sp>
        <p:nvSpPr>
          <p:cNvPr id="11" name="object 11">
            <a:extLst>
              <a:ext uri="{FF2B5EF4-FFF2-40B4-BE49-F238E27FC236}">
                <a16:creationId xmlns:a16="http://schemas.microsoft.com/office/drawing/2014/main" id="{00C39DA3-146A-8CA2-6694-BB7912811BAD}"/>
              </a:ext>
            </a:extLst>
          </p:cNvPr>
          <p:cNvSpPr txBox="1"/>
          <p:nvPr/>
        </p:nvSpPr>
        <p:spPr>
          <a:xfrm>
            <a:off x="4312411" y="122682"/>
            <a:ext cx="5966460" cy="330835"/>
          </a:xfrm>
          <a:prstGeom prst="rect">
            <a:avLst/>
          </a:prstGeom>
        </p:spPr>
        <p:txBody>
          <a:bodyPr vert="horz" wrap="square" lIns="0" tIns="12700" rIns="0" bIns="0" rtlCol="0">
            <a:spAutoFit/>
          </a:bodyPr>
          <a:lstStyle/>
          <a:p>
            <a:pPr marL="12700">
              <a:lnSpc>
                <a:spcPct val="100000"/>
              </a:lnSpc>
              <a:spcBef>
                <a:spcPts val="100"/>
              </a:spcBef>
            </a:pPr>
            <a:r>
              <a:rPr sz="2000" spc="-30" dirty="0">
                <a:solidFill>
                  <a:srgbClr val="FFFFFF"/>
                </a:solidFill>
                <a:latin typeface="Calibri"/>
                <a:cs typeface="Calibri"/>
              </a:rPr>
              <a:t>DEPARTMENT</a:t>
            </a:r>
            <a:r>
              <a:rPr sz="2000" spc="-85" dirty="0">
                <a:solidFill>
                  <a:srgbClr val="FFFFFF"/>
                </a:solidFill>
                <a:latin typeface="Calibri"/>
                <a:cs typeface="Calibri"/>
              </a:rPr>
              <a:t> </a:t>
            </a:r>
            <a:r>
              <a:rPr sz="2000" dirty="0">
                <a:solidFill>
                  <a:srgbClr val="FFFFFF"/>
                </a:solidFill>
                <a:latin typeface="Calibri"/>
                <a:cs typeface="Calibri"/>
              </a:rPr>
              <a:t>OF</a:t>
            </a:r>
            <a:r>
              <a:rPr sz="2000" spc="-40" dirty="0">
                <a:solidFill>
                  <a:srgbClr val="FFFFFF"/>
                </a:solidFill>
                <a:latin typeface="Calibri"/>
                <a:cs typeface="Calibri"/>
              </a:rPr>
              <a:t> </a:t>
            </a:r>
            <a:r>
              <a:rPr sz="2000" dirty="0">
                <a:solidFill>
                  <a:srgbClr val="FFFFFF"/>
                </a:solidFill>
                <a:latin typeface="Calibri"/>
                <a:cs typeface="Calibri"/>
              </a:rPr>
              <a:t>COMPUTER</a:t>
            </a:r>
            <a:r>
              <a:rPr sz="2000" spc="-60" dirty="0">
                <a:solidFill>
                  <a:srgbClr val="FFFFFF"/>
                </a:solidFill>
                <a:latin typeface="Calibri"/>
                <a:cs typeface="Calibri"/>
              </a:rPr>
              <a:t> </a:t>
            </a:r>
            <a:r>
              <a:rPr sz="2000" dirty="0">
                <a:solidFill>
                  <a:srgbClr val="FFFFFF"/>
                </a:solidFill>
                <a:latin typeface="Calibri"/>
                <a:cs typeface="Calibri"/>
              </a:rPr>
              <a:t>SCIENCE</a:t>
            </a:r>
            <a:r>
              <a:rPr sz="2000" spc="-80" dirty="0">
                <a:solidFill>
                  <a:srgbClr val="FFFFFF"/>
                </a:solidFill>
                <a:latin typeface="Calibri"/>
                <a:cs typeface="Calibri"/>
              </a:rPr>
              <a:t> </a:t>
            </a:r>
            <a:r>
              <a:rPr sz="2000" dirty="0">
                <a:solidFill>
                  <a:srgbClr val="FFFFFF"/>
                </a:solidFill>
                <a:latin typeface="Calibri"/>
                <a:cs typeface="Calibri"/>
              </a:rPr>
              <a:t>AND</a:t>
            </a:r>
            <a:r>
              <a:rPr sz="2000" spc="-55" dirty="0">
                <a:solidFill>
                  <a:srgbClr val="FFFFFF"/>
                </a:solidFill>
                <a:latin typeface="Calibri"/>
                <a:cs typeface="Calibri"/>
              </a:rPr>
              <a:t> </a:t>
            </a:r>
            <a:r>
              <a:rPr sz="2000" spc="-10" dirty="0">
                <a:solidFill>
                  <a:srgbClr val="FFFFFF"/>
                </a:solidFill>
                <a:latin typeface="Calibri"/>
                <a:cs typeface="Calibri"/>
              </a:rPr>
              <a:t>ENGINEERING</a:t>
            </a:r>
            <a:endParaRPr sz="2000">
              <a:latin typeface="Calibri"/>
              <a:cs typeface="Calibri"/>
            </a:endParaRPr>
          </a:p>
        </p:txBody>
      </p:sp>
      <p:sp>
        <p:nvSpPr>
          <p:cNvPr id="15" name="TextBox 14">
            <a:extLst>
              <a:ext uri="{FF2B5EF4-FFF2-40B4-BE49-F238E27FC236}">
                <a16:creationId xmlns:a16="http://schemas.microsoft.com/office/drawing/2014/main" id="{C620C4E3-2A6C-D204-CDCE-B2DD1CAD56B3}"/>
              </a:ext>
            </a:extLst>
          </p:cNvPr>
          <p:cNvSpPr txBox="1"/>
          <p:nvPr/>
        </p:nvSpPr>
        <p:spPr>
          <a:xfrm>
            <a:off x="544589" y="1578258"/>
            <a:ext cx="13556973" cy="60016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0" indent="-571500" algn="l">
              <a:buFont typeface="Wingdings" panose="05000000000000000000" pitchFamily="2" charset="2"/>
              <a:buChar char="v"/>
            </a:pPr>
            <a:r>
              <a:rPr lang="en-US" sz="2400" dirty="0">
                <a:solidFill>
                  <a:schemeClr val="accent1"/>
                </a:solidFill>
                <a:latin typeface="Arial" panose="020B0604020202020204" pitchFamily="34" charset="0"/>
                <a:cs typeface="Arial" panose="020B0604020202020204" pitchFamily="34" charset="0"/>
              </a:rPr>
              <a:t>The project proposes a decentralized platform for tokenizing real-world assets using blockchain technology.</a:t>
            </a:r>
          </a:p>
          <a:p>
            <a:pPr marL="571500" indent="-571500" algn="l">
              <a:buFont typeface="Wingdings" panose="05000000000000000000" pitchFamily="2" charset="2"/>
              <a:buChar char="v"/>
            </a:pPr>
            <a:endParaRPr lang="en-US" sz="2400" dirty="0">
              <a:solidFill>
                <a:schemeClr val="accent1"/>
              </a:solidFill>
              <a:latin typeface="Arial" panose="020B0604020202020204" pitchFamily="34" charset="0"/>
              <a:ea typeface="Calibri"/>
              <a:cs typeface="Arial" panose="020B0604020202020204" pitchFamily="34" charset="0"/>
            </a:endParaRPr>
          </a:p>
          <a:p>
            <a:pPr marL="571500" indent="-571500" algn="l">
              <a:buFont typeface="Wingdings" panose="05000000000000000000" pitchFamily="2" charset="2"/>
              <a:buChar char="v"/>
            </a:pPr>
            <a:r>
              <a:rPr lang="en-US" sz="2400" dirty="0">
                <a:solidFill>
                  <a:schemeClr val="accent1"/>
                </a:solidFill>
                <a:latin typeface="Arial" panose="020B0604020202020204" pitchFamily="34" charset="0"/>
                <a:cs typeface="Arial" panose="020B0604020202020204" pitchFamily="34" charset="0"/>
              </a:rPr>
              <a:t>It enables fractional ownership, allowing investors to buy small portions of high-value assets instead of entire assets.</a:t>
            </a:r>
          </a:p>
          <a:p>
            <a:pPr marL="571500" indent="-571500" algn="l">
              <a:buFont typeface="Wingdings" panose="05000000000000000000" pitchFamily="2" charset="2"/>
              <a:buChar char="v"/>
            </a:pPr>
            <a:endParaRPr lang="en-US" sz="2400" dirty="0">
              <a:solidFill>
                <a:schemeClr val="accent1"/>
              </a:solidFill>
              <a:latin typeface="Arial" panose="020B0604020202020204" pitchFamily="34" charset="0"/>
              <a:cs typeface="Arial" panose="020B0604020202020204" pitchFamily="34" charset="0"/>
            </a:endParaRPr>
          </a:p>
          <a:p>
            <a:pPr marL="571500" indent="-571500" algn="l">
              <a:buFont typeface="Wingdings" panose="05000000000000000000" pitchFamily="2" charset="2"/>
              <a:buChar char="v"/>
            </a:pPr>
            <a:r>
              <a:rPr lang="en-US" sz="2400" dirty="0">
                <a:solidFill>
                  <a:schemeClr val="accent1"/>
                </a:solidFill>
                <a:latin typeface="Arial" panose="020B0604020202020204" pitchFamily="34" charset="0"/>
                <a:cs typeface="Arial" panose="020B0604020202020204" pitchFamily="34" charset="0"/>
              </a:rPr>
              <a:t>The solution targets traditionally illiquid assets such as real estate, commodities, and other high-value holdings.</a:t>
            </a:r>
          </a:p>
          <a:p>
            <a:pPr marL="571500" indent="-571500" algn="l">
              <a:buFont typeface="Wingdings" panose="05000000000000000000" pitchFamily="2" charset="2"/>
              <a:buChar char="v"/>
            </a:pPr>
            <a:endParaRPr lang="en-US" sz="2400" dirty="0">
              <a:solidFill>
                <a:schemeClr val="accent1"/>
              </a:solidFill>
              <a:latin typeface="Arial" panose="020B0604020202020204" pitchFamily="34" charset="0"/>
              <a:cs typeface="Arial" panose="020B0604020202020204" pitchFamily="34" charset="0"/>
            </a:endParaRPr>
          </a:p>
          <a:p>
            <a:pPr marL="571500" indent="-571500" algn="l">
              <a:buFont typeface="Wingdings" panose="05000000000000000000" pitchFamily="2" charset="2"/>
              <a:buChar char="v"/>
            </a:pPr>
            <a:r>
              <a:rPr lang="en-US" sz="2400" dirty="0">
                <a:solidFill>
                  <a:schemeClr val="accent1"/>
                </a:solidFill>
                <a:latin typeface="Arial" panose="020B0604020202020204" pitchFamily="34" charset="0"/>
                <a:cs typeface="Arial" panose="020B0604020202020204" pitchFamily="34" charset="0"/>
              </a:rPr>
              <a:t>Asset ownership rights are converted into digital tokens, which are recorded and managed on a blockchain network.</a:t>
            </a:r>
          </a:p>
          <a:p>
            <a:pPr marL="571500" indent="-571500" algn="l">
              <a:buFont typeface="Wingdings" panose="05000000000000000000" pitchFamily="2" charset="2"/>
              <a:buChar char="v"/>
            </a:pPr>
            <a:endParaRPr lang="en-US" sz="2400" dirty="0">
              <a:solidFill>
                <a:schemeClr val="accent1"/>
              </a:solidFill>
              <a:latin typeface="Arial" panose="020B0604020202020204" pitchFamily="34" charset="0"/>
              <a:cs typeface="Arial" panose="020B0604020202020204" pitchFamily="34" charset="0"/>
            </a:endParaRPr>
          </a:p>
          <a:p>
            <a:pPr marL="571500" indent="-571500" algn="l">
              <a:buFont typeface="Wingdings" panose="05000000000000000000" pitchFamily="2" charset="2"/>
              <a:buChar char="v"/>
            </a:pPr>
            <a:r>
              <a:rPr lang="en-US" sz="2400" dirty="0">
                <a:solidFill>
                  <a:schemeClr val="accent1"/>
                </a:solidFill>
                <a:latin typeface="Arial" panose="020B0604020202020204" pitchFamily="34" charset="0"/>
                <a:cs typeface="Arial" panose="020B0604020202020204" pitchFamily="34" charset="0"/>
              </a:rPr>
              <a:t>Smart contracts securely handle token minting, transfers, and ownership records without full reliance on intermediaries.</a:t>
            </a:r>
          </a:p>
          <a:p>
            <a:pPr marL="571500" indent="-571500" algn="l">
              <a:buFont typeface="Wingdings" panose="05000000000000000000" pitchFamily="2" charset="2"/>
              <a:buChar char="v"/>
            </a:pPr>
            <a:endParaRPr lang="en-US" sz="2400" dirty="0">
              <a:solidFill>
                <a:schemeClr val="accent1"/>
              </a:solidFill>
              <a:latin typeface="Arial" panose="020B0604020202020204" pitchFamily="34" charset="0"/>
              <a:cs typeface="Arial" panose="020B0604020202020204" pitchFamily="34" charset="0"/>
            </a:endParaRPr>
          </a:p>
          <a:p>
            <a:pPr marL="342900" indent="-342900" algn="l">
              <a:buFont typeface="Wingdings" panose="05000000000000000000" pitchFamily="2" charset="2"/>
              <a:buChar char="v"/>
            </a:pPr>
            <a:endParaRPr lang="en-US" sz="2400" dirty="0">
              <a:solidFill>
                <a:schemeClr val="accent1"/>
              </a:solidFill>
              <a:latin typeface="Arial" panose="020B0604020202020204" pitchFamily="34" charset="0"/>
              <a:ea typeface="Calibri"/>
              <a:cs typeface="Arial" panose="020B0604020202020204" pitchFamily="34" charset="0"/>
            </a:endParaRPr>
          </a:p>
        </p:txBody>
      </p:sp>
      <p:sp>
        <p:nvSpPr>
          <p:cNvPr id="5" name="object 16">
            <a:extLst>
              <a:ext uri="{FF2B5EF4-FFF2-40B4-BE49-F238E27FC236}">
                <a16:creationId xmlns:a16="http://schemas.microsoft.com/office/drawing/2014/main" id="{C700081C-A95F-3276-BB9E-DF5C7E9B8F9A}"/>
              </a:ext>
            </a:extLst>
          </p:cNvPr>
          <p:cNvSpPr txBox="1">
            <a:spLocks noGrp="1"/>
          </p:cNvSpPr>
          <p:nvPr>
            <p:ph type="sldNum" sz="quarter" idx="7"/>
          </p:nvPr>
        </p:nvSpPr>
        <p:spPr>
          <a:xfrm>
            <a:off x="13607541" y="7657910"/>
            <a:ext cx="541910" cy="281304"/>
          </a:xfrm>
          <a:prstGeom prst="rect">
            <a:avLst/>
          </a:prstGeom>
        </p:spPr>
        <p:txBody>
          <a:bodyPr vert="horz" wrap="square" lIns="0" tIns="0" rIns="0" bIns="0" rtlCol="0">
            <a:spAutoFit/>
          </a:bodyPr>
          <a:lstStyle/>
          <a:p>
            <a:pPr marL="164465">
              <a:lnSpc>
                <a:spcPts val="2090"/>
              </a:lnSpc>
            </a:pPr>
            <a:fld id="{81D60167-4931-47E6-BA6A-407CBD079E47}" type="slidenum">
              <a:rPr spc="-50" dirty="0"/>
              <a:t>3</a:t>
            </a:fld>
            <a:endParaRPr spc="-50" dirty="0"/>
          </a:p>
        </p:txBody>
      </p:sp>
      <p:sp>
        <p:nvSpPr>
          <p:cNvPr id="6" name="TextBox 5">
            <a:extLst>
              <a:ext uri="{FF2B5EF4-FFF2-40B4-BE49-F238E27FC236}">
                <a16:creationId xmlns:a16="http://schemas.microsoft.com/office/drawing/2014/main" id="{B7D44730-FD72-BA25-746E-90ED5F0DF111}"/>
              </a:ext>
            </a:extLst>
          </p:cNvPr>
          <p:cNvSpPr txBox="1"/>
          <p:nvPr/>
        </p:nvSpPr>
        <p:spPr>
          <a:xfrm>
            <a:off x="657226" y="7745532"/>
            <a:ext cx="2743200" cy="276999"/>
          </a:xfrm>
          <a:prstGeom prst="rect">
            <a:avLst/>
          </a:prstGeom>
          <a:noFill/>
        </p:spPr>
        <p:txBody>
          <a:bodyPr wrap="square" rtlCol="0">
            <a:spAutoFit/>
          </a:bodyPr>
          <a:lstStyle/>
          <a:p>
            <a:r>
              <a:rPr lang="en-US" sz="1200" dirty="0">
                <a:solidFill>
                  <a:schemeClr val="bg1">
                    <a:lumMod val="50000"/>
                  </a:schemeClr>
                </a:solidFill>
              </a:rPr>
              <a:t>ASSET TOKENIZATION</a:t>
            </a:r>
            <a:endParaRPr lang="en-IN" sz="1200" dirty="0">
              <a:solidFill>
                <a:schemeClr val="bg1">
                  <a:lumMod val="50000"/>
                </a:schemeClr>
              </a:solidFill>
            </a:endParaRPr>
          </a:p>
        </p:txBody>
      </p:sp>
      <p:grpSp>
        <p:nvGrpSpPr>
          <p:cNvPr id="10" name="object 3">
            <a:extLst>
              <a:ext uri="{FF2B5EF4-FFF2-40B4-BE49-F238E27FC236}">
                <a16:creationId xmlns:a16="http://schemas.microsoft.com/office/drawing/2014/main" id="{8E133EAA-7744-A30E-64A5-289A2BBAAE30}"/>
              </a:ext>
            </a:extLst>
          </p:cNvPr>
          <p:cNvGrpSpPr/>
          <p:nvPr/>
        </p:nvGrpSpPr>
        <p:grpSpPr>
          <a:xfrm>
            <a:off x="16854" y="0"/>
            <a:ext cx="14613800" cy="720000"/>
            <a:chOff x="16854" y="0"/>
            <a:chExt cx="14613800" cy="720000"/>
          </a:xfrm>
        </p:grpSpPr>
        <p:sp>
          <p:nvSpPr>
            <p:cNvPr id="12" name="object 4">
              <a:extLst>
                <a:ext uri="{FF2B5EF4-FFF2-40B4-BE49-F238E27FC236}">
                  <a16:creationId xmlns:a16="http://schemas.microsoft.com/office/drawing/2014/main" id="{2C5A1A5A-E5EF-103E-D2A1-8BCB34BA0E8E}"/>
                </a:ext>
              </a:extLst>
            </p:cNvPr>
            <p:cNvSpPr/>
            <p:nvPr/>
          </p:nvSpPr>
          <p:spPr>
            <a:xfrm>
              <a:off x="1541399" y="38"/>
              <a:ext cx="13089255" cy="696811"/>
            </a:xfrm>
            <a:custGeom>
              <a:avLst/>
              <a:gdLst/>
              <a:ahLst/>
              <a:cxnLst/>
              <a:rect l="l" t="t" r="r" b="b"/>
              <a:pathLst>
                <a:path w="13089255" h="541655">
                  <a:moveTo>
                    <a:pt x="13089001" y="0"/>
                  </a:moveTo>
                  <a:lnTo>
                    <a:pt x="0" y="0"/>
                  </a:lnTo>
                  <a:lnTo>
                    <a:pt x="0" y="541489"/>
                  </a:lnTo>
                  <a:lnTo>
                    <a:pt x="13089001" y="541489"/>
                  </a:lnTo>
                  <a:lnTo>
                    <a:pt x="13089001" y="0"/>
                  </a:lnTo>
                  <a:close/>
                </a:path>
              </a:pathLst>
            </a:custGeom>
            <a:solidFill>
              <a:srgbClr val="155F82"/>
            </a:solidFill>
          </p:spPr>
          <p:txBody>
            <a:bodyPr wrap="square" lIns="0" tIns="0" rIns="0" bIns="0" rtlCol="0"/>
            <a:lstStyle/>
            <a:p>
              <a:endParaRPr/>
            </a:p>
          </p:txBody>
        </p:sp>
        <p:pic>
          <p:nvPicPr>
            <p:cNvPr id="13" name="object 5">
              <a:extLst>
                <a:ext uri="{FF2B5EF4-FFF2-40B4-BE49-F238E27FC236}">
                  <a16:creationId xmlns:a16="http://schemas.microsoft.com/office/drawing/2014/main" id="{75D3C095-052E-EE9D-08D6-0B91048883EE}"/>
                </a:ext>
              </a:extLst>
            </p:cNvPr>
            <p:cNvPicPr/>
            <p:nvPr/>
          </p:nvPicPr>
          <p:blipFill>
            <a:blip r:embed="rId2" cstate="print"/>
            <a:stretch>
              <a:fillRect/>
            </a:stretch>
          </p:blipFill>
          <p:spPr>
            <a:xfrm>
              <a:off x="13856311" y="0"/>
              <a:ext cx="720000" cy="720000"/>
            </a:xfrm>
            <a:prstGeom prst="rect">
              <a:avLst/>
            </a:prstGeom>
          </p:spPr>
        </p:pic>
        <p:pic>
          <p:nvPicPr>
            <p:cNvPr id="14" name="object 6">
              <a:extLst>
                <a:ext uri="{FF2B5EF4-FFF2-40B4-BE49-F238E27FC236}">
                  <a16:creationId xmlns:a16="http://schemas.microsoft.com/office/drawing/2014/main" id="{07421FF1-1E3C-92B6-59F1-2B784B9BE4C5}"/>
                </a:ext>
              </a:extLst>
            </p:cNvPr>
            <p:cNvPicPr/>
            <p:nvPr/>
          </p:nvPicPr>
          <p:blipFill>
            <a:blip r:embed="rId3" cstate="print"/>
            <a:stretch>
              <a:fillRect/>
            </a:stretch>
          </p:blipFill>
          <p:spPr>
            <a:xfrm>
              <a:off x="16854" y="11176"/>
              <a:ext cx="1524254" cy="685673"/>
            </a:xfrm>
            <a:prstGeom prst="rect">
              <a:avLst/>
            </a:prstGeom>
          </p:spPr>
        </p:pic>
      </p:grpSp>
      <p:sp>
        <p:nvSpPr>
          <p:cNvPr id="16" name="object 13">
            <a:extLst>
              <a:ext uri="{FF2B5EF4-FFF2-40B4-BE49-F238E27FC236}">
                <a16:creationId xmlns:a16="http://schemas.microsoft.com/office/drawing/2014/main" id="{BACB62F1-BCD3-4AB8-63DC-A9948C97B9D8}"/>
              </a:ext>
            </a:extLst>
          </p:cNvPr>
          <p:cNvSpPr txBox="1"/>
          <p:nvPr/>
        </p:nvSpPr>
        <p:spPr>
          <a:xfrm>
            <a:off x="4312411" y="115315"/>
            <a:ext cx="5966460" cy="330835"/>
          </a:xfrm>
          <a:prstGeom prst="rect">
            <a:avLst/>
          </a:prstGeom>
        </p:spPr>
        <p:txBody>
          <a:bodyPr vert="horz" wrap="square" lIns="0" tIns="12700" rIns="0" bIns="0" rtlCol="0">
            <a:spAutoFit/>
          </a:bodyPr>
          <a:lstStyle/>
          <a:p>
            <a:pPr marL="12700">
              <a:lnSpc>
                <a:spcPct val="100000"/>
              </a:lnSpc>
              <a:spcBef>
                <a:spcPts val="100"/>
              </a:spcBef>
            </a:pPr>
            <a:r>
              <a:rPr sz="2000" spc="-30" dirty="0">
                <a:solidFill>
                  <a:srgbClr val="FFFFFF"/>
                </a:solidFill>
                <a:latin typeface="Calibri"/>
                <a:cs typeface="Calibri"/>
              </a:rPr>
              <a:t>DEPARTMENT</a:t>
            </a:r>
            <a:r>
              <a:rPr sz="2000" spc="-85" dirty="0">
                <a:solidFill>
                  <a:srgbClr val="FFFFFF"/>
                </a:solidFill>
                <a:latin typeface="Calibri"/>
                <a:cs typeface="Calibri"/>
              </a:rPr>
              <a:t> </a:t>
            </a:r>
            <a:r>
              <a:rPr sz="2000" dirty="0">
                <a:solidFill>
                  <a:srgbClr val="FFFFFF"/>
                </a:solidFill>
                <a:latin typeface="Calibri"/>
                <a:cs typeface="Calibri"/>
              </a:rPr>
              <a:t>OF</a:t>
            </a:r>
            <a:r>
              <a:rPr sz="2000" spc="-40" dirty="0">
                <a:solidFill>
                  <a:srgbClr val="FFFFFF"/>
                </a:solidFill>
                <a:latin typeface="Calibri"/>
                <a:cs typeface="Calibri"/>
              </a:rPr>
              <a:t> </a:t>
            </a:r>
            <a:r>
              <a:rPr sz="2000" dirty="0">
                <a:solidFill>
                  <a:srgbClr val="FFFFFF"/>
                </a:solidFill>
                <a:latin typeface="Calibri"/>
                <a:cs typeface="Calibri"/>
              </a:rPr>
              <a:t>COMPUTER</a:t>
            </a:r>
            <a:r>
              <a:rPr sz="2000" spc="-60" dirty="0">
                <a:solidFill>
                  <a:srgbClr val="FFFFFF"/>
                </a:solidFill>
                <a:latin typeface="Calibri"/>
                <a:cs typeface="Calibri"/>
              </a:rPr>
              <a:t> </a:t>
            </a:r>
            <a:r>
              <a:rPr sz="2000" dirty="0">
                <a:solidFill>
                  <a:srgbClr val="FFFFFF"/>
                </a:solidFill>
                <a:latin typeface="Calibri"/>
                <a:cs typeface="Calibri"/>
              </a:rPr>
              <a:t>SCIENCE</a:t>
            </a:r>
            <a:r>
              <a:rPr sz="2000" spc="-80" dirty="0">
                <a:solidFill>
                  <a:srgbClr val="FFFFFF"/>
                </a:solidFill>
                <a:latin typeface="Calibri"/>
                <a:cs typeface="Calibri"/>
              </a:rPr>
              <a:t> </a:t>
            </a:r>
            <a:r>
              <a:rPr sz="2000" dirty="0">
                <a:solidFill>
                  <a:srgbClr val="FFFFFF"/>
                </a:solidFill>
                <a:latin typeface="Calibri"/>
                <a:cs typeface="Calibri"/>
              </a:rPr>
              <a:t>AND</a:t>
            </a:r>
            <a:r>
              <a:rPr sz="2000" spc="-55" dirty="0">
                <a:solidFill>
                  <a:srgbClr val="FFFFFF"/>
                </a:solidFill>
                <a:latin typeface="Calibri"/>
                <a:cs typeface="Calibri"/>
              </a:rPr>
              <a:t> </a:t>
            </a:r>
            <a:r>
              <a:rPr sz="2000" spc="-10" dirty="0">
                <a:solidFill>
                  <a:srgbClr val="FFFFFF"/>
                </a:solidFill>
                <a:latin typeface="Calibri"/>
                <a:cs typeface="Calibri"/>
              </a:rPr>
              <a:t>ENGINEERING</a:t>
            </a:r>
            <a:endParaRPr sz="2000" dirty="0">
              <a:latin typeface="Calibri"/>
              <a:cs typeface="Calibri"/>
            </a:endParaRPr>
          </a:p>
        </p:txBody>
      </p:sp>
    </p:spTree>
    <p:extLst>
      <p:ext uri="{BB962C8B-B14F-4D97-AF65-F5344CB8AC3E}">
        <p14:creationId xmlns:p14="http://schemas.microsoft.com/office/powerpoint/2010/main" val="2988578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9927650-19CC-9ACD-5643-91CC046A8793}"/>
            </a:ext>
          </a:extLst>
        </p:cNvPr>
        <p:cNvGrpSpPr/>
        <p:nvPr/>
      </p:nvGrpSpPr>
      <p:grpSpPr>
        <a:xfrm>
          <a:off x="0" y="0"/>
          <a:ext cx="0" cy="0"/>
          <a:chOff x="0" y="0"/>
          <a:chExt cx="0" cy="0"/>
        </a:xfrm>
      </p:grpSpPr>
      <p:sp>
        <p:nvSpPr>
          <p:cNvPr id="11" name="object 11">
            <a:extLst>
              <a:ext uri="{FF2B5EF4-FFF2-40B4-BE49-F238E27FC236}">
                <a16:creationId xmlns:a16="http://schemas.microsoft.com/office/drawing/2014/main" id="{778B893E-9056-19D7-1263-D0D02166ECDF}"/>
              </a:ext>
            </a:extLst>
          </p:cNvPr>
          <p:cNvSpPr txBox="1"/>
          <p:nvPr/>
        </p:nvSpPr>
        <p:spPr>
          <a:xfrm>
            <a:off x="4312411" y="122682"/>
            <a:ext cx="5966460" cy="330835"/>
          </a:xfrm>
          <a:prstGeom prst="rect">
            <a:avLst/>
          </a:prstGeom>
        </p:spPr>
        <p:txBody>
          <a:bodyPr vert="horz" wrap="square" lIns="0" tIns="12700" rIns="0" bIns="0" rtlCol="0">
            <a:spAutoFit/>
          </a:bodyPr>
          <a:lstStyle/>
          <a:p>
            <a:pPr marL="12700">
              <a:lnSpc>
                <a:spcPct val="100000"/>
              </a:lnSpc>
              <a:spcBef>
                <a:spcPts val="100"/>
              </a:spcBef>
            </a:pPr>
            <a:r>
              <a:rPr sz="2000" spc="-30" dirty="0">
                <a:solidFill>
                  <a:srgbClr val="FFFFFF"/>
                </a:solidFill>
                <a:latin typeface="Calibri"/>
                <a:cs typeface="Calibri"/>
              </a:rPr>
              <a:t>DEPARTMENT</a:t>
            </a:r>
            <a:r>
              <a:rPr sz="2000" spc="-85" dirty="0">
                <a:solidFill>
                  <a:srgbClr val="FFFFFF"/>
                </a:solidFill>
                <a:latin typeface="Calibri"/>
                <a:cs typeface="Calibri"/>
              </a:rPr>
              <a:t> </a:t>
            </a:r>
            <a:r>
              <a:rPr sz="2000" dirty="0">
                <a:solidFill>
                  <a:srgbClr val="FFFFFF"/>
                </a:solidFill>
                <a:latin typeface="Calibri"/>
                <a:cs typeface="Calibri"/>
              </a:rPr>
              <a:t>OF</a:t>
            </a:r>
            <a:r>
              <a:rPr sz="2000" spc="-40" dirty="0">
                <a:solidFill>
                  <a:srgbClr val="FFFFFF"/>
                </a:solidFill>
                <a:latin typeface="Calibri"/>
                <a:cs typeface="Calibri"/>
              </a:rPr>
              <a:t> </a:t>
            </a:r>
            <a:r>
              <a:rPr sz="2000" dirty="0">
                <a:solidFill>
                  <a:srgbClr val="FFFFFF"/>
                </a:solidFill>
                <a:latin typeface="Calibri"/>
                <a:cs typeface="Calibri"/>
              </a:rPr>
              <a:t>COMPUTER</a:t>
            </a:r>
            <a:r>
              <a:rPr sz="2000" spc="-60" dirty="0">
                <a:solidFill>
                  <a:srgbClr val="FFFFFF"/>
                </a:solidFill>
                <a:latin typeface="Calibri"/>
                <a:cs typeface="Calibri"/>
              </a:rPr>
              <a:t> </a:t>
            </a:r>
            <a:r>
              <a:rPr sz="2000" dirty="0">
                <a:solidFill>
                  <a:srgbClr val="FFFFFF"/>
                </a:solidFill>
                <a:latin typeface="Calibri"/>
                <a:cs typeface="Calibri"/>
              </a:rPr>
              <a:t>SCIENCE</a:t>
            </a:r>
            <a:r>
              <a:rPr sz="2000" spc="-80" dirty="0">
                <a:solidFill>
                  <a:srgbClr val="FFFFFF"/>
                </a:solidFill>
                <a:latin typeface="Calibri"/>
                <a:cs typeface="Calibri"/>
              </a:rPr>
              <a:t> </a:t>
            </a:r>
            <a:r>
              <a:rPr sz="2000" dirty="0">
                <a:solidFill>
                  <a:srgbClr val="FFFFFF"/>
                </a:solidFill>
                <a:latin typeface="Calibri"/>
                <a:cs typeface="Calibri"/>
              </a:rPr>
              <a:t>AND</a:t>
            </a:r>
            <a:r>
              <a:rPr sz="2000" spc="-55" dirty="0">
                <a:solidFill>
                  <a:srgbClr val="FFFFFF"/>
                </a:solidFill>
                <a:latin typeface="Calibri"/>
                <a:cs typeface="Calibri"/>
              </a:rPr>
              <a:t> </a:t>
            </a:r>
            <a:r>
              <a:rPr sz="2000" spc="-10" dirty="0">
                <a:solidFill>
                  <a:srgbClr val="FFFFFF"/>
                </a:solidFill>
                <a:latin typeface="Calibri"/>
                <a:cs typeface="Calibri"/>
              </a:rPr>
              <a:t>ENGINEERING</a:t>
            </a:r>
            <a:endParaRPr sz="2000">
              <a:latin typeface="Calibri"/>
              <a:cs typeface="Calibri"/>
            </a:endParaRPr>
          </a:p>
        </p:txBody>
      </p:sp>
      <p:sp>
        <p:nvSpPr>
          <p:cNvPr id="12" name="TextBox 11">
            <a:extLst>
              <a:ext uri="{FF2B5EF4-FFF2-40B4-BE49-F238E27FC236}">
                <a16:creationId xmlns:a16="http://schemas.microsoft.com/office/drawing/2014/main" id="{21DD0D4F-1EB9-BE1E-DD17-03C41DE4A459}"/>
              </a:ext>
            </a:extLst>
          </p:cNvPr>
          <p:cNvSpPr txBox="1"/>
          <p:nvPr/>
        </p:nvSpPr>
        <p:spPr>
          <a:xfrm>
            <a:off x="584145" y="1540756"/>
            <a:ext cx="13199165" cy="60016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0" indent="-571500" algn="just">
              <a:buFont typeface="Wingdings" panose="05000000000000000000" pitchFamily="2" charset="2"/>
              <a:buChar char="v"/>
            </a:pPr>
            <a:r>
              <a:rPr lang="en" sz="2400" dirty="0">
                <a:solidFill>
                  <a:schemeClr val="accent1"/>
                </a:solidFill>
                <a:latin typeface="Arial" panose="020B0604020202020204" pitchFamily="34" charset="0"/>
                <a:cs typeface="Arial" panose="020B0604020202020204" pitchFamily="34" charset="0"/>
              </a:rPr>
              <a:t>The platform uses a web-based interface for asset listing, token purchase, and transaction tracking.</a:t>
            </a:r>
          </a:p>
          <a:p>
            <a:pPr marL="571500" indent="-571500" algn="just">
              <a:buFont typeface="Wingdings" panose="05000000000000000000" pitchFamily="2" charset="2"/>
              <a:buChar char="v"/>
            </a:pPr>
            <a:endParaRPr lang="en-US" sz="2400" dirty="0">
              <a:solidFill>
                <a:schemeClr val="accent1"/>
              </a:solidFill>
              <a:latin typeface="Arial" panose="020B0604020202020204" pitchFamily="34" charset="0"/>
              <a:cs typeface="Arial" panose="020B0604020202020204" pitchFamily="34" charset="0"/>
            </a:endParaRPr>
          </a:p>
          <a:p>
            <a:pPr marL="571500" indent="-571500" algn="just">
              <a:buFont typeface="Wingdings" panose="05000000000000000000" pitchFamily="2" charset="2"/>
              <a:buChar char="v"/>
            </a:pPr>
            <a:r>
              <a:rPr lang="en" sz="2400" dirty="0">
                <a:solidFill>
                  <a:schemeClr val="accent1"/>
                </a:solidFill>
                <a:latin typeface="Arial" panose="020B0604020202020204" pitchFamily="34" charset="0"/>
                <a:cs typeface="Arial" panose="020B0604020202020204" pitchFamily="34" charset="0"/>
              </a:rPr>
              <a:t>The tech stack includes React.js for frontend, Node.js and Express.js for backend, and MongoDB for off-chain data.</a:t>
            </a:r>
          </a:p>
          <a:p>
            <a:pPr marL="571500" indent="-571500" algn="just">
              <a:buFont typeface="Wingdings" panose="05000000000000000000" pitchFamily="2" charset="2"/>
              <a:buChar char="v"/>
            </a:pPr>
            <a:endParaRPr lang="en-US" sz="2400" dirty="0">
              <a:solidFill>
                <a:schemeClr val="accent1"/>
              </a:solidFill>
              <a:latin typeface="Arial" panose="020B0604020202020204" pitchFamily="34" charset="0"/>
              <a:cs typeface="Arial" panose="020B0604020202020204" pitchFamily="34" charset="0"/>
            </a:endParaRPr>
          </a:p>
          <a:p>
            <a:pPr marL="571500" indent="-571500" algn="just">
              <a:buFont typeface="Wingdings" panose="05000000000000000000" pitchFamily="2" charset="2"/>
              <a:buChar char="v"/>
            </a:pPr>
            <a:r>
              <a:rPr lang="en" sz="2400" dirty="0">
                <a:solidFill>
                  <a:schemeClr val="accent1"/>
                </a:solidFill>
                <a:latin typeface="Arial" panose="020B0604020202020204" pitchFamily="34" charset="0"/>
                <a:cs typeface="Arial" panose="020B0604020202020204" pitchFamily="34" charset="0"/>
              </a:rPr>
              <a:t>The system is integrated with an Ethereum test network to deploy and validate blockchain functions.</a:t>
            </a:r>
          </a:p>
          <a:p>
            <a:pPr marL="571500" indent="-571500" algn="just">
              <a:buFont typeface="Wingdings" panose="05000000000000000000" pitchFamily="2" charset="2"/>
              <a:buChar char="v"/>
            </a:pPr>
            <a:endParaRPr lang="en-US" sz="2400" dirty="0">
              <a:solidFill>
                <a:schemeClr val="accent1"/>
              </a:solidFill>
              <a:latin typeface="Arial" panose="020B0604020202020204" pitchFamily="34" charset="0"/>
              <a:cs typeface="Arial" panose="020B0604020202020204" pitchFamily="34" charset="0"/>
            </a:endParaRPr>
          </a:p>
          <a:p>
            <a:pPr marL="571500" indent="-571500" algn="just">
              <a:buFont typeface="Wingdings" panose="05000000000000000000" pitchFamily="2" charset="2"/>
              <a:buChar char="v"/>
            </a:pPr>
            <a:r>
              <a:rPr lang="en" sz="2400" dirty="0">
                <a:solidFill>
                  <a:schemeClr val="accent1"/>
                </a:solidFill>
                <a:latin typeface="Arial" panose="020B0604020202020204" pitchFamily="34" charset="0"/>
                <a:cs typeface="Arial" panose="020B0604020202020204" pitchFamily="34" charset="0"/>
              </a:rPr>
              <a:t>The platform ensures transparency and immutability through distributed ledger technology, making records tamper-proof.</a:t>
            </a:r>
          </a:p>
          <a:p>
            <a:pPr marL="571500" indent="-571500" algn="just">
              <a:buFont typeface="Wingdings" panose="05000000000000000000" pitchFamily="2" charset="2"/>
              <a:buChar char="v"/>
            </a:pPr>
            <a:endParaRPr lang="en-US" sz="2400" dirty="0">
              <a:solidFill>
                <a:schemeClr val="accent1"/>
              </a:solidFill>
              <a:latin typeface="Arial" panose="020B0604020202020204" pitchFamily="34" charset="0"/>
              <a:cs typeface="Arial" panose="020B0604020202020204" pitchFamily="34" charset="0"/>
            </a:endParaRPr>
          </a:p>
          <a:p>
            <a:pPr marL="571500" indent="-571500" algn="just">
              <a:buFont typeface="Wingdings" panose="05000000000000000000" pitchFamily="2" charset="2"/>
              <a:buChar char="v"/>
            </a:pPr>
            <a:r>
              <a:rPr lang="en" sz="2400" dirty="0">
                <a:solidFill>
                  <a:schemeClr val="accent1"/>
                </a:solidFill>
                <a:latin typeface="Arial" panose="020B0604020202020204" pitchFamily="34" charset="0"/>
                <a:cs typeface="Arial" panose="020B0604020202020204" pitchFamily="34" charset="0"/>
              </a:rPr>
              <a:t>The project demonstrates the feasibility and scalability of asset tokenization as a modern, inclusive, and efficient investment model.</a:t>
            </a:r>
            <a:endParaRPr lang="en-US" sz="2400" dirty="0">
              <a:solidFill>
                <a:schemeClr val="accent1"/>
              </a:solidFill>
              <a:latin typeface="Arial" panose="020B0604020202020204" pitchFamily="34" charset="0"/>
              <a:cs typeface="Arial" panose="020B0604020202020204" pitchFamily="34" charset="0"/>
            </a:endParaRPr>
          </a:p>
          <a:p>
            <a:pPr algn="just"/>
            <a:br>
              <a:rPr lang="en-US" sz="2400" dirty="0">
                <a:latin typeface="Arial" panose="020B0604020202020204" pitchFamily="34" charset="0"/>
                <a:cs typeface="Arial" panose="020B0604020202020204" pitchFamily="34" charset="0"/>
              </a:rPr>
            </a:br>
            <a:endParaRPr lang="en-US" sz="2400" dirty="0">
              <a:solidFill>
                <a:schemeClr val="accent1"/>
              </a:solidFill>
              <a:latin typeface="Arial" panose="020B0604020202020204" pitchFamily="34" charset="0"/>
              <a:cs typeface="Arial" panose="020B0604020202020204" pitchFamily="34" charset="0"/>
            </a:endParaRPr>
          </a:p>
        </p:txBody>
      </p:sp>
      <p:sp>
        <p:nvSpPr>
          <p:cNvPr id="5" name="object 16">
            <a:extLst>
              <a:ext uri="{FF2B5EF4-FFF2-40B4-BE49-F238E27FC236}">
                <a16:creationId xmlns:a16="http://schemas.microsoft.com/office/drawing/2014/main" id="{7155DC27-26CC-6964-6002-9EDA1E2FCB2E}"/>
              </a:ext>
            </a:extLst>
          </p:cNvPr>
          <p:cNvSpPr txBox="1">
            <a:spLocks noGrp="1"/>
          </p:cNvSpPr>
          <p:nvPr>
            <p:ph type="sldNum" sz="quarter" idx="7"/>
          </p:nvPr>
        </p:nvSpPr>
        <p:spPr>
          <a:xfrm>
            <a:off x="13607541" y="7657910"/>
            <a:ext cx="541910" cy="281304"/>
          </a:xfrm>
          <a:prstGeom prst="rect">
            <a:avLst/>
          </a:prstGeom>
        </p:spPr>
        <p:txBody>
          <a:bodyPr vert="horz" wrap="square" lIns="0" tIns="0" rIns="0" bIns="0" rtlCol="0">
            <a:spAutoFit/>
          </a:bodyPr>
          <a:lstStyle/>
          <a:p>
            <a:pPr marL="164465">
              <a:lnSpc>
                <a:spcPts val="2090"/>
              </a:lnSpc>
            </a:pPr>
            <a:fld id="{81D60167-4931-47E6-BA6A-407CBD079E47}" type="slidenum">
              <a:rPr spc="-50" dirty="0"/>
              <a:t>4</a:t>
            </a:fld>
            <a:endParaRPr spc="-50" dirty="0"/>
          </a:p>
        </p:txBody>
      </p:sp>
      <p:sp>
        <p:nvSpPr>
          <p:cNvPr id="6" name="TextBox 5">
            <a:extLst>
              <a:ext uri="{FF2B5EF4-FFF2-40B4-BE49-F238E27FC236}">
                <a16:creationId xmlns:a16="http://schemas.microsoft.com/office/drawing/2014/main" id="{0B731D09-171A-0CDA-2EAE-F52DBD8D748D}"/>
              </a:ext>
            </a:extLst>
          </p:cNvPr>
          <p:cNvSpPr txBox="1"/>
          <p:nvPr/>
        </p:nvSpPr>
        <p:spPr>
          <a:xfrm>
            <a:off x="657226" y="7745532"/>
            <a:ext cx="2743200" cy="276999"/>
          </a:xfrm>
          <a:prstGeom prst="rect">
            <a:avLst/>
          </a:prstGeom>
          <a:noFill/>
        </p:spPr>
        <p:txBody>
          <a:bodyPr wrap="square" rtlCol="0">
            <a:spAutoFit/>
          </a:bodyPr>
          <a:lstStyle/>
          <a:p>
            <a:r>
              <a:rPr lang="en-US" sz="1200" dirty="0">
                <a:solidFill>
                  <a:schemeClr val="bg1">
                    <a:lumMod val="50000"/>
                  </a:schemeClr>
                </a:solidFill>
              </a:rPr>
              <a:t>ASSET TOKENIZATION</a:t>
            </a:r>
            <a:endParaRPr lang="en-IN" sz="1200" dirty="0">
              <a:solidFill>
                <a:schemeClr val="bg1">
                  <a:lumMod val="50000"/>
                </a:schemeClr>
              </a:solidFill>
            </a:endParaRPr>
          </a:p>
        </p:txBody>
      </p:sp>
      <p:grpSp>
        <p:nvGrpSpPr>
          <p:cNvPr id="7" name="object 3">
            <a:extLst>
              <a:ext uri="{FF2B5EF4-FFF2-40B4-BE49-F238E27FC236}">
                <a16:creationId xmlns:a16="http://schemas.microsoft.com/office/drawing/2014/main" id="{283A6962-FAA1-1EB9-BDB5-59D161D25AB7}"/>
              </a:ext>
            </a:extLst>
          </p:cNvPr>
          <p:cNvGrpSpPr/>
          <p:nvPr/>
        </p:nvGrpSpPr>
        <p:grpSpPr>
          <a:xfrm>
            <a:off x="16854" y="0"/>
            <a:ext cx="14613800" cy="720000"/>
            <a:chOff x="16854" y="0"/>
            <a:chExt cx="14613800" cy="720000"/>
          </a:xfrm>
        </p:grpSpPr>
        <p:sp>
          <p:nvSpPr>
            <p:cNvPr id="9" name="object 4">
              <a:extLst>
                <a:ext uri="{FF2B5EF4-FFF2-40B4-BE49-F238E27FC236}">
                  <a16:creationId xmlns:a16="http://schemas.microsoft.com/office/drawing/2014/main" id="{28808FD8-ADD2-663D-F1AE-5E22075A0A48}"/>
                </a:ext>
              </a:extLst>
            </p:cNvPr>
            <p:cNvSpPr/>
            <p:nvPr/>
          </p:nvSpPr>
          <p:spPr>
            <a:xfrm>
              <a:off x="1541399" y="38"/>
              <a:ext cx="13089255" cy="696811"/>
            </a:xfrm>
            <a:custGeom>
              <a:avLst/>
              <a:gdLst/>
              <a:ahLst/>
              <a:cxnLst/>
              <a:rect l="l" t="t" r="r" b="b"/>
              <a:pathLst>
                <a:path w="13089255" h="541655">
                  <a:moveTo>
                    <a:pt x="13089001" y="0"/>
                  </a:moveTo>
                  <a:lnTo>
                    <a:pt x="0" y="0"/>
                  </a:lnTo>
                  <a:lnTo>
                    <a:pt x="0" y="541489"/>
                  </a:lnTo>
                  <a:lnTo>
                    <a:pt x="13089001" y="541489"/>
                  </a:lnTo>
                  <a:lnTo>
                    <a:pt x="13089001" y="0"/>
                  </a:lnTo>
                  <a:close/>
                </a:path>
              </a:pathLst>
            </a:custGeom>
            <a:solidFill>
              <a:srgbClr val="155F82"/>
            </a:solidFill>
          </p:spPr>
          <p:txBody>
            <a:bodyPr wrap="square" lIns="0" tIns="0" rIns="0" bIns="0" rtlCol="0"/>
            <a:lstStyle/>
            <a:p>
              <a:endParaRPr/>
            </a:p>
          </p:txBody>
        </p:sp>
        <p:pic>
          <p:nvPicPr>
            <p:cNvPr id="10" name="object 5">
              <a:extLst>
                <a:ext uri="{FF2B5EF4-FFF2-40B4-BE49-F238E27FC236}">
                  <a16:creationId xmlns:a16="http://schemas.microsoft.com/office/drawing/2014/main" id="{D6666CEF-0900-1CF6-F513-4B7845CBDD1F}"/>
                </a:ext>
              </a:extLst>
            </p:cNvPr>
            <p:cNvPicPr/>
            <p:nvPr/>
          </p:nvPicPr>
          <p:blipFill>
            <a:blip r:embed="rId2" cstate="print"/>
            <a:stretch>
              <a:fillRect/>
            </a:stretch>
          </p:blipFill>
          <p:spPr>
            <a:xfrm>
              <a:off x="13856311" y="0"/>
              <a:ext cx="720000" cy="720000"/>
            </a:xfrm>
            <a:prstGeom prst="rect">
              <a:avLst/>
            </a:prstGeom>
          </p:spPr>
        </p:pic>
        <p:pic>
          <p:nvPicPr>
            <p:cNvPr id="13" name="object 6">
              <a:extLst>
                <a:ext uri="{FF2B5EF4-FFF2-40B4-BE49-F238E27FC236}">
                  <a16:creationId xmlns:a16="http://schemas.microsoft.com/office/drawing/2014/main" id="{1AAC9486-5C7D-11AA-A5CD-9E5198262C63}"/>
                </a:ext>
              </a:extLst>
            </p:cNvPr>
            <p:cNvPicPr/>
            <p:nvPr/>
          </p:nvPicPr>
          <p:blipFill>
            <a:blip r:embed="rId3" cstate="print"/>
            <a:stretch>
              <a:fillRect/>
            </a:stretch>
          </p:blipFill>
          <p:spPr>
            <a:xfrm>
              <a:off x="16854" y="11176"/>
              <a:ext cx="1524254" cy="685673"/>
            </a:xfrm>
            <a:prstGeom prst="rect">
              <a:avLst/>
            </a:prstGeom>
          </p:spPr>
        </p:pic>
      </p:grpSp>
      <p:sp>
        <p:nvSpPr>
          <p:cNvPr id="14" name="object 13">
            <a:extLst>
              <a:ext uri="{FF2B5EF4-FFF2-40B4-BE49-F238E27FC236}">
                <a16:creationId xmlns:a16="http://schemas.microsoft.com/office/drawing/2014/main" id="{00DCDB5C-B442-126B-0EEB-5DBA2B810253}"/>
              </a:ext>
            </a:extLst>
          </p:cNvPr>
          <p:cNvSpPr txBox="1"/>
          <p:nvPr/>
        </p:nvSpPr>
        <p:spPr>
          <a:xfrm>
            <a:off x="4312411" y="115315"/>
            <a:ext cx="5966460" cy="330835"/>
          </a:xfrm>
          <a:prstGeom prst="rect">
            <a:avLst/>
          </a:prstGeom>
        </p:spPr>
        <p:txBody>
          <a:bodyPr vert="horz" wrap="square" lIns="0" tIns="12700" rIns="0" bIns="0" rtlCol="0">
            <a:spAutoFit/>
          </a:bodyPr>
          <a:lstStyle/>
          <a:p>
            <a:pPr marL="12700">
              <a:lnSpc>
                <a:spcPct val="100000"/>
              </a:lnSpc>
              <a:spcBef>
                <a:spcPts val="100"/>
              </a:spcBef>
            </a:pPr>
            <a:r>
              <a:rPr sz="2000" spc="-30" dirty="0">
                <a:solidFill>
                  <a:srgbClr val="FFFFFF"/>
                </a:solidFill>
                <a:latin typeface="Calibri"/>
                <a:cs typeface="Calibri"/>
              </a:rPr>
              <a:t>DEPARTMENT</a:t>
            </a:r>
            <a:r>
              <a:rPr sz="2000" spc="-85" dirty="0">
                <a:solidFill>
                  <a:srgbClr val="FFFFFF"/>
                </a:solidFill>
                <a:latin typeface="Calibri"/>
                <a:cs typeface="Calibri"/>
              </a:rPr>
              <a:t> </a:t>
            </a:r>
            <a:r>
              <a:rPr sz="2000" dirty="0">
                <a:solidFill>
                  <a:srgbClr val="FFFFFF"/>
                </a:solidFill>
                <a:latin typeface="Calibri"/>
                <a:cs typeface="Calibri"/>
              </a:rPr>
              <a:t>OF</a:t>
            </a:r>
            <a:r>
              <a:rPr sz="2000" spc="-40" dirty="0">
                <a:solidFill>
                  <a:srgbClr val="FFFFFF"/>
                </a:solidFill>
                <a:latin typeface="Calibri"/>
                <a:cs typeface="Calibri"/>
              </a:rPr>
              <a:t> </a:t>
            </a:r>
            <a:r>
              <a:rPr sz="2000" dirty="0">
                <a:solidFill>
                  <a:srgbClr val="FFFFFF"/>
                </a:solidFill>
                <a:latin typeface="Calibri"/>
                <a:cs typeface="Calibri"/>
              </a:rPr>
              <a:t>COMPUTER</a:t>
            </a:r>
            <a:r>
              <a:rPr sz="2000" spc="-60" dirty="0">
                <a:solidFill>
                  <a:srgbClr val="FFFFFF"/>
                </a:solidFill>
                <a:latin typeface="Calibri"/>
                <a:cs typeface="Calibri"/>
              </a:rPr>
              <a:t> </a:t>
            </a:r>
            <a:r>
              <a:rPr sz="2000" dirty="0">
                <a:solidFill>
                  <a:srgbClr val="FFFFFF"/>
                </a:solidFill>
                <a:latin typeface="Calibri"/>
                <a:cs typeface="Calibri"/>
              </a:rPr>
              <a:t>SCIENCE</a:t>
            </a:r>
            <a:r>
              <a:rPr sz="2000" spc="-80" dirty="0">
                <a:solidFill>
                  <a:srgbClr val="FFFFFF"/>
                </a:solidFill>
                <a:latin typeface="Calibri"/>
                <a:cs typeface="Calibri"/>
              </a:rPr>
              <a:t> </a:t>
            </a:r>
            <a:r>
              <a:rPr sz="2000" dirty="0">
                <a:solidFill>
                  <a:srgbClr val="FFFFFF"/>
                </a:solidFill>
                <a:latin typeface="Calibri"/>
                <a:cs typeface="Calibri"/>
              </a:rPr>
              <a:t>AND</a:t>
            </a:r>
            <a:r>
              <a:rPr sz="2000" spc="-55" dirty="0">
                <a:solidFill>
                  <a:srgbClr val="FFFFFF"/>
                </a:solidFill>
                <a:latin typeface="Calibri"/>
                <a:cs typeface="Calibri"/>
              </a:rPr>
              <a:t> </a:t>
            </a:r>
            <a:r>
              <a:rPr sz="2000" spc="-10" dirty="0">
                <a:solidFill>
                  <a:srgbClr val="FFFFFF"/>
                </a:solidFill>
                <a:latin typeface="Calibri"/>
                <a:cs typeface="Calibri"/>
              </a:rPr>
              <a:t>ENGINEERING</a:t>
            </a:r>
            <a:endParaRPr sz="2000" dirty="0">
              <a:latin typeface="Calibri"/>
              <a:cs typeface="Calibri"/>
            </a:endParaRPr>
          </a:p>
        </p:txBody>
      </p:sp>
    </p:spTree>
    <p:extLst>
      <p:ext uri="{BB962C8B-B14F-4D97-AF65-F5344CB8AC3E}">
        <p14:creationId xmlns:p14="http://schemas.microsoft.com/office/powerpoint/2010/main" val="3352106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18752" y="851637"/>
            <a:ext cx="3076575" cy="482600"/>
          </a:xfrm>
          <a:prstGeom prst="rect">
            <a:avLst/>
          </a:prstGeom>
        </p:spPr>
        <p:txBody>
          <a:bodyPr vert="horz" wrap="square" lIns="0" tIns="12700" rIns="0" bIns="0" rtlCol="0">
            <a:spAutoFit/>
          </a:bodyPr>
          <a:lstStyle/>
          <a:p>
            <a:pPr marL="12700">
              <a:lnSpc>
                <a:spcPct val="100000"/>
              </a:lnSpc>
              <a:spcBef>
                <a:spcPts val="100"/>
              </a:spcBef>
            </a:pPr>
            <a:r>
              <a:rPr spc="-10" dirty="0"/>
              <a:t>INTRODUCTION</a:t>
            </a:r>
          </a:p>
        </p:txBody>
      </p:sp>
      <p:sp>
        <p:nvSpPr>
          <p:cNvPr id="6" name="object 6"/>
          <p:cNvSpPr txBox="1"/>
          <p:nvPr/>
        </p:nvSpPr>
        <p:spPr>
          <a:xfrm>
            <a:off x="4317619" y="127508"/>
            <a:ext cx="5966460" cy="330835"/>
          </a:xfrm>
          <a:prstGeom prst="rect">
            <a:avLst/>
          </a:prstGeom>
        </p:spPr>
        <p:txBody>
          <a:bodyPr vert="horz" wrap="square" lIns="0" tIns="12700" rIns="0" bIns="0" rtlCol="0">
            <a:spAutoFit/>
          </a:bodyPr>
          <a:lstStyle/>
          <a:p>
            <a:pPr marL="12700">
              <a:lnSpc>
                <a:spcPct val="100000"/>
              </a:lnSpc>
              <a:spcBef>
                <a:spcPts val="100"/>
              </a:spcBef>
            </a:pPr>
            <a:r>
              <a:rPr sz="2000" spc="-30" dirty="0">
                <a:solidFill>
                  <a:srgbClr val="FFFFFF"/>
                </a:solidFill>
                <a:latin typeface="Calibri"/>
                <a:cs typeface="Calibri"/>
              </a:rPr>
              <a:t>DEPARTMENT</a:t>
            </a:r>
            <a:r>
              <a:rPr sz="2000" spc="-105" dirty="0">
                <a:solidFill>
                  <a:srgbClr val="FFFFFF"/>
                </a:solidFill>
                <a:latin typeface="Calibri"/>
                <a:cs typeface="Calibri"/>
              </a:rPr>
              <a:t> </a:t>
            </a:r>
            <a:r>
              <a:rPr sz="2000" dirty="0">
                <a:solidFill>
                  <a:srgbClr val="FFFFFF"/>
                </a:solidFill>
                <a:latin typeface="Calibri"/>
                <a:cs typeface="Calibri"/>
              </a:rPr>
              <a:t>OF</a:t>
            </a:r>
            <a:r>
              <a:rPr sz="2000" spc="-35" dirty="0">
                <a:solidFill>
                  <a:srgbClr val="FFFFFF"/>
                </a:solidFill>
                <a:latin typeface="Calibri"/>
                <a:cs typeface="Calibri"/>
              </a:rPr>
              <a:t> </a:t>
            </a:r>
            <a:r>
              <a:rPr sz="2000" dirty="0">
                <a:solidFill>
                  <a:srgbClr val="FFFFFF"/>
                </a:solidFill>
                <a:latin typeface="Calibri"/>
                <a:cs typeface="Calibri"/>
              </a:rPr>
              <a:t>COMPUTER</a:t>
            </a:r>
            <a:r>
              <a:rPr sz="2000" spc="-55" dirty="0">
                <a:solidFill>
                  <a:srgbClr val="FFFFFF"/>
                </a:solidFill>
                <a:latin typeface="Calibri"/>
                <a:cs typeface="Calibri"/>
              </a:rPr>
              <a:t> </a:t>
            </a:r>
            <a:r>
              <a:rPr sz="2000" dirty="0">
                <a:solidFill>
                  <a:srgbClr val="FFFFFF"/>
                </a:solidFill>
                <a:latin typeface="Calibri"/>
                <a:cs typeface="Calibri"/>
              </a:rPr>
              <a:t>SCIENCE</a:t>
            </a:r>
            <a:r>
              <a:rPr sz="2000" spc="-80" dirty="0">
                <a:solidFill>
                  <a:srgbClr val="FFFFFF"/>
                </a:solidFill>
                <a:latin typeface="Calibri"/>
                <a:cs typeface="Calibri"/>
              </a:rPr>
              <a:t> </a:t>
            </a:r>
            <a:r>
              <a:rPr sz="2000" dirty="0">
                <a:solidFill>
                  <a:srgbClr val="FFFFFF"/>
                </a:solidFill>
                <a:latin typeface="Calibri"/>
                <a:cs typeface="Calibri"/>
              </a:rPr>
              <a:t>AND</a:t>
            </a:r>
            <a:r>
              <a:rPr sz="2000" spc="-50" dirty="0">
                <a:solidFill>
                  <a:srgbClr val="FFFFFF"/>
                </a:solidFill>
                <a:latin typeface="Calibri"/>
                <a:cs typeface="Calibri"/>
              </a:rPr>
              <a:t> </a:t>
            </a:r>
            <a:r>
              <a:rPr sz="2000" spc="-10" dirty="0">
                <a:solidFill>
                  <a:srgbClr val="FFFFFF"/>
                </a:solidFill>
                <a:latin typeface="Calibri"/>
                <a:cs typeface="Calibri"/>
              </a:rPr>
              <a:t>ENGINEERING</a:t>
            </a:r>
            <a:endParaRPr sz="2000">
              <a:latin typeface="Calibri"/>
              <a:cs typeface="Calibri"/>
            </a:endParaRPr>
          </a:p>
        </p:txBody>
      </p:sp>
      <p:sp>
        <p:nvSpPr>
          <p:cNvPr id="14" name="object 14"/>
          <p:cNvSpPr txBox="1">
            <a:spLocks noGrp="1"/>
          </p:cNvSpPr>
          <p:nvPr>
            <p:ph type="body" idx="1"/>
          </p:nvPr>
        </p:nvSpPr>
        <p:spPr>
          <a:xfrm>
            <a:off x="617651" y="1607427"/>
            <a:ext cx="13722027" cy="5552802"/>
          </a:xfrm>
          <a:prstGeom prst="rect">
            <a:avLst/>
          </a:prstGeom>
        </p:spPr>
        <p:txBody>
          <a:bodyPr vert="horz" wrap="square" lIns="0" tIns="12700" rIns="0" bIns="0" rtlCol="0" anchor="t">
            <a:spAutoFit/>
          </a:bodyPr>
          <a:lstStyle/>
          <a:p>
            <a:pPr algn="l">
              <a:tabLst>
                <a:tab pos="370840" algn="l"/>
              </a:tabLst>
            </a:pPr>
            <a:r>
              <a:rPr lang="en-US" spc="-10" dirty="0">
                <a:solidFill>
                  <a:schemeClr val="accent1"/>
                </a:solidFill>
                <a:latin typeface="Arial" panose="020B0604020202020204" pitchFamily="34" charset="0"/>
                <a:ea typeface="Calibri"/>
                <a:cs typeface="Arial" panose="020B0604020202020204" pitchFamily="34" charset="0"/>
              </a:rPr>
              <a:t>Asset tokenization is the process of converting ownership rights of a real-world asset into digital tokens recorded on a blockchain network. Traditionally, investment in assets such as real estate, gold, or fine art requires significant capital and involves complex legal procedures. These barriers restrict participation to a limited group of investors.</a:t>
            </a:r>
          </a:p>
          <a:p>
            <a:pPr algn="l">
              <a:tabLst>
                <a:tab pos="370840" algn="l"/>
              </a:tabLst>
            </a:pPr>
            <a:endParaRPr lang="en-US" dirty="0">
              <a:solidFill>
                <a:schemeClr val="accent1"/>
              </a:solidFill>
              <a:latin typeface="Arial" panose="020B0604020202020204" pitchFamily="34" charset="0"/>
              <a:ea typeface="Calibri"/>
              <a:cs typeface="Arial" panose="020B0604020202020204" pitchFamily="34" charset="0"/>
            </a:endParaRPr>
          </a:p>
          <a:p>
            <a:pPr algn="l">
              <a:tabLst>
                <a:tab pos="370840" algn="l"/>
              </a:tabLst>
            </a:pPr>
            <a:r>
              <a:rPr lang="en-US" spc="-10" dirty="0">
                <a:solidFill>
                  <a:schemeClr val="accent1"/>
                </a:solidFill>
                <a:latin typeface="Arial" panose="020B0604020202020204" pitchFamily="34" charset="0"/>
                <a:ea typeface="Calibri"/>
                <a:cs typeface="Arial" panose="020B0604020202020204" pitchFamily="34" charset="0"/>
              </a:rPr>
              <a:t>This project proposes the design and development of a decentralized platform that enables fractional ownership of real-world assets through blockchain technology. Each asset will be represented by digital tokens, allowing investors to purchase small portions instead of acquiring the entire asset. Blockchain ensures transparency, immutability, and secure transfer of ownership without relying entirely on intermediaries.</a:t>
            </a:r>
            <a:br>
              <a:rPr lang="en-US" spc="-10" dirty="0">
                <a:solidFill>
                  <a:schemeClr val="accent1"/>
                </a:solidFill>
                <a:latin typeface="Arial" panose="020B0604020202020204" pitchFamily="34" charset="0"/>
                <a:ea typeface="Calibri"/>
                <a:cs typeface="Arial" panose="020B0604020202020204" pitchFamily="34" charset="0"/>
              </a:rPr>
            </a:br>
            <a:endParaRPr lang="en-US" spc="-10" dirty="0">
              <a:solidFill>
                <a:schemeClr val="accent1"/>
              </a:solidFill>
              <a:latin typeface="Arial" panose="020B0604020202020204" pitchFamily="34" charset="0"/>
              <a:ea typeface="Calibri"/>
              <a:cs typeface="Arial" panose="020B0604020202020204" pitchFamily="34" charset="0"/>
            </a:endParaRPr>
          </a:p>
          <a:p>
            <a:pPr algn="l">
              <a:tabLst>
                <a:tab pos="370840" algn="l"/>
              </a:tabLst>
            </a:pPr>
            <a:r>
              <a:rPr lang="en-US" spc="-10" dirty="0">
                <a:solidFill>
                  <a:schemeClr val="accent1"/>
                </a:solidFill>
                <a:latin typeface="Arial" panose="020B0604020202020204" pitchFamily="34" charset="0"/>
                <a:ea typeface="Calibri"/>
                <a:cs typeface="Arial" panose="020B0604020202020204" pitchFamily="34" charset="0"/>
              </a:rPr>
              <a:t>The platform will focus on secure smart contract implementation, transparent transaction history, and efficient asset management. The aim is to demonstrate how blockchain can modernize traditional asset ownership models and improve liquidity in illiquid markets.</a:t>
            </a:r>
            <a:endParaRPr lang="en-US" dirty="0">
              <a:solidFill>
                <a:schemeClr val="accent1"/>
              </a:solidFill>
              <a:latin typeface="Arial" panose="020B0604020202020204" pitchFamily="34" charset="0"/>
              <a:cs typeface="Arial" panose="020B0604020202020204" pitchFamily="34" charset="0"/>
            </a:endParaRPr>
          </a:p>
          <a:p>
            <a:pPr algn="l">
              <a:tabLst>
                <a:tab pos="370840" algn="l"/>
              </a:tabLst>
            </a:pPr>
            <a:endParaRPr lang="en-US" dirty="0">
              <a:solidFill>
                <a:schemeClr val="accent1"/>
              </a:solidFill>
              <a:latin typeface="Arial" panose="020B0604020202020204" pitchFamily="34" charset="0"/>
              <a:ea typeface="Calibri"/>
              <a:cs typeface="Arial" panose="020B0604020202020204" pitchFamily="34" charset="0"/>
            </a:endParaRPr>
          </a:p>
        </p:txBody>
      </p:sp>
      <p:sp>
        <p:nvSpPr>
          <p:cNvPr id="7" name="object 16">
            <a:extLst>
              <a:ext uri="{FF2B5EF4-FFF2-40B4-BE49-F238E27FC236}">
                <a16:creationId xmlns:a16="http://schemas.microsoft.com/office/drawing/2014/main" id="{BBD34A63-50D1-B834-C0E7-A5E3634E9B29}"/>
              </a:ext>
            </a:extLst>
          </p:cNvPr>
          <p:cNvSpPr txBox="1">
            <a:spLocks noGrp="1"/>
          </p:cNvSpPr>
          <p:nvPr>
            <p:ph type="sldNum" sz="quarter" idx="7"/>
          </p:nvPr>
        </p:nvSpPr>
        <p:spPr>
          <a:xfrm>
            <a:off x="13607541" y="7657910"/>
            <a:ext cx="541910" cy="281304"/>
          </a:xfrm>
          <a:prstGeom prst="rect">
            <a:avLst/>
          </a:prstGeom>
        </p:spPr>
        <p:txBody>
          <a:bodyPr vert="horz" wrap="square" lIns="0" tIns="0" rIns="0" bIns="0" rtlCol="0">
            <a:spAutoFit/>
          </a:bodyPr>
          <a:lstStyle/>
          <a:p>
            <a:pPr marL="164465">
              <a:lnSpc>
                <a:spcPts val="2090"/>
              </a:lnSpc>
            </a:pPr>
            <a:fld id="{81D60167-4931-47E6-BA6A-407CBD079E47}" type="slidenum">
              <a:rPr spc="-50" dirty="0"/>
              <a:t>5</a:t>
            </a:fld>
            <a:endParaRPr spc="-50" dirty="0"/>
          </a:p>
        </p:txBody>
      </p:sp>
      <p:sp>
        <p:nvSpPr>
          <p:cNvPr id="8" name="TextBox 7">
            <a:extLst>
              <a:ext uri="{FF2B5EF4-FFF2-40B4-BE49-F238E27FC236}">
                <a16:creationId xmlns:a16="http://schemas.microsoft.com/office/drawing/2014/main" id="{B8691786-2A10-B91A-3505-1C4F02933CC6}"/>
              </a:ext>
            </a:extLst>
          </p:cNvPr>
          <p:cNvSpPr txBox="1"/>
          <p:nvPr/>
        </p:nvSpPr>
        <p:spPr>
          <a:xfrm>
            <a:off x="657226" y="7745532"/>
            <a:ext cx="2743200" cy="276999"/>
          </a:xfrm>
          <a:prstGeom prst="rect">
            <a:avLst/>
          </a:prstGeom>
          <a:noFill/>
        </p:spPr>
        <p:txBody>
          <a:bodyPr wrap="square" rtlCol="0">
            <a:spAutoFit/>
          </a:bodyPr>
          <a:lstStyle/>
          <a:p>
            <a:r>
              <a:rPr lang="en-US" sz="1200" dirty="0">
                <a:solidFill>
                  <a:schemeClr val="bg1">
                    <a:lumMod val="50000"/>
                  </a:schemeClr>
                </a:solidFill>
              </a:rPr>
              <a:t>ASSET TOKENIZATION</a:t>
            </a:r>
            <a:endParaRPr lang="en-IN" sz="1200" dirty="0">
              <a:solidFill>
                <a:schemeClr val="bg1">
                  <a:lumMod val="50000"/>
                </a:schemeClr>
              </a:solidFill>
            </a:endParaRPr>
          </a:p>
        </p:txBody>
      </p:sp>
      <p:grpSp>
        <p:nvGrpSpPr>
          <p:cNvPr id="9" name="object 3">
            <a:extLst>
              <a:ext uri="{FF2B5EF4-FFF2-40B4-BE49-F238E27FC236}">
                <a16:creationId xmlns:a16="http://schemas.microsoft.com/office/drawing/2014/main" id="{B8C9EF0E-B0C2-6F99-8E10-C781F712ABD6}"/>
              </a:ext>
            </a:extLst>
          </p:cNvPr>
          <p:cNvGrpSpPr/>
          <p:nvPr/>
        </p:nvGrpSpPr>
        <p:grpSpPr>
          <a:xfrm>
            <a:off x="16854" y="0"/>
            <a:ext cx="14613800" cy="720000"/>
            <a:chOff x="16854" y="0"/>
            <a:chExt cx="14613800" cy="720000"/>
          </a:xfrm>
        </p:grpSpPr>
        <p:sp>
          <p:nvSpPr>
            <p:cNvPr id="15" name="object 4">
              <a:extLst>
                <a:ext uri="{FF2B5EF4-FFF2-40B4-BE49-F238E27FC236}">
                  <a16:creationId xmlns:a16="http://schemas.microsoft.com/office/drawing/2014/main" id="{C55E89ED-9A24-121B-8219-8450C8D3315B}"/>
                </a:ext>
              </a:extLst>
            </p:cNvPr>
            <p:cNvSpPr/>
            <p:nvPr/>
          </p:nvSpPr>
          <p:spPr>
            <a:xfrm>
              <a:off x="1541399" y="38"/>
              <a:ext cx="13089255" cy="696811"/>
            </a:xfrm>
            <a:custGeom>
              <a:avLst/>
              <a:gdLst/>
              <a:ahLst/>
              <a:cxnLst/>
              <a:rect l="l" t="t" r="r" b="b"/>
              <a:pathLst>
                <a:path w="13089255" h="541655">
                  <a:moveTo>
                    <a:pt x="13089001" y="0"/>
                  </a:moveTo>
                  <a:lnTo>
                    <a:pt x="0" y="0"/>
                  </a:lnTo>
                  <a:lnTo>
                    <a:pt x="0" y="541489"/>
                  </a:lnTo>
                  <a:lnTo>
                    <a:pt x="13089001" y="541489"/>
                  </a:lnTo>
                  <a:lnTo>
                    <a:pt x="13089001" y="0"/>
                  </a:lnTo>
                  <a:close/>
                </a:path>
              </a:pathLst>
            </a:custGeom>
            <a:solidFill>
              <a:srgbClr val="155F82"/>
            </a:solidFill>
          </p:spPr>
          <p:txBody>
            <a:bodyPr wrap="square" lIns="0" tIns="0" rIns="0" bIns="0" rtlCol="0"/>
            <a:lstStyle/>
            <a:p>
              <a:endParaRPr/>
            </a:p>
          </p:txBody>
        </p:sp>
        <p:pic>
          <p:nvPicPr>
            <p:cNvPr id="16" name="object 5">
              <a:extLst>
                <a:ext uri="{FF2B5EF4-FFF2-40B4-BE49-F238E27FC236}">
                  <a16:creationId xmlns:a16="http://schemas.microsoft.com/office/drawing/2014/main" id="{3E786C5C-05E9-9EDD-D400-CCEBA597A1B2}"/>
                </a:ext>
              </a:extLst>
            </p:cNvPr>
            <p:cNvPicPr/>
            <p:nvPr/>
          </p:nvPicPr>
          <p:blipFill>
            <a:blip r:embed="rId2" cstate="print"/>
            <a:stretch>
              <a:fillRect/>
            </a:stretch>
          </p:blipFill>
          <p:spPr>
            <a:xfrm>
              <a:off x="13856311" y="0"/>
              <a:ext cx="720000" cy="720000"/>
            </a:xfrm>
            <a:prstGeom prst="rect">
              <a:avLst/>
            </a:prstGeom>
          </p:spPr>
        </p:pic>
        <p:pic>
          <p:nvPicPr>
            <p:cNvPr id="17" name="object 6">
              <a:extLst>
                <a:ext uri="{FF2B5EF4-FFF2-40B4-BE49-F238E27FC236}">
                  <a16:creationId xmlns:a16="http://schemas.microsoft.com/office/drawing/2014/main" id="{B98EED07-A318-D8B9-7E08-4F8A0031F69D}"/>
                </a:ext>
              </a:extLst>
            </p:cNvPr>
            <p:cNvPicPr/>
            <p:nvPr/>
          </p:nvPicPr>
          <p:blipFill>
            <a:blip r:embed="rId3" cstate="print"/>
            <a:stretch>
              <a:fillRect/>
            </a:stretch>
          </p:blipFill>
          <p:spPr>
            <a:xfrm>
              <a:off x="16854" y="11176"/>
              <a:ext cx="1524254" cy="685673"/>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309998" y="112013"/>
            <a:ext cx="5967730" cy="330835"/>
          </a:xfrm>
          <a:prstGeom prst="rect">
            <a:avLst/>
          </a:prstGeom>
        </p:spPr>
        <p:txBody>
          <a:bodyPr vert="horz" wrap="square" lIns="0" tIns="12700" rIns="0" bIns="0" rtlCol="0">
            <a:spAutoFit/>
          </a:bodyPr>
          <a:lstStyle/>
          <a:p>
            <a:pPr marL="12700">
              <a:lnSpc>
                <a:spcPct val="100000"/>
              </a:lnSpc>
              <a:spcBef>
                <a:spcPts val="100"/>
              </a:spcBef>
            </a:pPr>
            <a:r>
              <a:rPr sz="2000" spc="-30" dirty="0">
                <a:solidFill>
                  <a:srgbClr val="FFFFFF"/>
                </a:solidFill>
                <a:latin typeface="Calibri"/>
                <a:cs typeface="Calibri"/>
              </a:rPr>
              <a:t>DEPARTMENT</a:t>
            </a:r>
            <a:r>
              <a:rPr sz="2000" spc="-90" dirty="0">
                <a:solidFill>
                  <a:srgbClr val="FFFFFF"/>
                </a:solidFill>
                <a:latin typeface="Calibri"/>
                <a:cs typeface="Calibri"/>
              </a:rPr>
              <a:t> </a:t>
            </a:r>
            <a:r>
              <a:rPr sz="2000" dirty="0">
                <a:solidFill>
                  <a:srgbClr val="FFFFFF"/>
                </a:solidFill>
                <a:latin typeface="Calibri"/>
                <a:cs typeface="Calibri"/>
              </a:rPr>
              <a:t>OF</a:t>
            </a:r>
            <a:r>
              <a:rPr sz="2000" spc="-30" dirty="0">
                <a:solidFill>
                  <a:srgbClr val="FFFFFF"/>
                </a:solidFill>
                <a:latin typeface="Calibri"/>
                <a:cs typeface="Calibri"/>
              </a:rPr>
              <a:t> </a:t>
            </a:r>
            <a:r>
              <a:rPr sz="2000" dirty="0">
                <a:solidFill>
                  <a:srgbClr val="FFFFFF"/>
                </a:solidFill>
                <a:latin typeface="Calibri"/>
                <a:cs typeface="Calibri"/>
              </a:rPr>
              <a:t>COMPUTER</a:t>
            </a:r>
            <a:r>
              <a:rPr sz="2000" spc="-55" dirty="0">
                <a:solidFill>
                  <a:srgbClr val="FFFFFF"/>
                </a:solidFill>
                <a:latin typeface="Calibri"/>
                <a:cs typeface="Calibri"/>
              </a:rPr>
              <a:t> </a:t>
            </a:r>
            <a:r>
              <a:rPr sz="2000" dirty="0">
                <a:solidFill>
                  <a:srgbClr val="FFFFFF"/>
                </a:solidFill>
                <a:latin typeface="Calibri"/>
                <a:cs typeface="Calibri"/>
              </a:rPr>
              <a:t>SCIENCE</a:t>
            </a:r>
            <a:r>
              <a:rPr sz="2000" spc="-90" dirty="0">
                <a:solidFill>
                  <a:srgbClr val="FFFFFF"/>
                </a:solidFill>
                <a:latin typeface="Calibri"/>
                <a:cs typeface="Calibri"/>
              </a:rPr>
              <a:t> </a:t>
            </a:r>
            <a:r>
              <a:rPr sz="2000" dirty="0">
                <a:solidFill>
                  <a:srgbClr val="FFFFFF"/>
                </a:solidFill>
                <a:latin typeface="Calibri"/>
                <a:cs typeface="Calibri"/>
              </a:rPr>
              <a:t>AND</a:t>
            </a:r>
            <a:r>
              <a:rPr sz="2000" spc="-50" dirty="0">
                <a:solidFill>
                  <a:srgbClr val="FFFFFF"/>
                </a:solidFill>
                <a:latin typeface="Calibri"/>
                <a:cs typeface="Calibri"/>
              </a:rPr>
              <a:t> </a:t>
            </a:r>
            <a:r>
              <a:rPr sz="2000" spc="-10" dirty="0">
                <a:solidFill>
                  <a:srgbClr val="FFFFFF"/>
                </a:solidFill>
                <a:latin typeface="Calibri"/>
                <a:cs typeface="Calibri"/>
              </a:rPr>
              <a:t>ENGINEERING</a:t>
            </a:r>
            <a:endParaRPr sz="2000">
              <a:latin typeface="Calibri"/>
              <a:cs typeface="Calibri"/>
            </a:endParaRPr>
          </a:p>
        </p:txBody>
      </p:sp>
      <p:sp>
        <p:nvSpPr>
          <p:cNvPr id="13" name="object 13"/>
          <p:cNvSpPr txBox="1">
            <a:spLocks noGrp="1"/>
          </p:cNvSpPr>
          <p:nvPr>
            <p:ph type="title"/>
          </p:nvPr>
        </p:nvSpPr>
        <p:spPr>
          <a:xfrm>
            <a:off x="3476517" y="592588"/>
            <a:ext cx="7355840" cy="482600"/>
          </a:xfrm>
          <a:prstGeom prst="rect">
            <a:avLst/>
          </a:prstGeom>
        </p:spPr>
        <p:txBody>
          <a:bodyPr vert="horz" wrap="square" lIns="0" tIns="12700" rIns="0" bIns="0" rtlCol="0">
            <a:spAutoFit/>
          </a:bodyPr>
          <a:lstStyle/>
          <a:p>
            <a:pPr marL="2350770">
              <a:lnSpc>
                <a:spcPct val="100000"/>
              </a:lnSpc>
              <a:spcBef>
                <a:spcPts val="100"/>
              </a:spcBef>
            </a:pPr>
            <a:r>
              <a:rPr dirty="0"/>
              <a:t>Literature</a:t>
            </a:r>
            <a:r>
              <a:rPr spc="-120" dirty="0"/>
              <a:t> </a:t>
            </a:r>
            <a:r>
              <a:rPr spc="-10" dirty="0"/>
              <a:t>Survey</a:t>
            </a:r>
          </a:p>
        </p:txBody>
      </p:sp>
      <p:graphicFrame>
        <p:nvGraphicFramePr>
          <p:cNvPr id="20" name="Table 19">
            <a:extLst>
              <a:ext uri="{FF2B5EF4-FFF2-40B4-BE49-F238E27FC236}">
                <a16:creationId xmlns:a16="http://schemas.microsoft.com/office/drawing/2014/main" id="{49C1A887-CAA4-1F89-770C-947C33216C07}"/>
              </a:ext>
            </a:extLst>
          </p:cNvPr>
          <p:cNvGraphicFramePr>
            <a:graphicFrameLocks noGrp="1"/>
          </p:cNvGraphicFramePr>
          <p:nvPr>
            <p:extLst>
              <p:ext uri="{D42A27DB-BD31-4B8C-83A1-F6EECF244321}">
                <p14:modId xmlns:p14="http://schemas.microsoft.com/office/powerpoint/2010/main" val="2258105303"/>
              </p:ext>
            </p:extLst>
          </p:nvPr>
        </p:nvGraphicFramePr>
        <p:xfrm>
          <a:off x="272320" y="1676400"/>
          <a:ext cx="13943758" cy="6247578"/>
        </p:xfrm>
        <a:graphic>
          <a:graphicData uri="http://schemas.openxmlformats.org/drawingml/2006/table">
            <a:tbl>
              <a:tblPr firstRow="1" bandRow="1">
                <a:tableStyleId>{5C22544A-7EE6-4342-B048-85BDC9FD1C3A}</a:tableStyleId>
              </a:tblPr>
              <a:tblGrid>
                <a:gridCol w="1868556">
                  <a:extLst>
                    <a:ext uri="{9D8B030D-6E8A-4147-A177-3AD203B41FA5}">
                      <a16:colId xmlns:a16="http://schemas.microsoft.com/office/drawing/2014/main" val="2594946724"/>
                    </a:ext>
                  </a:extLst>
                </a:gridCol>
                <a:gridCol w="1949889">
                  <a:extLst>
                    <a:ext uri="{9D8B030D-6E8A-4147-A177-3AD203B41FA5}">
                      <a16:colId xmlns:a16="http://schemas.microsoft.com/office/drawing/2014/main" val="1832568601"/>
                    </a:ext>
                  </a:extLst>
                </a:gridCol>
                <a:gridCol w="3876260">
                  <a:extLst>
                    <a:ext uri="{9D8B030D-6E8A-4147-A177-3AD203B41FA5}">
                      <a16:colId xmlns:a16="http://schemas.microsoft.com/office/drawing/2014/main" val="231796572"/>
                    </a:ext>
                  </a:extLst>
                </a:gridCol>
                <a:gridCol w="3464277">
                  <a:extLst>
                    <a:ext uri="{9D8B030D-6E8A-4147-A177-3AD203B41FA5}">
                      <a16:colId xmlns:a16="http://schemas.microsoft.com/office/drawing/2014/main" val="4259114089"/>
                    </a:ext>
                  </a:extLst>
                </a:gridCol>
                <a:gridCol w="2784776">
                  <a:extLst>
                    <a:ext uri="{9D8B030D-6E8A-4147-A177-3AD203B41FA5}">
                      <a16:colId xmlns:a16="http://schemas.microsoft.com/office/drawing/2014/main" val="3791512840"/>
                    </a:ext>
                  </a:extLst>
                </a:gridCol>
              </a:tblGrid>
              <a:tr h="920490">
                <a:tc>
                  <a:txBody>
                    <a:bodyPr/>
                    <a:lstStyle/>
                    <a:p>
                      <a:pPr algn="ctr"/>
                      <a:r>
                        <a:rPr lang="en-US" dirty="0">
                          <a:solidFill>
                            <a:schemeClr val="tx1"/>
                          </a:solidFill>
                        </a:rPr>
                        <a:t>NISHITH DESAI ASSOCIATES</a:t>
                      </a:r>
                    </a:p>
                  </a:txBody>
                  <a:tcPr/>
                </a:tc>
                <a:tc>
                  <a:txBody>
                    <a:bodyPr/>
                    <a:lstStyle/>
                    <a:p>
                      <a:pPr algn="ctr"/>
                      <a:r>
                        <a:rPr lang="en-US" dirty="0">
                          <a:solidFill>
                            <a:schemeClr val="tx1"/>
                          </a:solidFill>
                        </a:rPr>
                        <a:t>2025</a:t>
                      </a:r>
                    </a:p>
                  </a:txBody>
                  <a:tcPr/>
                </a:tc>
                <a:tc>
                  <a:txBody>
                    <a:bodyPr/>
                    <a:lstStyle/>
                    <a:p>
                      <a:pPr algn="ctr"/>
                      <a:r>
                        <a:rPr lang="en-US" dirty="0">
                          <a:solidFill>
                            <a:schemeClr val="tx1"/>
                          </a:solidFill>
                        </a:rPr>
                        <a:t>REAL ESTATE TOKENISATION</a:t>
                      </a:r>
                    </a:p>
                  </a:txBody>
                  <a:tcPr/>
                </a:tc>
                <a:tc>
                  <a:txBody>
                    <a:bodyPr/>
                    <a:lstStyle/>
                    <a:p>
                      <a:pPr algn="ctr"/>
                      <a:r>
                        <a:rPr lang="en-US" dirty="0">
                          <a:solidFill>
                            <a:schemeClr val="tx1"/>
                          </a:solidFill>
                        </a:rPr>
                        <a:t>COMPARATIVE LEGAL FRAMEWORK STUDY</a:t>
                      </a:r>
                    </a:p>
                  </a:txBody>
                  <a:tcPr/>
                </a:tc>
                <a:tc>
                  <a:txBody>
                    <a:bodyPr/>
                    <a:lstStyle/>
                    <a:p>
                      <a:pPr algn="l"/>
                      <a:r>
                        <a:rPr lang="en-US" dirty="0">
                          <a:solidFill>
                            <a:schemeClr val="tx1"/>
                          </a:solidFill>
                        </a:rPr>
                        <a:t>Identifies Cross-Border Regulatory Challenges and Compliance Issues</a:t>
                      </a:r>
                    </a:p>
                  </a:txBody>
                  <a:tcPr/>
                </a:tc>
                <a:extLst>
                  <a:ext uri="{0D108BD9-81ED-4DB2-BD59-A6C34878D82A}">
                    <a16:rowId xmlns:a16="http://schemas.microsoft.com/office/drawing/2014/main" val="2033358262"/>
                  </a:ext>
                </a:extLst>
              </a:tr>
              <a:tr h="920490">
                <a:tc>
                  <a:txBody>
                    <a:bodyPr/>
                    <a:lstStyle/>
                    <a:p>
                      <a:pPr algn="just"/>
                      <a:r>
                        <a:rPr lang="en-US" b="1" dirty="0"/>
                        <a:t>ITAI AGUR ET AL.</a:t>
                      </a:r>
                    </a:p>
                  </a:txBody>
                  <a:tcPr anchor="ctr"/>
                </a:tc>
                <a:tc>
                  <a:txBody>
                    <a:bodyPr/>
                    <a:lstStyle/>
                    <a:p>
                      <a:pPr algn="ctr"/>
                      <a:r>
                        <a:rPr lang="en-US" b="1" dirty="0"/>
                        <a:t>2025</a:t>
                      </a:r>
                    </a:p>
                  </a:txBody>
                  <a:tcPr anchor="ctr"/>
                </a:tc>
                <a:tc>
                  <a:txBody>
                    <a:bodyPr/>
                    <a:lstStyle/>
                    <a:p>
                      <a:pPr algn="l"/>
                      <a:r>
                        <a:rPr lang="en-US" b="1" dirty="0"/>
                        <a:t>TOKENIZATION AND FINANCIAL MARKET INEFFICIENCIES</a:t>
                      </a:r>
                    </a:p>
                  </a:txBody>
                  <a:tcPr anchor="ctr"/>
                </a:tc>
                <a:tc>
                  <a:txBody>
                    <a:bodyPr/>
                    <a:lstStyle/>
                    <a:p>
                      <a:pPr algn="l"/>
                      <a:r>
                        <a:rPr lang="en-US" b="1" dirty="0"/>
                        <a:t>THEORETICAL FRAMEWORK ON EXTERNALITIES</a:t>
                      </a:r>
                    </a:p>
                  </a:txBody>
                  <a:tcPr anchor="ctr"/>
                </a:tc>
                <a:tc>
                  <a:txBody>
                    <a:bodyPr/>
                    <a:lstStyle/>
                    <a:p>
                      <a:pPr algn="l"/>
                      <a:r>
                        <a:rPr lang="en-US" b="1" dirty="0"/>
                        <a:t>Discusses Network Effects , Market Power , Systemic Risks</a:t>
                      </a:r>
                    </a:p>
                  </a:txBody>
                  <a:tcPr/>
                </a:tc>
                <a:extLst>
                  <a:ext uri="{0D108BD9-81ED-4DB2-BD59-A6C34878D82A}">
                    <a16:rowId xmlns:a16="http://schemas.microsoft.com/office/drawing/2014/main" val="980308344"/>
                  </a:ext>
                </a:extLst>
              </a:tr>
              <a:tr h="1468866">
                <a:tc>
                  <a:txBody>
                    <a:bodyPr/>
                    <a:lstStyle/>
                    <a:p>
                      <a:pPr algn="just"/>
                      <a:r>
                        <a:rPr lang="en-US" b="1" dirty="0"/>
                        <a:t>WORLD ECONOMIC FORUM</a:t>
                      </a:r>
                    </a:p>
                  </a:txBody>
                  <a:tcPr anchor="ctr"/>
                </a:tc>
                <a:tc>
                  <a:txBody>
                    <a:bodyPr/>
                    <a:lstStyle/>
                    <a:p>
                      <a:pPr algn="ctr"/>
                      <a:r>
                        <a:rPr lang="en-US" b="1" dirty="0"/>
                        <a:t>2025</a:t>
                      </a:r>
                    </a:p>
                  </a:txBody>
                  <a:tcPr anchor="ctr"/>
                </a:tc>
                <a:tc>
                  <a:txBody>
                    <a:bodyPr/>
                    <a:lstStyle/>
                    <a:p>
                      <a:pPr algn="l"/>
                      <a:r>
                        <a:rPr lang="en-US" b="1" dirty="0"/>
                        <a:t>ASSET TOKENIZATION IN FINANCIAL </a:t>
                      </a:r>
                      <a:r>
                        <a:rPr lang="en-US" b="1"/>
                        <a:t>MARKETS</a:t>
                      </a:r>
                      <a:endParaRPr lang="en-US" b="1" dirty="0"/>
                    </a:p>
                  </a:txBody>
                  <a:tcPr anchor="ctr"/>
                </a:tc>
                <a:tc>
                  <a:txBody>
                    <a:bodyPr/>
                    <a:lstStyle/>
                    <a:p>
                      <a:pPr algn="l"/>
                      <a:r>
                        <a:rPr lang="en-US" b="1"/>
                        <a:t>DESK RESEARCH+EXPERT INTERVIEWS+WORKSHOPS</a:t>
                      </a:r>
                      <a:endParaRPr lang="en-US" b="1" dirty="0"/>
                    </a:p>
                  </a:txBody>
                  <a:tcPr anchor="ctr"/>
                </a:tc>
                <a:tc>
                  <a:txBody>
                    <a:bodyPr/>
                    <a:lstStyle/>
                    <a:p>
                      <a:pPr lvl="0" algn="l">
                        <a:buNone/>
                      </a:pPr>
                      <a:r>
                        <a:rPr lang="en-US" b="1" i="0" u="none" strike="noStrike" noProof="0" dirty="0">
                          <a:latin typeface="Calibri"/>
                          <a:ea typeface="Calibri"/>
                          <a:cs typeface="Calibri"/>
                        </a:rPr>
                        <a:t>Identifies tokenization models (backed &amp; native) and explains proof of value, ownership, and transaction concepts.</a:t>
                      </a:r>
                      <a:endParaRPr lang="en-US" b="1" dirty="0"/>
                    </a:p>
                  </a:txBody>
                  <a:tcPr/>
                </a:tc>
                <a:extLst>
                  <a:ext uri="{0D108BD9-81ED-4DB2-BD59-A6C34878D82A}">
                    <a16:rowId xmlns:a16="http://schemas.microsoft.com/office/drawing/2014/main" val="2277902624"/>
                  </a:ext>
                </a:extLst>
              </a:tr>
              <a:tr h="1743055">
                <a:tc>
                  <a:txBody>
                    <a:bodyPr/>
                    <a:lstStyle/>
                    <a:p>
                      <a:pPr algn="just"/>
                      <a:r>
                        <a:rPr lang="en-US" b="1" dirty="0"/>
                        <a:t>URAV SONI,OLIVIER FINES,JINMING SUN</a:t>
                      </a:r>
                    </a:p>
                  </a:txBody>
                  <a:tcPr anchor="ctr"/>
                </a:tc>
                <a:tc>
                  <a:txBody>
                    <a:bodyPr/>
                    <a:lstStyle/>
                    <a:p>
                      <a:pPr algn="ctr"/>
                      <a:r>
                        <a:rPr lang="en-US" b="1"/>
                        <a:t>2025</a:t>
                      </a:r>
                      <a:endParaRPr lang="en-US" b="1" dirty="0"/>
                    </a:p>
                  </a:txBody>
                  <a:tcPr anchor="ctr"/>
                </a:tc>
                <a:tc>
                  <a:txBody>
                    <a:bodyPr/>
                    <a:lstStyle/>
                    <a:p>
                      <a:pPr algn="l"/>
                      <a:r>
                        <a:rPr lang="en-US" b="1"/>
                        <a:t>AN INVESTMENT PERSPECTIVE ON TOKENIZATION</a:t>
                      </a:r>
                      <a:endParaRPr lang="en-US" b="1" dirty="0"/>
                    </a:p>
                  </a:txBody>
                  <a:tcPr anchor="ctr"/>
                </a:tc>
                <a:tc>
                  <a:txBody>
                    <a:bodyPr/>
                    <a:lstStyle/>
                    <a:p>
                      <a:pPr algn="l"/>
                      <a:r>
                        <a:rPr lang="en-US" b="1" dirty="0"/>
                        <a:t>QUALITATIVE ANALYSIS+CASE </a:t>
                      </a:r>
                      <a:r>
                        <a:rPr lang="en-US" b="1"/>
                        <a:t>STUDIES+INDUSTRY INTERVIEWS</a:t>
                      </a:r>
                      <a:endParaRPr lang="en-US" b="1" dirty="0"/>
                    </a:p>
                  </a:txBody>
                  <a:tcPr anchor="ctr"/>
                </a:tc>
                <a:tc>
                  <a:txBody>
                    <a:bodyPr/>
                    <a:lstStyle/>
                    <a:p>
                      <a:pPr lvl="0" algn="l">
                        <a:buNone/>
                      </a:pPr>
                      <a:r>
                        <a:rPr lang="en-US" b="1" i="0" u="none" strike="noStrike" noProof="0">
                          <a:latin typeface="Calibri"/>
                          <a:ea typeface="Calibri"/>
                          <a:cs typeface="Calibri"/>
                        </a:rPr>
                        <a:t>Improves operational efficiency, settlement speed, and transparency. Enables fractional ownership and access to private markets.</a:t>
                      </a:r>
                      <a:endParaRPr lang="en-US" b="1" dirty="0"/>
                    </a:p>
                  </a:txBody>
                  <a:tcPr/>
                </a:tc>
                <a:extLst>
                  <a:ext uri="{0D108BD9-81ED-4DB2-BD59-A6C34878D82A}">
                    <a16:rowId xmlns:a16="http://schemas.microsoft.com/office/drawing/2014/main" val="2275744403"/>
                  </a:ext>
                </a:extLst>
              </a:tr>
              <a:tr h="1194677">
                <a:tc>
                  <a:txBody>
                    <a:bodyPr/>
                    <a:lstStyle/>
                    <a:p>
                      <a:pPr algn="just"/>
                      <a:r>
                        <a:rPr lang="en-US" b="1" dirty="0"/>
                        <a:t>IFSCA</a:t>
                      </a:r>
                    </a:p>
                  </a:txBody>
                  <a:tcPr anchor="ctr"/>
                </a:tc>
                <a:tc>
                  <a:txBody>
                    <a:bodyPr/>
                    <a:lstStyle/>
                    <a:p>
                      <a:pPr algn="ctr"/>
                      <a:r>
                        <a:rPr lang="en-US" b="1" dirty="0"/>
                        <a:t>2025</a:t>
                      </a:r>
                    </a:p>
                  </a:txBody>
                  <a:tcPr anchor="ctr"/>
                </a:tc>
                <a:tc>
                  <a:txBody>
                    <a:bodyPr/>
                    <a:lstStyle/>
                    <a:p>
                      <a:pPr lvl="0" algn="l">
                        <a:buNone/>
                      </a:pPr>
                      <a:r>
                        <a:rPr lang="en-US" b="1" i="0" u="none" strike="noStrike" noProof="0" dirty="0">
                          <a:latin typeface="Calibri"/>
                          <a:ea typeface="Calibri"/>
                          <a:cs typeface="Calibri"/>
                        </a:rPr>
                        <a:t>Regulatory Approach towards Tokenization of RWAs</a:t>
                      </a:r>
                      <a:endParaRPr lang="en-US" b="1" dirty="0"/>
                    </a:p>
                  </a:txBody>
                  <a:tcPr anchor="ctr"/>
                </a:tc>
                <a:tc>
                  <a:txBody>
                    <a:bodyPr/>
                    <a:lstStyle/>
                    <a:p>
                      <a:pPr lvl="0" algn="l">
                        <a:buNone/>
                      </a:pPr>
                      <a:r>
                        <a:rPr lang="en-US" b="1" i="0" u="none" strike="noStrike" noProof="0" dirty="0">
                          <a:latin typeface="Calibri"/>
                          <a:ea typeface="Calibri"/>
                          <a:cs typeface="Calibri"/>
                        </a:rPr>
                        <a:t>Analytical policy framework</a:t>
                      </a:r>
                      <a:endParaRPr lang="en-US" b="1" dirty="0"/>
                    </a:p>
                  </a:txBody>
                  <a:tcPr anchor="ctr"/>
                </a:tc>
                <a:tc>
                  <a:txBody>
                    <a:bodyPr/>
                    <a:lstStyle/>
                    <a:p>
                      <a:pPr lvl="0" algn="l">
                        <a:buNone/>
                      </a:pPr>
                      <a:r>
                        <a:rPr lang="en-US" b="1" i="0" u="none" strike="noStrike" noProof="0" dirty="0">
                          <a:latin typeface="Calibri"/>
                          <a:ea typeface="Calibri"/>
                          <a:cs typeface="Calibri"/>
                        </a:rPr>
                        <a:t>Highlights risk management frameworks and need for regulatory clarity in digital tokens</a:t>
                      </a:r>
                      <a:endParaRPr lang="en-US" b="1" dirty="0"/>
                    </a:p>
                  </a:txBody>
                  <a:tcPr/>
                </a:tc>
                <a:extLst>
                  <a:ext uri="{0D108BD9-81ED-4DB2-BD59-A6C34878D82A}">
                    <a16:rowId xmlns:a16="http://schemas.microsoft.com/office/drawing/2014/main" val="2032071539"/>
                  </a:ext>
                </a:extLst>
              </a:tr>
            </a:tbl>
          </a:graphicData>
        </a:graphic>
      </p:graphicFrame>
      <p:graphicFrame>
        <p:nvGraphicFramePr>
          <p:cNvPr id="21" name="Table 20">
            <a:extLst>
              <a:ext uri="{FF2B5EF4-FFF2-40B4-BE49-F238E27FC236}">
                <a16:creationId xmlns:a16="http://schemas.microsoft.com/office/drawing/2014/main" id="{F32AB647-16F8-F40A-51CE-B2207992A10C}"/>
              </a:ext>
            </a:extLst>
          </p:cNvPr>
          <p:cNvGraphicFramePr>
            <a:graphicFrameLocks noGrp="1"/>
          </p:cNvGraphicFramePr>
          <p:nvPr>
            <p:extLst>
              <p:ext uri="{D42A27DB-BD31-4B8C-83A1-F6EECF244321}">
                <p14:modId xmlns:p14="http://schemas.microsoft.com/office/powerpoint/2010/main" val="183957972"/>
              </p:ext>
            </p:extLst>
          </p:nvPr>
        </p:nvGraphicFramePr>
        <p:xfrm>
          <a:off x="272320" y="1167328"/>
          <a:ext cx="13943758" cy="397565"/>
        </p:xfrm>
        <a:graphic>
          <a:graphicData uri="http://schemas.openxmlformats.org/drawingml/2006/table">
            <a:tbl>
              <a:tblPr firstRow="1" bandRow="1">
                <a:tableStyleId>{5C22544A-7EE6-4342-B048-85BDC9FD1C3A}</a:tableStyleId>
              </a:tblPr>
              <a:tblGrid>
                <a:gridCol w="1879586">
                  <a:extLst>
                    <a:ext uri="{9D8B030D-6E8A-4147-A177-3AD203B41FA5}">
                      <a16:colId xmlns:a16="http://schemas.microsoft.com/office/drawing/2014/main" val="1519859329"/>
                    </a:ext>
                  </a:extLst>
                </a:gridCol>
                <a:gridCol w="1980415">
                  <a:extLst>
                    <a:ext uri="{9D8B030D-6E8A-4147-A177-3AD203B41FA5}">
                      <a16:colId xmlns:a16="http://schemas.microsoft.com/office/drawing/2014/main" val="2142149564"/>
                    </a:ext>
                  </a:extLst>
                </a:gridCol>
                <a:gridCol w="3868679">
                  <a:extLst>
                    <a:ext uri="{9D8B030D-6E8A-4147-A177-3AD203B41FA5}">
                      <a16:colId xmlns:a16="http://schemas.microsoft.com/office/drawing/2014/main" val="2139913288"/>
                    </a:ext>
                  </a:extLst>
                </a:gridCol>
                <a:gridCol w="3443625">
                  <a:extLst>
                    <a:ext uri="{9D8B030D-6E8A-4147-A177-3AD203B41FA5}">
                      <a16:colId xmlns:a16="http://schemas.microsoft.com/office/drawing/2014/main" val="1190765436"/>
                    </a:ext>
                  </a:extLst>
                </a:gridCol>
                <a:gridCol w="2771453">
                  <a:extLst>
                    <a:ext uri="{9D8B030D-6E8A-4147-A177-3AD203B41FA5}">
                      <a16:colId xmlns:a16="http://schemas.microsoft.com/office/drawing/2014/main" val="2241939142"/>
                    </a:ext>
                  </a:extLst>
                </a:gridCol>
              </a:tblGrid>
              <a:tr h="397565">
                <a:tc>
                  <a:txBody>
                    <a:bodyPr/>
                    <a:lstStyle/>
                    <a:p>
                      <a:pPr algn="ctr"/>
                      <a:r>
                        <a:rPr lang="en-US" b="1" dirty="0">
                          <a:solidFill>
                            <a:schemeClr val="tx1"/>
                          </a:solidFill>
                        </a:rPr>
                        <a:t>   AUTHOR(S)</a:t>
                      </a:r>
                    </a:p>
                  </a:txBody>
                  <a:tcPr/>
                </a:tc>
                <a:tc>
                  <a:txBody>
                    <a:bodyPr/>
                    <a:lstStyle/>
                    <a:p>
                      <a:pPr algn="ctr"/>
                      <a:r>
                        <a:rPr lang="en-US" dirty="0">
                          <a:solidFill>
                            <a:schemeClr val="tx1"/>
                          </a:solidFill>
                        </a:rPr>
                        <a:t>      YEAR</a:t>
                      </a:r>
                    </a:p>
                  </a:txBody>
                  <a:tcPr/>
                </a:tc>
                <a:tc>
                  <a:txBody>
                    <a:bodyPr/>
                    <a:lstStyle/>
                    <a:p>
                      <a:pPr algn="ctr"/>
                      <a:r>
                        <a:rPr lang="en-US" dirty="0">
                          <a:solidFill>
                            <a:schemeClr val="tx1"/>
                          </a:solidFill>
                        </a:rPr>
                        <a:t>TITLE</a:t>
                      </a:r>
                    </a:p>
                  </a:txBody>
                  <a:tcPr/>
                </a:tc>
                <a:tc>
                  <a:txBody>
                    <a:bodyPr/>
                    <a:lstStyle/>
                    <a:p>
                      <a:pPr algn="ctr"/>
                      <a:r>
                        <a:rPr lang="en-US" dirty="0">
                          <a:solidFill>
                            <a:schemeClr val="tx1"/>
                          </a:solidFill>
                        </a:rPr>
                        <a:t>    METHODOLOGY</a:t>
                      </a:r>
                    </a:p>
                  </a:txBody>
                  <a:tcPr/>
                </a:tc>
                <a:tc>
                  <a:txBody>
                    <a:bodyPr/>
                    <a:lstStyle/>
                    <a:p>
                      <a:pPr algn="ctr"/>
                      <a:r>
                        <a:rPr lang="en-US" dirty="0">
                          <a:solidFill>
                            <a:schemeClr val="tx1"/>
                          </a:solidFill>
                        </a:rPr>
                        <a:t>     ADV/KEY FEATURES</a:t>
                      </a:r>
                    </a:p>
                  </a:txBody>
                  <a:tcPr/>
                </a:tc>
                <a:extLst>
                  <a:ext uri="{0D108BD9-81ED-4DB2-BD59-A6C34878D82A}">
                    <a16:rowId xmlns:a16="http://schemas.microsoft.com/office/drawing/2014/main" val="2788794353"/>
                  </a:ext>
                </a:extLst>
              </a:tr>
            </a:tbl>
          </a:graphicData>
        </a:graphic>
      </p:graphicFrame>
      <p:sp>
        <p:nvSpPr>
          <p:cNvPr id="6" name="object 16">
            <a:extLst>
              <a:ext uri="{FF2B5EF4-FFF2-40B4-BE49-F238E27FC236}">
                <a16:creationId xmlns:a16="http://schemas.microsoft.com/office/drawing/2014/main" id="{60BEC7D5-C512-8FDF-E65F-D4857BE06874}"/>
              </a:ext>
            </a:extLst>
          </p:cNvPr>
          <p:cNvSpPr txBox="1">
            <a:spLocks noGrp="1"/>
          </p:cNvSpPr>
          <p:nvPr>
            <p:ph type="sldNum" sz="quarter" idx="7"/>
          </p:nvPr>
        </p:nvSpPr>
        <p:spPr>
          <a:xfrm>
            <a:off x="13607541" y="7657910"/>
            <a:ext cx="541910" cy="281304"/>
          </a:xfrm>
          <a:prstGeom prst="rect">
            <a:avLst/>
          </a:prstGeom>
        </p:spPr>
        <p:txBody>
          <a:bodyPr vert="horz" wrap="square" lIns="0" tIns="0" rIns="0" bIns="0" rtlCol="0">
            <a:spAutoFit/>
          </a:bodyPr>
          <a:lstStyle/>
          <a:p>
            <a:pPr marL="164465">
              <a:lnSpc>
                <a:spcPts val="2090"/>
              </a:lnSpc>
            </a:pPr>
            <a:fld id="{81D60167-4931-47E6-BA6A-407CBD079E47}" type="slidenum">
              <a:rPr spc="-50" dirty="0"/>
              <a:t>6</a:t>
            </a:fld>
            <a:endParaRPr spc="-50" dirty="0"/>
          </a:p>
        </p:txBody>
      </p:sp>
      <p:sp>
        <p:nvSpPr>
          <p:cNvPr id="7" name="TextBox 6">
            <a:extLst>
              <a:ext uri="{FF2B5EF4-FFF2-40B4-BE49-F238E27FC236}">
                <a16:creationId xmlns:a16="http://schemas.microsoft.com/office/drawing/2014/main" id="{EE7B16EE-F2DE-B698-7CBD-3D83F1BCE1AC}"/>
              </a:ext>
            </a:extLst>
          </p:cNvPr>
          <p:cNvSpPr txBox="1"/>
          <p:nvPr/>
        </p:nvSpPr>
        <p:spPr>
          <a:xfrm>
            <a:off x="657226" y="7745532"/>
            <a:ext cx="2743200" cy="276999"/>
          </a:xfrm>
          <a:prstGeom prst="rect">
            <a:avLst/>
          </a:prstGeom>
          <a:noFill/>
        </p:spPr>
        <p:txBody>
          <a:bodyPr wrap="square" rtlCol="0">
            <a:spAutoFit/>
          </a:bodyPr>
          <a:lstStyle/>
          <a:p>
            <a:r>
              <a:rPr lang="en-US" sz="1200" dirty="0">
                <a:solidFill>
                  <a:schemeClr val="bg1">
                    <a:lumMod val="50000"/>
                  </a:schemeClr>
                </a:solidFill>
              </a:rPr>
              <a:t>ASSET TOKENIZATION</a:t>
            </a:r>
            <a:endParaRPr lang="en-IN" sz="1200" dirty="0">
              <a:solidFill>
                <a:schemeClr val="bg1">
                  <a:lumMod val="50000"/>
                </a:schemeClr>
              </a:solidFill>
            </a:endParaRPr>
          </a:p>
        </p:txBody>
      </p:sp>
      <p:grpSp>
        <p:nvGrpSpPr>
          <p:cNvPr id="8" name="object 3">
            <a:extLst>
              <a:ext uri="{FF2B5EF4-FFF2-40B4-BE49-F238E27FC236}">
                <a16:creationId xmlns:a16="http://schemas.microsoft.com/office/drawing/2014/main" id="{85EEF9BE-A7AC-7768-A669-238BC749948F}"/>
              </a:ext>
            </a:extLst>
          </p:cNvPr>
          <p:cNvGrpSpPr/>
          <p:nvPr/>
        </p:nvGrpSpPr>
        <p:grpSpPr>
          <a:xfrm>
            <a:off x="16854" y="0"/>
            <a:ext cx="14613800" cy="720000"/>
            <a:chOff x="16854" y="0"/>
            <a:chExt cx="14613800" cy="720000"/>
          </a:xfrm>
        </p:grpSpPr>
        <p:sp>
          <p:nvSpPr>
            <p:cNvPr id="14" name="object 4">
              <a:extLst>
                <a:ext uri="{FF2B5EF4-FFF2-40B4-BE49-F238E27FC236}">
                  <a16:creationId xmlns:a16="http://schemas.microsoft.com/office/drawing/2014/main" id="{F1AED2A6-8B56-62EC-3CCB-4DE40EE24214}"/>
                </a:ext>
              </a:extLst>
            </p:cNvPr>
            <p:cNvSpPr/>
            <p:nvPr/>
          </p:nvSpPr>
          <p:spPr>
            <a:xfrm>
              <a:off x="1541399" y="38"/>
              <a:ext cx="13089255" cy="696811"/>
            </a:xfrm>
            <a:custGeom>
              <a:avLst/>
              <a:gdLst/>
              <a:ahLst/>
              <a:cxnLst/>
              <a:rect l="l" t="t" r="r" b="b"/>
              <a:pathLst>
                <a:path w="13089255" h="541655">
                  <a:moveTo>
                    <a:pt x="13089001" y="0"/>
                  </a:moveTo>
                  <a:lnTo>
                    <a:pt x="0" y="0"/>
                  </a:lnTo>
                  <a:lnTo>
                    <a:pt x="0" y="541489"/>
                  </a:lnTo>
                  <a:lnTo>
                    <a:pt x="13089001" y="541489"/>
                  </a:lnTo>
                  <a:lnTo>
                    <a:pt x="13089001" y="0"/>
                  </a:lnTo>
                  <a:close/>
                </a:path>
              </a:pathLst>
            </a:custGeom>
            <a:solidFill>
              <a:srgbClr val="155F82"/>
            </a:solidFill>
          </p:spPr>
          <p:txBody>
            <a:bodyPr wrap="square" lIns="0" tIns="0" rIns="0" bIns="0" rtlCol="0"/>
            <a:lstStyle/>
            <a:p>
              <a:endParaRPr/>
            </a:p>
          </p:txBody>
        </p:sp>
        <p:pic>
          <p:nvPicPr>
            <p:cNvPr id="15" name="object 5">
              <a:extLst>
                <a:ext uri="{FF2B5EF4-FFF2-40B4-BE49-F238E27FC236}">
                  <a16:creationId xmlns:a16="http://schemas.microsoft.com/office/drawing/2014/main" id="{0DB04F73-CCFD-5862-82C3-EF2E11F94777}"/>
                </a:ext>
              </a:extLst>
            </p:cNvPr>
            <p:cNvPicPr/>
            <p:nvPr/>
          </p:nvPicPr>
          <p:blipFill>
            <a:blip r:embed="rId2" cstate="print"/>
            <a:stretch>
              <a:fillRect/>
            </a:stretch>
          </p:blipFill>
          <p:spPr>
            <a:xfrm>
              <a:off x="13856311" y="0"/>
              <a:ext cx="720000" cy="720000"/>
            </a:xfrm>
            <a:prstGeom prst="rect">
              <a:avLst/>
            </a:prstGeom>
          </p:spPr>
        </p:pic>
        <p:pic>
          <p:nvPicPr>
            <p:cNvPr id="16" name="object 6">
              <a:extLst>
                <a:ext uri="{FF2B5EF4-FFF2-40B4-BE49-F238E27FC236}">
                  <a16:creationId xmlns:a16="http://schemas.microsoft.com/office/drawing/2014/main" id="{BFC05D02-4FD1-64B2-B607-C4A0C959B938}"/>
                </a:ext>
              </a:extLst>
            </p:cNvPr>
            <p:cNvPicPr/>
            <p:nvPr/>
          </p:nvPicPr>
          <p:blipFill>
            <a:blip r:embed="rId3" cstate="print"/>
            <a:stretch>
              <a:fillRect/>
            </a:stretch>
          </p:blipFill>
          <p:spPr>
            <a:xfrm>
              <a:off x="16854" y="11176"/>
              <a:ext cx="1524254" cy="685673"/>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BB55F1D-66CF-7522-93D3-6269C265CE70}"/>
            </a:ext>
          </a:extLst>
        </p:cNvPr>
        <p:cNvGrpSpPr/>
        <p:nvPr/>
      </p:nvGrpSpPr>
      <p:grpSpPr>
        <a:xfrm>
          <a:off x="0" y="0"/>
          <a:ext cx="0" cy="0"/>
          <a:chOff x="0" y="0"/>
          <a:chExt cx="0" cy="0"/>
        </a:xfrm>
      </p:grpSpPr>
      <p:sp>
        <p:nvSpPr>
          <p:cNvPr id="8" name="object 8">
            <a:extLst>
              <a:ext uri="{FF2B5EF4-FFF2-40B4-BE49-F238E27FC236}">
                <a16:creationId xmlns:a16="http://schemas.microsoft.com/office/drawing/2014/main" id="{D6D47C5C-BDBE-32D5-9EBF-00575AD0591A}"/>
              </a:ext>
            </a:extLst>
          </p:cNvPr>
          <p:cNvSpPr txBox="1">
            <a:spLocks noGrp="1"/>
          </p:cNvSpPr>
          <p:nvPr>
            <p:ph type="title"/>
          </p:nvPr>
        </p:nvSpPr>
        <p:spPr>
          <a:xfrm>
            <a:off x="4893256" y="852279"/>
            <a:ext cx="4804769" cy="474489"/>
          </a:xfrm>
          <a:prstGeom prst="rect">
            <a:avLst/>
          </a:prstGeom>
        </p:spPr>
        <p:txBody>
          <a:bodyPr vert="horz" wrap="square" lIns="0" tIns="12700" rIns="0" bIns="0" rtlCol="0" anchor="t">
            <a:spAutoFit/>
          </a:bodyPr>
          <a:lstStyle/>
          <a:p>
            <a:pPr marL="12700">
              <a:lnSpc>
                <a:spcPct val="100000"/>
              </a:lnSpc>
              <a:spcBef>
                <a:spcPts val="100"/>
              </a:spcBef>
            </a:pPr>
            <a:r>
              <a:rPr dirty="0"/>
              <a:t>PROBLEM</a:t>
            </a:r>
            <a:r>
              <a:rPr spc="-155" dirty="0"/>
              <a:t> </a:t>
            </a:r>
            <a:r>
              <a:rPr lang="en-US" spc="-10" dirty="0"/>
              <a:t>STATEMENTS</a:t>
            </a:r>
            <a:endParaRPr spc="-10" dirty="0"/>
          </a:p>
        </p:txBody>
      </p:sp>
      <p:sp>
        <p:nvSpPr>
          <p:cNvPr id="9" name="object 9">
            <a:extLst>
              <a:ext uri="{FF2B5EF4-FFF2-40B4-BE49-F238E27FC236}">
                <a16:creationId xmlns:a16="http://schemas.microsoft.com/office/drawing/2014/main" id="{81A8A72F-8446-5C24-2F3B-90C7968B7596}"/>
              </a:ext>
            </a:extLst>
          </p:cNvPr>
          <p:cNvSpPr txBox="1"/>
          <p:nvPr/>
        </p:nvSpPr>
        <p:spPr>
          <a:xfrm>
            <a:off x="1066800" y="1482198"/>
            <a:ext cx="12204700" cy="6024726"/>
          </a:xfrm>
          <a:prstGeom prst="rect">
            <a:avLst/>
          </a:prstGeom>
        </p:spPr>
        <p:txBody>
          <a:bodyPr vert="horz" wrap="square" lIns="0" tIns="12700" rIns="0" bIns="0" rtlCol="0" anchor="t">
            <a:spAutoFit/>
          </a:bodyPr>
          <a:lstStyle/>
          <a:p>
            <a:pPr marL="514350" indent="-514350" algn="l">
              <a:buFont typeface="Wingdings" panose="05000000000000000000" pitchFamily="2" charset="2"/>
              <a:buChar char="v"/>
              <a:tabLst>
                <a:tab pos="299085" algn="l"/>
              </a:tabLst>
            </a:pPr>
            <a:r>
              <a:rPr lang="en" sz="2400" spc="-10" dirty="0">
                <a:solidFill>
                  <a:schemeClr val="accent1"/>
                </a:solidFill>
                <a:latin typeface="Arial" panose="020B0604020202020204" pitchFamily="34" charset="0"/>
                <a:cs typeface="Arial" panose="020B0604020202020204" pitchFamily="34" charset="0"/>
              </a:rPr>
              <a:t>Traditional asset markets such as real estate and commodities require high capital investment, which restricts participation for small and medium investors.</a:t>
            </a:r>
          </a:p>
          <a:p>
            <a:pPr marL="514350" indent="-514350" algn="l">
              <a:buFont typeface="Wingdings" panose="05000000000000000000" pitchFamily="2" charset="2"/>
              <a:buChar char="v"/>
              <a:tabLst>
                <a:tab pos="299085" algn="l"/>
              </a:tabLst>
            </a:pPr>
            <a:endParaRPr lang="en-US" sz="2400" spc="-10" dirty="0">
              <a:solidFill>
                <a:schemeClr val="accent1"/>
              </a:solidFill>
              <a:latin typeface="Arial" panose="020B0604020202020204" pitchFamily="34" charset="0"/>
              <a:cs typeface="Arial" panose="020B0604020202020204" pitchFamily="34" charset="0"/>
            </a:endParaRPr>
          </a:p>
          <a:p>
            <a:pPr marL="514350" indent="-514350" algn="l">
              <a:spcBef>
                <a:spcPts val="100"/>
              </a:spcBef>
              <a:buFont typeface="Wingdings" panose="05000000000000000000" pitchFamily="2" charset="2"/>
              <a:buChar char="v"/>
              <a:tabLst>
                <a:tab pos="299085" algn="l"/>
              </a:tabLst>
            </a:pPr>
            <a:r>
              <a:rPr lang="en" sz="2400" spc="-10" dirty="0">
                <a:solidFill>
                  <a:schemeClr val="accent1"/>
                </a:solidFill>
                <a:latin typeface="Arial" panose="020B0604020202020204" pitchFamily="34" charset="0"/>
                <a:cs typeface="Arial" panose="020B0604020202020204" pitchFamily="34" charset="0"/>
              </a:rPr>
              <a:t>Existing systems for asset ownership involve complex legal and administrative processes, making investment slow, costly, and inaccessible to a wider audience.</a:t>
            </a:r>
          </a:p>
          <a:p>
            <a:pPr marL="514350" indent="-514350" algn="l">
              <a:spcBef>
                <a:spcPts val="100"/>
              </a:spcBef>
              <a:buFont typeface="Wingdings" panose="05000000000000000000" pitchFamily="2" charset="2"/>
              <a:buChar char="v"/>
              <a:tabLst>
                <a:tab pos="299085" algn="l"/>
              </a:tabLst>
            </a:pPr>
            <a:endParaRPr lang="en-US" sz="2400" dirty="0">
              <a:solidFill>
                <a:schemeClr val="accent1"/>
              </a:solidFill>
              <a:latin typeface="Arial" panose="020B0604020202020204" pitchFamily="34" charset="0"/>
              <a:cs typeface="Arial" panose="020B0604020202020204" pitchFamily="34" charset="0"/>
            </a:endParaRPr>
          </a:p>
          <a:p>
            <a:pPr marL="514350" indent="-514350" algn="l">
              <a:spcBef>
                <a:spcPts val="100"/>
              </a:spcBef>
              <a:buFont typeface="Wingdings" panose="05000000000000000000" pitchFamily="2" charset="2"/>
              <a:buChar char="v"/>
              <a:tabLst>
                <a:tab pos="299085" algn="l"/>
              </a:tabLst>
            </a:pPr>
            <a:r>
              <a:rPr lang="en" sz="2400" spc="-10" dirty="0">
                <a:solidFill>
                  <a:schemeClr val="accent1"/>
                </a:solidFill>
                <a:latin typeface="Arial" panose="020B0604020202020204" pitchFamily="34" charset="0"/>
                <a:cs typeface="Arial" panose="020B0604020202020204" pitchFamily="34" charset="0"/>
              </a:rPr>
              <a:t>Many high-value assets are inherently illiquid, making it difficult for owners and investors to quickly buy, sell, or trade partial ownership.</a:t>
            </a:r>
          </a:p>
          <a:p>
            <a:pPr marL="514350" indent="-514350" algn="l">
              <a:spcBef>
                <a:spcPts val="100"/>
              </a:spcBef>
              <a:buFont typeface="Wingdings" panose="05000000000000000000" pitchFamily="2" charset="2"/>
              <a:buChar char="v"/>
              <a:tabLst>
                <a:tab pos="299085" algn="l"/>
              </a:tabLst>
            </a:pPr>
            <a:endParaRPr lang="en-US" sz="2400" dirty="0">
              <a:solidFill>
                <a:schemeClr val="accent1"/>
              </a:solidFill>
              <a:latin typeface="Arial" panose="020B0604020202020204" pitchFamily="34" charset="0"/>
              <a:cs typeface="Arial" panose="020B0604020202020204" pitchFamily="34" charset="0"/>
            </a:endParaRPr>
          </a:p>
          <a:p>
            <a:pPr marL="514350" indent="-514350" algn="l">
              <a:spcBef>
                <a:spcPts val="100"/>
              </a:spcBef>
              <a:buFont typeface="Wingdings" panose="05000000000000000000" pitchFamily="2" charset="2"/>
              <a:buChar char="v"/>
              <a:tabLst>
                <a:tab pos="299085" algn="l"/>
              </a:tabLst>
            </a:pPr>
            <a:r>
              <a:rPr lang="en" sz="2400" spc="-10" dirty="0">
                <a:solidFill>
                  <a:schemeClr val="accent1"/>
                </a:solidFill>
                <a:latin typeface="Arial" panose="020B0604020202020204" pitchFamily="34" charset="0"/>
                <a:cs typeface="Arial" panose="020B0604020202020204" pitchFamily="34" charset="0"/>
              </a:rPr>
              <a:t>Current asset management relies heavily on centralized intermediaries, leading to issues of trust, lack of transparency, and increased dependency on third parties.</a:t>
            </a:r>
          </a:p>
          <a:p>
            <a:pPr marL="514350" indent="-514350" algn="l">
              <a:spcBef>
                <a:spcPts val="100"/>
              </a:spcBef>
              <a:buFont typeface="Wingdings" panose="05000000000000000000" pitchFamily="2" charset="2"/>
              <a:buChar char="v"/>
              <a:tabLst>
                <a:tab pos="299085" algn="l"/>
              </a:tabLst>
            </a:pPr>
            <a:endParaRPr lang="en-US" sz="2400" dirty="0">
              <a:solidFill>
                <a:schemeClr val="accent1"/>
              </a:solidFill>
              <a:latin typeface="Arial" panose="020B0604020202020204" pitchFamily="34" charset="0"/>
              <a:cs typeface="Arial" panose="020B0604020202020204" pitchFamily="34" charset="0"/>
            </a:endParaRPr>
          </a:p>
          <a:p>
            <a:pPr marL="514350" indent="-514350" algn="l">
              <a:spcBef>
                <a:spcPts val="100"/>
              </a:spcBef>
              <a:buFont typeface="Wingdings" panose="05000000000000000000" pitchFamily="2" charset="2"/>
              <a:buChar char="v"/>
              <a:tabLst>
                <a:tab pos="299085" algn="l"/>
              </a:tabLst>
            </a:pPr>
            <a:r>
              <a:rPr lang="en" sz="2400" spc="-10" dirty="0">
                <a:solidFill>
                  <a:schemeClr val="accent1"/>
                </a:solidFill>
                <a:latin typeface="Arial" panose="020B0604020202020204" pitchFamily="34" charset="0"/>
                <a:cs typeface="Arial" panose="020B0604020202020204" pitchFamily="34" charset="0"/>
              </a:rPr>
              <a:t>Conventional record-keeping mechanisms for asset ownership are vulnerable to manipulation, lack immutability, and do not provide a tamper-proof audit trail.</a:t>
            </a:r>
            <a:endParaRPr lang="en-US" sz="2400" dirty="0">
              <a:solidFill>
                <a:schemeClr val="accent1"/>
              </a:solidFill>
              <a:latin typeface="Arial" panose="020B0604020202020204" pitchFamily="34" charset="0"/>
              <a:cs typeface="Arial" panose="020B0604020202020204" pitchFamily="34" charset="0"/>
            </a:endParaRPr>
          </a:p>
          <a:p>
            <a:pPr marL="12065" marR="200025">
              <a:spcBef>
                <a:spcPts val="100"/>
              </a:spcBef>
              <a:tabLst>
                <a:tab pos="299085" algn="l"/>
              </a:tabLst>
            </a:pPr>
            <a:br>
              <a:rPr lang="en-US" sz="2400" dirty="0">
                <a:latin typeface="Arial" panose="020B0604020202020204" pitchFamily="34" charset="0"/>
                <a:cs typeface="Arial" panose="020B0604020202020204" pitchFamily="34" charset="0"/>
              </a:rPr>
            </a:br>
            <a:endParaRPr lang="en-US" sz="2400" dirty="0">
              <a:solidFill>
                <a:schemeClr val="accent1"/>
              </a:solidFill>
              <a:latin typeface="Arial" panose="020B0604020202020204" pitchFamily="34" charset="0"/>
              <a:cs typeface="Arial" panose="020B0604020202020204" pitchFamily="34" charset="0"/>
            </a:endParaRPr>
          </a:p>
        </p:txBody>
      </p:sp>
      <p:sp>
        <p:nvSpPr>
          <p:cNvPr id="13" name="object 13">
            <a:extLst>
              <a:ext uri="{FF2B5EF4-FFF2-40B4-BE49-F238E27FC236}">
                <a16:creationId xmlns:a16="http://schemas.microsoft.com/office/drawing/2014/main" id="{A868B24B-9D50-22A5-B0EA-5FD1764655FF}"/>
              </a:ext>
            </a:extLst>
          </p:cNvPr>
          <p:cNvSpPr txBox="1"/>
          <p:nvPr/>
        </p:nvSpPr>
        <p:spPr>
          <a:xfrm>
            <a:off x="4312411" y="115315"/>
            <a:ext cx="5966460" cy="330835"/>
          </a:xfrm>
          <a:prstGeom prst="rect">
            <a:avLst/>
          </a:prstGeom>
        </p:spPr>
        <p:txBody>
          <a:bodyPr vert="horz" wrap="square" lIns="0" tIns="12700" rIns="0" bIns="0" rtlCol="0">
            <a:spAutoFit/>
          </a:bodyPr>
          <a:lstStyle/>
          <a:p>
            <a:pPr marL="12700">
              <a:lnSpc>
                <a:spcPct val="100000"/>
              </a:lnSpc>
              <a:spcBef>
                <a:spcPts val="100"/>
              </a:spcBef>
            </a:pPr>
            <a:r>
              <a:rPr sz="2000" spc="-30" dirty="0">
                <a:solidFill>
                  <a:srgbClr val="FFFFFF"/>
                </a:solidFill>
                <a:latin typeface="Calibri"/>
                <a:cs typeface="Calibri"/>
              </a:rPr>
              <a:t>DEPARTMENT</a:t>
            </a:r>
            <a:r>
              <a:rPr sz="2000" spc="-85" dirty="0">
                <a:solidFill>
                  <a:srgbClr val="FFFFFF"/>
                </a:solidFill>
                <a:latin typeface="Calibri"/>
                <a:cs typeface="Calibri"/>
              </a:rPr>
              <a:t> </a:t>
            </a:r>
            <a:r>
              <a:rPr sz="2000" dirty="0">
                <a:solidFill>
                  <a:srgbClr val="FFFFFF"/>
                </a:solidFill>
                <a:latin typeface="Calibri"/>
                <a:cs typeface="Calibri"/>
              </a:rPr>
              <a:t>OF</a:t>
            </a:r>
            <a:r>
              <a:rPr sz="2000" spc="-40" dirty="0">
                <a:solidFill>
                  <a:srgbClr val="FFFFFF"/>
                </a:solidFill>
                <a:latin typeface="Calibri"/>
                <a:cs typeface="Calibri"/>
              </a:rPr>
              <a:t> </a:t>
            </a:r>
            <a:r>
              <a:rPr sz="2000" dirty="0">
                <a:solidFill>
                  <a:srgbClr val="FFFFFF"/>
                </a:solidFill>
                <a:latin typeface="Calibri"/>
                <a:cs typeface="Calibri"/>
              </a:rPr>
              <a:t>COMPUTER</a:t>
            </a:r>
            <a:r>
              <a:rPr sz="2000" spc="-60" dirty="0">
                <a:solidFill>
                  <a:srgbClr val="FFFFFF"/>
                </a:solidFill>
                <a:latin typeface="Calibri"/>
                <a:cs typeface="Calibri"/>
              </a:rPr>
              <a:t> </a:t>
            </a:r>
            <a:r>
              <a:rPr sz="2000" dirty="0">
                <a:solidFill>
                  <a:srgbClr val="FFFFFF"/>
                </a:solidFill>
                <a:latin typeface="Calibri"/>
                <a:cs typeface="Calibri"/>
              </a:rPr>
              <a:t>SCIENCE</a:t>
            </a:r>
            <a:r>
              <a:rPr sz="2000" spc="-80" dirty="0">
                <a:solidFill>
                  <a:srgbClr val="FFFFFF"/>
                </a:solidFill>
                <a:latin typeface="Calibri"/>
                <a:cs typeface="Calibri"/>
              </a:rPr>
              <a:t> </a:t>
            </a:r>
            <a:r>
              <a:rPr sz="2000" dirty="0">
                <a:solidFill>
                  <a:srgbClr val="FFFFFF"/>
                </a:solidFill>
                <a:latin typeface="Calibri"/>
                <a:cs typeface="Calibri"/>
              </a:rPr>
              <a:t>AND</a:t>
            </a:r>
            <a:r>
              <a:rPr sz="2000" spc="-55" dirty="0">
                <a:solidFill>
                  <a:srgbClr val="FFFFFF"/>
                </a:solidFill>
                <a:latin typeface="Calibri"/>
                <a:cs typeface="Calibri"/>
              </a:rPr>
              <a:t> </a:t>
            </a:r>
            <a:r>
              <a:rPr sz="2000" spc="-10" dirty="0">
                <a:solidFill>
                  <a:srgbClr val="FFFFFF"/>
                </a:solidFill>
                <a:latin typeface="Calibri"/>
                <a:cs typeface="Calibri"/>
              </a:rPr>
              <a:t>ENGINEERING</a:t>
            </a:r>
            <a:endParaRPr sz="2000">
              <a:latin typeface="Calibri"/>
              <a:cs typeface="Calibri"/>
            </a:endParaRPr>
          </a:p>
        </p:txBody>
      </p:sp>
      <p:sp>
        <p:nvSpPr>
          <p:cNvPr id="16" name="object 16">
            <a:extLst>
              <a:ext uri="{FF2B5EF4-FFF2-40B4-BE49-F238E27FC236}">
                <a16:creationId xmlns:a16="http://schemas.microsoft.com/office/drawing/2014/main" id="{35FF6968-8F25-7F25-7961-2AF5BF7627D2}"/>
              </a:ext>
            </a:extLst>
          </p:cNvPr>
          <p:cNvSpPr txBox="1">
            <a:spLocks noGrp="1"/>
          </p:cNvSpPr>
          <p:nvPr>
            <p:ph type="sldNum" sz="quarter" idx="7"/>
          </p:nvPr>
        </p:nvSpPr>
        <p:spPr>
          <a:prstGeom prst="rect">
            <a:avLst/>
          </a:prstGeom>
        </p:spPr>
        <p:txBody>
          <a:bodyPr vert="horz" wrap="square" lIns="0" tIns="0" rIns="0" bIns="0" rtlCol="0">
            <a:spAutoFit/>
          </a:bodyPr>
          <a:lstStyle/>
          <a:p>
            <a:pPr marL="164465">
              <a:lnSpc>
                <a:spcPts val="2090"/>
              </a:lnSpc>
            </a:pPr>
            <a:fld id="{81D60167-4931-47E6-BA6A-407CBD079E47}" type="slidenum">
              <a:rPr spc="-50" dirty="0"/>
              <a:t>7</a:t>
            </a:fld>
            <a:endParaRPr spc="-50" dirty="0"/>
          </a:p>
        </p:txBody>
      </p:sp>
      <p:sp>
        <p:nvSpPr>
          <p:cNvPr id="10" name="TextBox 9">
            <a:extLst>
              <a:ext uri="{FF2B5EF4-FFF2-40B4-BE49-F238E27FC236}">
                <a16:creationId xmlns:a16="http://schemas.microsoft.com/office/drawing/2014/main" id="{F96AE106-40CE-3078-AA31-245AA9A1D85A}"/>
              </a:ext>
            </a:extLst>
          </p:cNvPr>
          <p:cNvSpPr txBox="1"/>
          <p:nvPr/>
        </p:nvSpPr>
        <p:spPr>
          <a:xfrm>
            <a:off x="657226" y="7745532"/>
            <a:ext cx="2743200" cy="276999"/>
          </a:xfrm>
          <a:prstGeom prst="rect">
            <a:avLst/>
          </a:prstGeom>
          <a:noFill/>
        </p:spPr>
        <p:txBody>
          <a:bodyPr wrap="square" rtlCol="0">
            <a:spAutoFit/>
          </a:bodyPr>
          <a:lstStyle/>
          <a:p>
            <a:r>
              <a:rPr lang="en-US" sz="1200" dirty="0">
                <a:solidFill>
                  <a:schemeClr val="bg1">
                    <a:lumMod val="50000"/>
                  </a:schemeClr>
                </a:solidFill>
              </a:rPr>
              <a:t>ASSET TOKENIZATION</a:t>
            </a:r>
            <a:endParaRPr lang="en-IN" sz="1200" dirty="0">
              <a:solidFill>
                <a:schemeClr val="bg1">
                  <a:lumMod val="50000"/>
                </a:schemeClr>
              </a:solidFill>
            </a:endParaRPr>
          </a:p>
        </p:txBody>
      </p:sp>
      <p:grpSp>
        <p:nvGrpSpPr>
          <p:cNvPr id="11" name="object 3">
            <a:extLst>
              <a:ext uri="{FF2B5EF4-FFF2-40B4-BE49-F238E27FC236}">
                <a16:creationId xmlns:a16="http://schemas.microsoft.com/office/drawing/2014/main" id="{6306E3FD-A487-B7B5-942D-3545EA42A867}"/>
              </a:ext>
            </a:extLst>
          </p:cNvPr>
          <p:cNvGrpSpPr/>
          <p:nvPr/>
        </p:nvGrpSpPr>
        <p:grpSpPr>
          <a:xfrm>
            <a:off x="16854" y="0"/>
            <a:ext cx="14613800" cy="720000"/>
            <a:chOff x="16854" y="0"/>
            <a:chExt cx="14613800" cy="720000"/>
          </a:xfrm>
        </p:grpSpPr>
        <p:sp>
          <p:nvSpPr>
            <p:cNvPr id="12" name="object 4">
              <a:extLst>
                <a:ext uri="{FF2B5EF4-FFF2-40B4-BE49-F238E27FC236}">
                  <a16:creationId xmlns:a16="http://schemas.microsoft.com/office/drawing/2014/main" id="{F009145C-5E2A-3964-CCC1-C6053FA4CF9B}"/>
                </a:ext>
              </a:extLst>
            </p:cNvPr>
            <p:cNvSpPr/>
            <p:nvPr/>
          </p:nvSpPr>
          <p:spPr>
            <a:xfrm>
              <a:off x="1541399" y="38"/>
              <a:ext cx="13089255" cy="696811"/>
            </a:xfrm>
            <a:custGeom>
              <a:avLst/>
              <a:gdLst/>
              <a:ahLst/>
              <a:cxnLst/>
              <a:rect l="l" t="t" r="r" b="b"/>
              <a:pathLst>
                <a:path w="13089255" h="541655">
                  <a:moveTo>
                    <a:pt x="13089001" y="0"/>
                  </a:moveTo>
                  <a:lnTo>
                    <a:pt x="0" y="0"/>
                  </a:lnTo>
                  <a:lnTo>
                    <a:pt x="0" y="541489"/>
                  </a:lnTo>
                  <a:lnTo>
                    <a:pt x="13089001" y="541489"/>
                  </a:lnTo>
                  <a:lnTo>
                    <a:pt x="13089001" y="0"/>
                  </a:lnTo>
                  <a:close/>
                </a:path>
              </a:pathLst>
            </a:custGeom>
            <a:solidFill>
              <a:srgbClr val="155F82"/>
            </a:solidFill>
          </p:spPr>
          <p:txBody>
            <a:bodyPr wrap="square" lIns="0" tIns="0" rIns="0" bIns="0" rtlCol="0"/>
            <a:lstStyle/>
            <a:p>
              <a:endParaRPr/>
            </a:p>
          </p:txBody>
        </p:sp>
        <p:pic>
          <p:nvPicPr>
            <p:cNvPr id="14" name="object 5">
              <a:extLst>
                <a:ext uri="{FF2B5EF4-FFF2-40B4-BE49-F238E27FC236}">
                  <a16:creationId xmlns:a16="http://schemas.microsoft.com/office/drawing/2014/main" id="{8F19CC7B-B421-5631-FE45-6DB4394ECF1D}"/>
                </a:ext>
              </a:extLst>
            </p:cNvPr>
            <p:cNvPicPr/>
            <p:nvPr/>
          </p:nvPicPr>
          <p:blipFill>
            <a:blip r:embed="rId2" cstate="print"/>
            <a:stretch>
              <a:fillRect/>
            </a:stretch>
          </p:blipFill>
          <p:spPr>
            <a:xfrm>
              <a:off x="13856311" y="0"/>
              <a:ext cx="720000" cy="720000"/>
            </a:xfrm>
            <a:prstGeom prst="rect">
              <a:avLst/>
            </a:prstGeom>
          </p:spPr>
        </p:pic>
        <p:pic>
          <p:nvPicPr>
            <p:cNvPr id="15" name="object 6">
              <a:extLst>
                <a:ext uri="{FF2B5EF4-FFF2-40B4-BE49-F238E27FC236}">
                  <a16:creationId xmlns:a16="http://schemas.microsoft.com/office/drawing/2014/main" id="{E6BD0359-5F0C-53C4-2C50-01F7B1BFCDAB}"/>
                </a:ext>
              </a:extLst>
            </p:cNvPr>
            <p:cNvPicPr/>
            <p:nvPr/>
          </p:nvPicPr>
          <p:blipFill>
            <a:blip r:embed="rId3" cstate="print"/>
            <a:stretch>
              <a:fillRect/>
            </a:stretch>
          </p:blipFill>
          <p:spPr>
            <a:xfrm>
              <a:off x="16854" y="11176"/>
              <a:ext cx="1524254" cy="685673"/>
            </a:xfrm>
            <a:prstGeom prst="rect">
              <a:avLst/>
            </a:prstGeom>
          </p:spPr>
        </p:pic>
      </p:grpSp>
    </p:spTree>
    <p:extLst>
      <p:ext uri="{BB962C8B-B14F-4D97-AF65-F5344CB8AC3E}">
        <p14:creationId xmlns:p14="http://schemas.microsoft.com/office/powerpoint/2010/main" val="2043830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775A34B-E2B1-C280-FF0D-32D32040779F}"/>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FF4DF4BD-8912-ECE6-43D8-799A663D5D96}"/>
              </a:ext>
            </a:extLst>
          </p:cNvPr>
          <p:cNvSpPr txBox="1"/>
          <p:nvPr/>
        </p:nvSpPr>
        <p:spPr>
          <a:xfrm>
            <a:off x="1107439" y="1690878"/>
            <a:ext cx="12204700" cy="4075475"/>
          </a:xfrm>
          <a:prstGeom prst="rect">
            <a:avLst/>
          </a:prstGeom>
        </p:spPr>
        <p:txBody>
          <a:bodyPr vert="horz" wrap="square" lIns="0" tIns="12700" rIns="0" bIns="0" rtlCol="0" anchor="t">
            <a:spAutoFit/>
          </a:bodyPr>
          <a:lstStyle/>
          <a:p>
            <a:pPr marL="342900" indent="-342900" algn="l">
              <a:buFont typeface="Wingdings" panose="05000000000000000000" pitchFamily="2" charset="2"/>
              <a:buChar char="v"/>
              <a:tabLst>
                <a:tab pos="299085" algn="l"/>
              </a:tabLst>
            </a:pPr>
            <a:r>
              <a:rPr lang="en" sz="2400" spc="-10" dirty="0">
                <a:solidFill>
                  <a:schemeClr val="accent1"/>
                </a:solidFill>
                <a:latin typeface="Arial" panose="020B0604020202020204" pitchFamily="34" charset="0"/>
                <a:ea typeface="Calibri"/>
                <a:cs typeface="Arial" panose="020B0604020202020204" pitchFamily="34" charset="0"/>
              </a:rPr>
              <a:t>There is no widely adopted, user-friendly platform that leverages blockchain and smart contracts to enable secure fractional ownership and transparent management of real-world assets.</a:t>
            </a:r>
            <a:endParaRPr lang="en-US" sz="2400" dirty="0">
              <a:latin typeface="Arial" panose="020B0604020202020204" pitchFamily="34" charset="0"/>
              <a:cs typeface="Arial" panose="020B0604020202020204" pitchFamily="34" charset="0"/>
            </a:endParaRPr>
          </a:p>
          <a:p>
            <a:pPr marL="342900" indent="-342900" algn="l">
              <a:buFont typeface="Wingdings" panose="05000000000000000000" pitchFamily="2" charset="2"/>
              <a:buChar char="v"/>
              <a:tabLst>
                <a:tab pos="299085" algn="l"/>
              </a:tabLst>
            </a:pPr>
            <a:endParaRPr lang="en" sz="2400" spc="-10" dirty="0">
              <a:solidFill>
                <a:schemeClr val="accent1"/>
              </a:solidFill>
              <a:latin typeface="Arial" panose="020B0604020202020204" pitchFamily="34" charset="0"/>
              <a:ea typeface="Calibri"/>
              <a:cs typeface="Arial" panose="020B0604020202020204" pitchFamily="34" charset="0"/>
            </a:endParaRPr>
          </a:p>
          <a:p>
            <a:pPr marL="342900" indent="-342900" algn="l">
              <a:buFont typeface="Wingdings" panose="05000000000000000000" pitchFamily="2" charset="2"/>
              <a:buChar char="v"/>
              <a:tabLst>
                <a:tab pos="299085" algn="l"/>
              </a:tabLst>
            </a:pPr>
            <a:r>
              <a:rPr lang="en" sz="2400" spc="-10" dirty="0">
                <a:solidFill>
                  <a:schemeClr val="accent1"/>
                </a:solidFill>
                <a:latin typeface="Arial" panose="020B0604020202020204" pitchFamily="34" charset="0"/>
                <a:cs typeface="Arial" panose="020B0604020202020204" pitchFamily="34" charset="0"/>
              </a:rPr>
              <a:t>Small investors lack access to robust technological infrastructure that can</a:t>
            </a:r>
            <a:endParaRPr lang="en" sz="2400" spc="-10" dirty="0">
              <a:solidFill>
                <a:schemeClr val="accent1"/>
              </a:solidFill>
              <a:latin typeface="Arial" panose="020B0604020202020204" pitchFamily="34" charset="0"/>
              <a:ea typeface="Calibri"/>
              <a:cs typeface="Arial" panose="020B0604020202020204" pitchFamily="34" charset="0"/>
            </a:endParaRPr>
          </a:p>
          <a:p>
            <a:pPr algn="l">
              <a:tabLst>
                <a:tab pos="299085" algn="l"/>
              </a:tabLst>
            </a:pPr>
            <a:r>
              <a:rPr lang="en" sz="2400" spc="-10" dirty="0">
                <a:solidFill>
                  <a:schemeClr val="accent1"/>
                </a:solidFill>
                <a:latin typeface="Arial" panose="020B0604020202020204" pitchFamily="34" charset="0"/>
                <a:cs typeface="Arial" panose="020B0604020202020204" pitchFamily="34" charset="0"/>
              </a:rPr>
              <a:t>	simplify participation in asset markets while ensuring security and trust.</a:t>
            </a:r>
            <a:endParaRPr lang="en" sz="2400" spc="-10" dirty="0">
              <a:solidFill>
                <a:schemeClr val="accent1"/>
              </a:solidFill>
              <a:latin typeface="Arial" panose="020B0604020202020204" pitchFamily="34" charset="0"/>
              <a:ea typeface="Calibri"/>
              <a:cs typeface="Arial" panose="020B0604020202020204" pitchFamily="34" charset="0"/>
            </a:endParaRPr>
          </a:p>
          <a:p>
            <a:pPr marL="342900" indent="-342900" algn="l">
              <a:buFont typeface="Wingdings" panose="05000000000000000000" pitchFamily="2" charset="2"/>
              <a:buChar char="v"/>
              <a:tabLst>
                <a:tab pos="299085" algn="l"/>
              </a:tabLst>
            </a:pPr>
            <a:endParaRPr lang="en" sz="2400" spc="-10" dirty="0">
              <a:solidFill>
                <a:schemeClr val="accent1"/>
              </a:solidFill>
              <a:latin typeface="Arial" panose="020B0604020202020204" pitchFamily="34" charset="0"/>
              <a:cs typeface="Arial" panose="020B0604020202020204" pitchFamily="34" charset="0"/>
            </a:endParaRPr>
          </a:p>
          <a:p>
            <a:pPr marL="342900" indent="-342900" algn="l">
              <a:buFont typeface="Wingdings" panose="05000000000000000000" pitchFamily="2" charset="2"/>
              <a:buChar char="v"/>
              <a:tabLst>
                <a:tab pos="299085" algn="l"/>
              </a:tabLst>
            </a:pPr>
            <a:r>
              <a:rPr lang="en" sz="2400" spc="-10" dirty="0">
                <a:solidFill>
                  <a:schemeClr val="accent1"/>
                </a:solidFill>
                <a:latin typeface="Arial" panose="020B0604020202020204" pitchFamily="34" charset="0"/>
                <a:cs typeface="Arial" panose="020B0604020202020204" pitchFamily="34" charset="0"/>
              </a:rPr>
              <a:t>There is limited practical experimentation and prototyping of blockchain-based</a:t>
            </a:r>
          </a:p>
          <a:p>
            <a:pPr algn="l">
              <a:tabLst>
                <a:tab pos="299085" algn="l"/>
              </a:tabLst>
            </a:pPr>
            <a:r>
              <a:rPr lang="en" sz="2400" spc="-10" dirty="0">
                <a:solidFill>
                  <a:schemeClr val="accent1"/>
                </a:solidFill>
                <a:latin typeface="Arial" panose="020B0604020202020204" pitchFamily="34" charset="0"/>
                <a:cs typeface="Arial" panose="020B0604020202020204" pitchFamily="34" charset="0"/>
              </a:rPr>
              <a:t>	asset tokenization platforms to evaluate their real-world feasibility, scalability, and</a:t>
            </a:r>
          </a:p>
          <a:p>
            <a:pPr algn="l">
              <a:tabLst>
                <a:tab pos="299085" algn="l"/>
              </a:tabLst>
            </a:pPr>
            <a:r>
              <a:rPr lang="en" sz="2400" spc="-10" dirty="0">
                <a:solidFill>
                  <a:schemeClr val="accent1"/>
                </a:solidFill>
                <a:latin typeface="Arial" panose="020B0604020202020204" pitchFamily="34" charset="0"/>
                <a:cs typeface="Arial" panose="020B0604020202020204" pitchFamily="34" charset="0"/>
              </a:rPr>
              <a:t>	performance.</a:t>
            </a:r>
            <a:endParaRPr lang="en" sz="2400" dirty="0">
              <a:solidFill>
                <a:schemeClr val="accent1"/>
              </a:solidFill>
              <a:latin typeface="Arial" panose="020B0604020202020204" pitchFamily="34" charset="0"/>
              <a:cs typeface="Arial" panose="020B0604020202020204" pitchFamily="34" charset="0"/>
            </a:endParaRPr>
          </a:p>
          <a:p>
            <a:pPr marL="342900" indent="-342900" algn="l">
              <a:buFont typeface="Wingdings" panose="05000000000000000000" pitchFamily="2" charset="2"/>
              <a:buChar char="v"/>
              <a:tabLst>
                <a:tab pos="299085" algn="l"/>
              </a:tabLst>
            </a:pPr>
            <a:endParaRPr lang="en" sz="2400" spc="-10" dirty="0">
              <a:solidFill>
                <a:schemeClr val="accent1"/>
              </a:solidFill>
              <a:latin typeface="Arial" panose="020B0604020202020204" pitchFamily="34" charset="0"/>
              <a:cs typeface="Arial" panose="020B0604020202020204" pitchFamily="34" charset="0"/>
            </a:endParaRPr>
          </a:p>
        </p:txBody>
      </p:sp>
      <p:sp>
        <p:nvSpPr>
          <p:cNvPr id="13" name="object 13">
            <a:extLst>
              <a:ext uri="{FF2B5EF4-FFF2-40B4-BE49-F238E27FC236}">
                <a16:creationId xmlns:a16="http://schemas.microsoft.com/office/drawing/2014/main" id="{91E791C0-9861-E95F-725C-1EE8CE91AB92}"/>
              </a:ext>
            </a:extLst>
          </p:cNvPr>
          <p:cNvSpPr txBox="1"/>
          <p:nvPr/>
        </p:nvSpPr>
        <p:spPr>
          <a:xfrm>
            <a:off x="4312411" y="115315"/>
            <a:ext cx="5966460" cy="330835"/>
          </a:xfrm>
          <a:prstGeom prst="rect">
            <a:avLst/>
          </a:prstGeom>
        </p:spPr>
        <p:txBody>
          <a:bodyPr vert="horz" wrap="square" lIns="0" tIns="12700" rIns="0" bIns="0" rtlCol="0">
            <a:spAutoFit/>
          </a:bodyPr>
          <a:lstStyle/>
          <a:p>
            <a:pPr marL="12700">
              <a:lnSpc>
                <a:spcPct val="100000"/>
              </a:lnSpc>
              <a:spcBef>
                <a:spcPts val="100"/>
              </a:spcBef>
            </a:pPr>
            <a:r>
              <a:rPr sz="2000" spc="-30" dirty="0">
                <a:solidFill>
                  <a:srgbClr val="FFFFFF"/>
                </a:solidFill>
                <a:latin typeface="Calibri"/>
                <a:cs typeface="Calibri"/>
              </a:rPr>
              <a:t>DEPARTMENT</a:t>
            </a:r>
            <a:r>
              <a:rPr sz="2000" spc="-85" dirty="0">
                <a:solidFill>
                  <a:srgbClr val="FFFFFF"/>
                </a:solidFill>
                <a:latin typeface="Calibri"/>
                <a:cs typeface="Calibri"/>
              </a:rPr>
              <a:t> </a:t>
            </a:r>
            <a:r>
              <a:rPr sz="2000" dirty="0">
                <a:solidFill>
                  <a:srgbClr val="FFFFFF"/>
                </a:solidFill>
                <a:latin typeface="Calibri"/>
                <a:cs typeface="Calibri"/>
              </a:rPr>
              <a:t>OF</a:t>
            </a:r>
            <a:r>
              <a:rPr sz="2000" spc="-40" dirty="0">
                <a:solidFill>
                  <a:srgbClr val="FFFFFF"/>
                </a:solidFill>
                <a:latin typeface="Calibri"/>
                <a:cs typeface="Calibri"/>
              </a:rPr>
              <a:t> </a:t>
            </a:r>
            <a:r>
              <a:rPr sz="2000" dirty="0">
                <a:solidFill>
                  <a:srgbClr val="FFFFFF"/>
                </a:solidFill>
                <a:latin typeface="Calibri"/>
                <a:cs typeface="Calibri"/>
              </a:rPr>
              <a:t>COMPUTER</a:t>
            </a:r>
            <a:r>
              <a:rPr sz="2000" spc="-60" dirty="0">
                <a:solidFill>
                  <a:srgbClr val="FFFFFF"/>
                </a:solidFill>
                <a:latin typeface="Calibri"/>
                <a:cs typeface="Calibri"/>
              </a:rPr>
              <a:t> </a:t>
            </a:r>
            <a:r>
              <a:rPr sz="2000" dirty="0">
                <a:solidFill>
                  <a:srgbClr val="FFFFFF"/>
                </a:solidFill>
                <a:latin typeface="Calibri"/>
                <a:cs typeface="Calibri"/>
              </a:rPr>
              <a:t>SCIENCE</a:t>
            </a:r>
            <a:r>
              <a:rPr sz="2000" spc="-80" dirty="0">
                <a:solidFill>
                  <a:srgbClr val="FFFFFF"/>
                </a:solidFill>
                <a:latin typeface="Calibri"/>
                <a:cs typeface="Calibri"/>
              </a:rPr>
              <a:t> </a:t>
            </a:r>
            <a:r>
              <a:rPr sz="2000" dirty="0">
                <a:solidFill>
                  <a:srgbClr val="FFFFFF"/>
                </a:solidFill>
                <a:latin typeface="Calibri"/>
                <a:cs typeface="Calibri"/>
              </a:rPr>
              <a:t>AND</a:t>
            </a:r>
            <a:r>
              <a:rPr sz="2000" spc="-55" dirty="0">
                <a:solidFill>
                  <a:srgbClr val="FFFFFF"/>
                </a:solidFill>
                <a:latin typeface="Calibri"/>
                <a:cs typeface="Calibri"/>
              </a:rPr>
              <a:t> </a:t>
            </a:r>
            <a:r>
              <a:rPr sz="2000" spc="-10" dirty="0">
                <a:solidFill>
                  <a:srgbClr val="FFFFFF"/>
                </a:solidFill>
                <a:latin typeface="Calibri"/>
                <a:cs typeface="Calibri"/>
              </a:rPr>
              <a:t>ENGINEERING</a:t>
            </a:r>
            <a:endParaRPr sz="2000" dirty="0">
              <a:latin typeface="Calibri"/>
              <a:cs typeface="Calibri"/>
            </a:endParaRPr>
          </a:p>
        </p:txBody>
      </p:sp>
      <p:sp>
        <p:nvSpPr>
          <p:cNvPr id="16" name="object 16">
            <a:extLst>
              <a:ext uri="{FF2B5EF4-FFF2-40B4-BE49-F238E27FC236}">
                <a16:creationId xmlns:a16="http://schemas.microsoft.com/office/drawing/2014/main" id="{58A6E0AD-DE47-22C0-AB47-09543CE552AD}"/>
              </a:ext>
            </a:extLst>
          </p:cNvPr>
          <p:cNvSpPr txBox="1">
            <a:spLocks noGrp="1"/>
          </p:cNvSpPr>
          <p:nvPr>
            <p:ph type="sldNum" sz="quarter" idx="7"/>
          </p:nvPr>
        </p:nvSpPr>
        <p:spPr>
          <a:prstGeom prst="rect">
            <a:avLst/>
          </a:prstGeom>
        </p:spPr>
        <p:txBody>
          <a:bodyPr vert="horz" wrap="square" lIns="0" tIns="0" rIns="0" bIns="0" rtlCol="0">
            <a:spAutoFit/>
          </a:bodyPr>
          <a:lstStyle/>
          <a:p>
            <a:pPr marL="164465">
              <a:lnSpc>
                <a:spcPts val="2090"/>
              </a:lnSpc>
            </a:pPr>
            <a:fld id="{81D60167-4931-47E6-BA6A-407CBD079E47}" type="slidenum">
              <a:rPr spc="-50" dirty="0"/>
              <a:t>8</a:t>
            </a:fld>
            <a:endParaRPr spc="-50" dirty="0"/>
          </a:p>
        </p:txBody>
      </p:sp>
      <p:sp>
        <p:nvSpPr>
          <p:cNvPr id="8" name="TextBox 7">
            <a:extLst>
              <a:ext uri="{FF2B5EF4-FFF2-40B4-BE49-F238E27FC236}">
                <a16:creationId xmlns:a16="http://schemas.microsoft.com/office/drawing/2014/main" id="{9D89B56B-3CDB-1037-8324-12F6CA58DD40}"/>
              </a:ext>
            </a:extLst>
          </p:cNvPr>
          <p:cNvSpPr txBox="1"/>
          <p:nvPr/>
        </p:nvSpPr>
        <p:spPr>
          <a:xfrm>
            <a:off x="657226" y="7745532"/>
            <a:ext cx="2743200" cy="276999"/>
          </a:xfrm>
          <a:prstGeom prst="rect">
            <a:avLst/>
          </a:prstGeom>
          <a:noFill/>
        </p:spPr>
        <p:txBody>
          <a:bodyPr wrap="square" rtlCol="0">
            <a:spAutoFit/>
          </a:bodyPr>
          <a:lstStyle/>
          <a:p>
            <a:r>
              <a:rPr lang="en-US" sz="1200" dirty="0">
                <a:solidFill>
                  <a:schemeClr val="bg1">
                    <a:lumMod val="50000"/>
                  </a:schemeClr>
                </a:solidFill>
              </a:rPr>
              <a:t>ASSET TOKENIZATION</a:t>
            </a:r>
            <a:endParaRPr lang="en-IN" sz="1200" dirty="0">
              <a:solidFill>
                <a:schemeClr val="bg1">
                  <a:lumMod val="50000"/>
                </a:schemeClr>
              </a:solidFill>
            </a:endParaRPr>
          </a:p>
        </p:txBody>
      </p:sp>
      <p:grpSp>
        <p:nvGrpSpPr>
          <p:cNvPr id="10" name="object 3">
            <a:extLst>
              <a:ext uri="{FF2B5EF4-FFF2-40B4-BE49-F238E27FC236}">
                <a16:creationId xmlns:a16="http://schemas.microsoft.com/office/drawing/2014/main" id="{EFB796DB-401E-AA32-10FF-C85483E527FD}"/>
              </a:ext>
            </a:extLst>
          </p:cNvPr>
          <p:cNvGrpSpPr/>
          <p:nvPr/>
        </p:nvGrpSpPr>
        <p:grpSpPr>
          <a:xfrm>
            <a:off x="16854" y="0"/>
            <a:ext cx="14613800" cy="720000"/>
            <a:chOff x="16854" y="0"/>
            <a:chExt cx="14613800" cy="720000"/>
          </a:xfrm>
        </p:grpSpPr>
        <p:sp>
          <p:nvSpPr>
            <p:cNvPr id="11" name="object 4">
              <a:extLst>
                <a:ext uri="{FF2B5EF4-FFF2-40B4-BE49-F238E27FC236}">
                  <a16:creationId xmlns:a16="http://schemas.microsoft.com/office/drawing/2014/main" id="{7000C72C-09DF-46C3-7BCC-335BB59025B8}"/>
                </a:ext>
              </a:extLst>
            </p:cNvPr>
            <p:cNvSpPr/>
            <p:nvPr/>
          </p:nvSpPr>
          <p:spPr>
            <a:xfrm>
              <a:off x="1541399" y="38"/>
              <a:ext cx="13089255" cy="696811"/>
            </a:xfrm>
            <a:custGeom>
              <a:avLst/>
              <a:gdLst/>
              <a:ahLst/>
              <a:cxnLst/>
              <a:rect l="l" t="t" r="r" b="b"/>
              <a:pathLst>
                <a:path w="13089255" h="541655">
                  <a:moveTo>
                    <a:pt x="13089001" y="0"/>
                  </a:moveTo>
                  <a:lnTo>
                    <a:pt x="0" y="0"/>
                  </a:lnTo>
                  <a:lnTo>
                    <a:pt x="0" y="541489"/>
                  </a:lnTo>
                  <a:lnTo>
                    <a:pt x="13089001" y="541489"/>
                  </a:lnTo>
                  <a:lnTo>
                    <a:pt x="13089001" y="0"/>
                  </a:lnTo>
                  <a:close/>
                </a:path>
              </a:pathLst>
            </a:custGeom>
            <a:solidFill>
              <a:srgbClr val="155F82"/>
            </a:solidFill>
          </p:spPr>
          <p:txBody>
            <a:bodyPr wrap="square" lIns="0" tIns="0" rIns="0" bIns="0" rtlCol="0"/>
            <a:lstStyle/>
            <a:p>
              <a:endParaRPr/>
            </a:p>
          </p:txBody>
        </p:sp>
        <p:pic>
          <p:nvPicPr>
            <p:cNvPr id="12" name="object 5">
              <a:extLst>
                <a:ext uri="{FF2B5EF4-FFF2-40B4-BE49-F238E27FC236}">
                  <a16:creationId xmlns:a16="http://schemas.microsoft.com/office/drawing/2014/main" id="{C48BB460-C85A-530A-9AD3-0B6C19E116F2}"/>
                </a:ext>
              </a:extLst>
            </p:cNvPr>
            <p:cNvPicPr/>
            <p:nvPr/>
          </p:nvPicPr>
          <p:blipFill>
            <a:blip r:embed="rId2" cstate="print"/>
            <a:stretch>
              <a:fillRect/>
            </a:stretch>
          </p:blipFill>
          <p:spPr>
            <a:xfrm>
              <a:off x="13856311" y="0"/>
              <a:ext cx="720000" cy="720000"/>
            </a:xfrm>
            <a:prstGeom prst="rect">
              <a:avLst/>
            </a:prstGeom>
          </p:spPr>
        </p:pic>
        <p:pic>
          <p:nvPicPr>
            <p:cNvPr id="14" name="object 6">
              <a:extLst>
                <a:ext uri="{FF2B5EF4-FFF2-40B4-BE49-F238E27FC236}">
                  <a16:creationId xmlns:a16="http://schemas.microsoft.com/office/drawing/2014/main" id="{A8971972-DC64-0ABD-2FCE-6047A4ADE8E8}"/>
                </a:ext>
              </a:extLst>
            </p:cNvPr>
            <p:cNvPicPr/>
            <p:nvPr/>
          </p:nvPicPr>
          <p:blipFill>
            <a:blip r:embed="rId3" cstate="print"/>
            <a:stretch>
              <a:fillRect/>
            </a:stretch>
          </p:blipFill>
          <p:spPr>
            <a:xfrm>
              <a:off x="16854" y="11176"/>
              <a:ext cx="1524254" cy="685673"/>
            </a:xfrm>
            <a:prstGeom prst="rect">
              <a:avLst/>
            </a:prstGeom>
          </p:spPr>
        </p:pic>
      </p:grpSp>
    </p:spTree>
    <p:extLst>
      <p:ext uri="{BB962C8B-B14F-4D97-AF65-F5344CB8AC3E}">
        <p14:creationId xmlns:p14="http://schemas.microsoft.com/office/powerpoint/2010/main" val="2455631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9"/>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z="2000" b="0" spc="-30" dirty="0">
                <a:solidFill>
                  <a:srgbClr val="FFFFFF"/>
                </a:solidFill>
                <a:latin typeface="Calibri"/>
                <a:cs typeface="Calibri"/>
              </a:rPr>
              <a:t>DEPARTMENT</a:t>
            </a:r>
            <a:r>
              <a:rPr sz="2000" b="0" spc="-80" dirty="0">
                <a:solidFill>
                  <a:srgbClr val="FFFFFF"/>
                </a:solidFill>
                <a:latin typeface="Calibri"/>
                <a:cs typeface="Calibri"/>
              </a:rPr>
              <a:t> </a:t>
            </a:r>
            <a:r>
              <a:rPr sz="2000" b="0" dirty="0">
                <a:solidFill>
                  <a:srgbClr val="FFFFFF"/>
                </a:solidFill>
                <a:latin typeface="Calibri"/>
                <a:cs typeface="Calibri"/>
              </a:rPr>
              <a:t>OF</a:t>
            </a:r>
            <a:r>
              <a:rPr sz="2000" b="0" spc="-5" dirty="0">
                <a:solidFill>
                  <a:srgbClr val="FFFFFF"/>
                </a:solidFill>
                <a:latin typeface="Calibri"/>
                <a:cs typeface="Calibri"/>
              </a:rPr>
              <a:t> </a:t>
            </a:r>
            <a:r>
              <a:rPr sz="2000" b="0" dirty="0">
                <a:solidFill>
                  <a:srgbClr val="FFFFFF"/>
                </a:solidFill>
                <a:latin typeface="Calibri"/>
                <a:cs typeface="Calibri"/>
              </a:rPr>
              <a:t>COMPUTER</a:t>
            </a:r>
            <a:r>
              <a:rPr sz="2000" b="0" spc="-30" dirty="0">
                <a:solidFill>
                  <a:srgbClr val="FFFFFF"/>
                </a:solidFill>
                <a:latin typeface="Calibri"/>
                <a:cs typeface="Calibri"/>
              </a:rPr>
              <a:t> </a:t>
            </a:r>
            <a:r>
              <a:rPr sz="2000" b="0" spc="-10" dirty="0">
                <a:solidFill>
                  <a:srgbClr val="FFFFFF"/>
                </a:solidFill>
                <a:latin typeface="Calibri"/>
                <a:cs typeface="Calibri"/>
              </a:rPr>
              <a:t>SCIENCE</a:t>
            </a:r>
            <a:r>
              <a:rPr sz="2000" b="0" spc="-85" dirty="0">
                <a:solidFill>
                  <a:srgbClr val="FFFFFF"/>
                </a:solidFill>
                <a:latin typeface="Calibri"/>
                <a:cs typeface="Calibri"/>
              </a:rPr>
              <a:t> </a:t>
            </a:r>
            <a:r>
              <a:rPr sz="2000" b="0" dirty="0">
                <a:solidFill>
                  <a:srgbClr val="FFFFFF"/>
                </a:solidFill>
                <a:latin typeface="Calibri"/>
                <a:cs typeface="Calibri"/>
              </a:rPr>
              <a:t>AND</a:t>
            </a:r>
            <a:r>
              <a:rPr sz="2000" b="0" spc="-40" dirty="0">
                <a:solidFill>
                  <a:srgbClr val="FFFFFF"/>
                </a:solidFill>
                <a:latin typeface="Calibri"/>
                <a:cs typeface="Calibri"/>
              </a:rPr>
              <a:t> </a:t>
            </a:r>
            <a:r>
              <a:rPr sz="2000" b="0" spc="-10" dirty="0">
                <a:solidFill>
                  <a:srgbClr val="FFFFFF"/>
                </a:solidFill>
                <a:latin typeface="Calibri"/>
                <a:cs typeface="Calibri"/>
              </a:rPr>
              <a:t>ENGINEERING</a:t>
            </a:r>
            <a:endParaRPr sz="2000">
              <a:latin typeface="Calibri"/>
              <a:cs typeface="Calibri"/>
            </a:endParaRPr>
          </a:p>
        </p:txBody>
      </p:sp>
      <p:sp>
        <p:nvSpPr>
          <p:cNvPr id="14" name="object 14"/>
          <p:cNvSpPr txBox="1"/>
          <p:nvPr/>
        </p:nvSpPr>
        <p:spPr>
          <a:xfrm>
            <a:off x="13603986" y="7598779"/>
            <a:ext cx="278765" cy="269304"/>
          </a:xfrm>
          <a:prstGeom prst="rect">
            <a:avLst/>
          </a:prstGeom>
        </p:spPr>
        <p:txBody>
          <a:bodyPr vert="horz" wrap="square" lIns="0" tIns="0" rIns="0" bIns="0" rtlCol="0">
            <a:spAutoFit/>
          </a:bodyPr>
          <a:lstStyle/>
          <a:p>
            <a:pPr marL="12700">
              <a:lnSpc>
                <a:spcPts val="2090"/>
              </a:lnSpc>
            </a:pPr>
            <a:r>
              <a:rPr lang="en-IN" sz="1800" spc="-25" dirty="0">
                <a:solidFill>
                  <a:srgbClr val="888888"/>
                </a:solidFill>
                <a:latin typeface="Arial MT"/>
                <a:cs typeface="Arial MT"/>
              </a:rPr>
              <a:t>9</a:t>
            </a:r>
            <a:endParaRPr sz="1800" dirty="0">
              <a:latin typeface="Arial MT"/>
              <a:cs typeface="Arial MT"/>
            </a:endParaRPr>
          </a:p>
        </p:txBody>
      </p:sp>
      <p:sp>
        <p:nvSpPr>
          <p:cNvPr id="3" name="TextBox 2">
            <a:extLst>
              <a:ext uri="{FF2B5EF4-FFF2-40B4-BE49-F238E27FC236}">
                <a16:creationId xmlns:a16="http://schemas.microsoft.com/office/drawing/2014/main" id="{E988A7AB-2189-CC50-41DA-C006FE525CAF}"/>
              </a:ext>
            </a:extLst>
          </p:cNvPr>
          <p:cNvSpPr txBox="1"/>
          <p:nvPr/>
        </p:nvSpPr>
        <p:spPr>
          <a:xfrm>
            <a:off x="657226" y="7745532"/>
            <a:ext cx="2743200" cy="276999"/>
          </a:xfrm>
          <a:prstGeom prst="rect">
            <a:avLst/>
          </a:prstGeom>
          <a:noFill/>
        </p:spPr>
        <p:txBody>
          <a:bodyPr wrap="square" rtlCol="0">
            <a:spAutoFit/>
          </a:bodyPr>
          <a:lstStyle/>
          <a:p>
            <a:r>
              <a:rPr lang="en-US" sz="1200" dirty="0">
                <a:solidFill>
                  <a:schemeClr val="bg1">
                    <a:lumMod val="50000"/>
                  </a:schemeClr>
                </a:solidFill>
              </a:rPr>
              <a:t>ASSET TOKENIZATION</a:t>
            </a:r>
            <a:endParaRPr lang="en-IN" sz="1200" dirty="0">
              <a:solidFill>
                <a:schemeClr val="bg1">
                  <a:lumMod val="50000"/>
                </a:schemeClr>
              </a:solidFill>
            </a:endParaRPr>
          </a:p>
        </p:txBody>
      </p:sp>
      <p:pic>
        <p:nvPicPr>
          <p:cNvPr id="5" name="Picture 4">
            <a:extLst>
              <a:ext uri="{FF2B5EF4-FFF2-40B4-BE49-F238E27FC236}">
                <a16:creationId xmlns:a16="http://schemas.microsoft.com/office/drawing/2014/main" id="{5E17382D-49CA-C35C-4351-6E7924D26C9F}"/>
              </a:ext>
            </a:extLst>
          </p:cNvPr>
          <p:cNvPicPr>
            <a:picLocks noChangeAspect="1"/>
          </p:cNvPicPr>
          <p:nvPr/>
        </p:nvPicPr>
        <p:blipFill>
          <a:blip r:embed="rId2"/>
          <a:stretch>
            <a:fillRect/>
          </a:stretch>
        </p:blipFill>
        <p:spPr>
          <a:xfrm>
            <a:off x="6222" y="0"/>
            <a:ext cx="14624177" cy="723900"/>
          </a:xfrm>
          <a:prstGeom prst="rect">
            <a:avLst/>
          </a:prstGeom>
        </p:spPr>
      </p:pic>
      <p:sp>
        <p:nvSpPr>
          <p:cNvPr id="17" name="object 8">
            <a:extLst>
              <a:ext uri="{FF2B5EF4-FFF2-40B4-BE49-F238E27FC236}">
                <a16:creationId xmlns:a16="http://schemas.microsoft.com/office/drawing/2014/main" id="{27F9F934-87B8-2836-C65A-F4A38DE2F772}"/>
              </a:ext>
            </a:extLst>
          </p:cNvPr>
          <p:cNvSpPr txBox="1">
            <a:spLocks/>
          </p:cNvSpPr>
          <p:nvPr/>
        </p:nvSpPr>
        <p:spPr>
          <a:xfrm>
            <a:off x="5729988" y="876314"/>
            <a:ext cx="2440305" cy="482600"/>
          </a:xfrm>
          <a:prstGeom prst="rect">
            <a:avLst/>
          </a:prstGeom>
        </p:spPr>
        <p:txBody>
          <a:bodyPr vert="horz" wrap="square" lIns="0" tIns="12700" rIns="0" bIns="0" rtlCol="0">
            <a:spAutoFit/>
          </a:bodyPr>
          <a:lstStyle>
            <a:lvl1pPr>
              <a:defRPr sz="3000" b="1" i="0">
                <a:solidFill>
                  <a:schemeClr val="tx1"/>
                </a:solidFill>
                <a:latin typeface="Times New Roman"/>
                <a:ea typeface="+mj-ea"/>
                <a:cs typeface="Times New Roman"/>
              </a:defRPr>
            </a:lvl1pPr>
          </a:lstStyle>
          <a:p>
            <a:pPr marL="12700">
              <a:spcBef>
                <a:spcPts val="100"/>
              </a:spcBef>
            </a:pPr>
            <a:r>
              <a:rPr lang="en-IN" spc="-10"/>
              <a:t>OBJECTIVES</a:t>
            </a:r>
            <a:endParaRPr lang="en-IN" spc="-10" dirty="0"/>
          </a:p>
        </p:txBody>
      </p:sp>
      <p:sp>
        <p:nvSpPr>
          <p:cNvPr id="18" name="TextBox 17">
            <a:extLst>
              <a:ext uri="{FF2B5EF4-FFF2-40B4-BE49-F238E27FC236}">
                <a16:creationId xmlns:a16="http://schemas.microsoft.com/office/drawing/2014/main" id="{E0D0A974-C46B-2D8A-A02F-9F12862BB14B}"/>
              </a:ext>
            </a:extLst>
          </p:cNvPr>
          <p:cNvSpPr txBox="1"/>
          <p:nvPr/>
        </p:nvSpPr>
        <p:spPr>
          <a:xfrm>
            <a:off x="914400" y="1358914"/>
            <a:ext cx="13294431" cy="64940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dirty="0">
                <a:solidFill>
                  <a:schemeClr val="accent1"/>
                </a:solidFill>
                <a:latin typeface="Arial" panose="020B0604020202020204" pitchFamily="34" charset="0"/>
                <a:cs typeface="Arial" panose="020B0604020202020204" pitchFamily="34" charset="0"/>
              </a:rPr>
              <a:t>The primary objectives of this project are:</a:t>
            </a:r>
          </a:p>
          <a:p>
            <a:pPr algn="l"/>
            <a:endParaRPr lang="en-US" sz="2800" dirty="0">
              <a:solidFill>
                <a:schemeClr val="accent1"/>
              </a:solidFill>
              <a:latin typeface="Arial" panose="020B0604020202020204" pitchFamily="34" charset="0"/>
              <a:cs typeface="Arial" panose="020B0604020202020204" pitchFamily="34" charset="0"/>
            </a:endParaRPr>
          </a:p>
          <a:p>
            <a:pPr marL="342900" indent="-342900" algn="l">
              <a:buFont typeface="Wingdings" panose="05000000000000000000" pitchFamily="2" charset="2"/>
              <a:buChar char="v"/>
            </a:pPr>
            <a:r>
              <a:rPr lang="en-US" sz="2400" dirty="0">
                <a:solidFill>
                  <a:schemeClr val="accent1"/>
                </a:solidFill>
                <a:latin typeface="Arial" panose="020B0604020202020204" pitchFamily="34" charset="0"/>
                <a:cs typeface="Arial" panose="020B0604020202020204" pitchFamily="34" charset="0"/>
              </a:rPr>
              <a:t>To design a blockchain-based system that enables fractional ownership of physical assets.</a:t>
            </a:r>
          </a:p>
          <a:p>
            <a:pPr marL="342900" indent="-342900" algn="l">
              <a:buFont typeface="Wingdings" panose="05000000000000000000" pitchFamily="2" charset="2"/>
              <a:buChar char="v"/>
            </a:pPr>
            <a:endParaRPr lang="en-US" sz="2400" dirty="0">
              <a:solidFill>
                <a:schemeClr val="accent1"/>
              </a:solidFill>
              <a:latin typeface="Arial" panose="020B0604020202020204" pitchFamily="34" charset="0"/>
              <a:cs typeface="Arial" panose="020B0604020202020204" pitchFamily="34" charset="0"/>
            </a:endParaRPr>
          </a:p>
          <a:p>
            <a:pPr marL="342900" indent="-342900" algn="l">
              <a:buFont typeface="Wingdings" panose="05000000000000000000" pitchFamily="2" charset="2"/>
              <a:buChar char="v"/>
            </a:pPr>
            <a:r>
              <a:rPr lang="en-US" sz="2400" dirty="0">
                <a:solidFill>
                  <a:schemeClr val="accent1"/>
                </a:solidFill>
                <a:latin typeface="Arial" panose="020B0604020202020204" pitchFamily="34" charset="0"/>
                <a:cs typeface="Arial" panose="020B0604020202020204" pitchFamily="34" charset="0"/>
              </a:rPr>
              <a:t>To implement smart contracts that securely manage token issuance, transfers, and ownership records.</a:t>
            </a:r>
          </a:p>
          <a:p>
            <a:pPr marL="342900" indent="-342900" algn="l">
              <a:buFont typeface="Wingdings" panose="05000000000000000000" pitchFamily="2" charset="2"/>
              <a:buChar char="v"/>
            </a:pPr>
            <a:endParaRPr lang="en-US" sz="2400" dirty="0">
              <a:solidFill>
                <a:schemeClr val="accent1"/>
              </a:solidFill>
              <a:latin typeface="Arial" panose="020B0604020202020204" pitchFamily="34" charset="0"/>
              <a:cs typeface="Arial" panose="020B0604020202020204" pitchFamily="34" charset="0"/>
            </a:endParaRPr>
          </a:p>
          <a:p>
            <a:pPr marL="342900" indent="-342900" algn="l">
              <a:buFont typeface="Wingdings" panose="05000000000000000000" pitchFamily="2" charset="2"/>
              <a:buChar char="v"/>
            </a:pPr>
            <a:r>
              <a:rPr lang="en-US" sz="2400" dirty="0">
                <a:solidFill>
                  <a:schemeClr val="accent1"/>
                </a:solidFill>
                <a:latin typeface="Arial" panose="020B0604020202020204" pitchFamily="34" charset="0"/>
                <a:cs typeface="Arial" panose="020B0604020202020204" pitchFamily="34" charset="0"/>
              </a:rPr>
              <a:t>To build a web-based interface for asset listing, token purchase, and transaction tracking.</a:t>
            </a:r>
          </a:p>
          <a:p>
            <a:pPr marL="342900" indent="-342900" algn="l">
              <a:buFont typeface="Wingdings" panose="05000000000000000000" pitchFamily="2" charset="2"/>
              <a:buChar char="v"/>
            </a:pPr>
            <a:endParaRPr lang="en-US" sz="2400" dirty="0">
              <a:solidFill>
                <a:schemeClr val="accent1"/>
              </a:solidFill>
              <a:latin typeface="Arial" panose="020B0604020202020204" pitchFamily="34" charset="0"/>
              <a:cs typeface="Arial" panose="020B0604020202020204" pitchFamily="34" charset="0"/>
            </a:endParaRPr>
          </a:p>
          <a:p>
            <a:pPr marL="342900" indent="-342900" algn="l">
              <a:buFont typeface="Wingdings" panose="05000000000000000000" pitchFamily="2" charset="2"/>
              <a:buChar char="v"/>
            </a:pPr>
            <a:r>
              <a:rPr lang="en-US" sz="2400" dirty="0">
                <a:solidFill>
                  <a:schemeClr val="accent1"/>
                </a:solidFill>
                <a:latin typeface="Arial" panose="020B0604020202020204" pitchFamily="34" charset="0"/>
                <a:cs typeface="Arial" panose="020B0604020202020204" pitchFamily="34" charset="0"/>
              </a:rPr>
              <a:t>To ensure transparency and tamper-proof record maintenance using distributed ledger technology.</a:t>
            </a:r>
          </a:p>
          <a:p>
            <a:pPr marL="342900" indent="-342900" algn="l">
              <a:buFont typeface="Wingdings" panose="05000000000000000000" pitchFamily="2" charset="2"/>
              <a:buChar char="v"/>
            </a:pPr>
            <a:endParaRPr lang="en-US" sz="2400" dirty="0">
              <a:solidFill>
                <a:schemeClr val="accent1"/>
              </a:solidFill>
              <a:latin typeface="Arial" panose="020B0604020202020204" pitchFamily="34" charset="0"/>
              <a:cs typeface="Arial" panose="020B0604020202020204" pitchFamily="34" charset="0"/>
            </a:endParaRPr>
          </a:p>
          <a:p>
            <a:pPr marL="342900" indent="-342900" algn="l">
              <a:buFont typeface="Wingdings" panose="05000000000000000000" pitchFamily="2" charset="2"/>
              <a:buChar char="v"/>
            </a:pPr>
            <a:r>
              <a:rPr lang="en-US" sz="2400" dirty="0">
                <a:solidFill>
                  <a:schemeClr val="accent1"/>
                </a:solidFill>
                <a:latin typeface="Arial" panose="020B0604020202020204" pitchFamily="34" charset="0"/>
                <a:cs typeface="Arial" panose="020B0604020202020204" pitchFamily="34" charset="0"/>
              </a:rPr>
              <a:t>To analyze the feasibility and scalability of asset tokenization in real-world applications.</a:t>
            </a:r>
          </a:p>
          <a:p>
            <a:pPr marL="342900" indent="-342900" algn="l">
              <a:buFont typeface="Wingdings" panose="05000000000000000000" pitchFamily="2" charset="2"/>
              <a:buChar char="v"/>
            </a:pPr>
            <a:endParaRPr lang="en-US" sz="2400" dirty="0">
              <a:solidFill>
                <a:schemeClr val="accent1"/>
              </a:solidFill>
              <a:latin typeface="Arial" panose="020B0604020202020204" pitchFamily="34" charset="0"/>
              <a:cs typeface="Arial" panose="020B0604020202020204" pitchFamily="34" charset="0"/>
            </a:endParaRPr>
          </a:p>
          <a:p>
            <a:pPr marL="342900" indent="-342900" algn="l">
              <a:buFont typeface="Wingdings" panose="05000000000000000000" pitchFamily="2" charset="2"/>
              <a:buChar char="v"/>
            </a:pPr>
            <a:r>
              <a:rPr lang="en-US" sz="2400" dirty="0">
                <a:solidFill>
                  <a:schemeClr val="accent1"/>
                </a:solidFill>
                <a:latin typeface="Calibri"/>
                <a:ea typeface="Calibri"/>
                <a:cs typeface="Calibri"/>
              </a:rPr>
              <a:t>Blockchain Integration The platform will be deployed on a public blockchain test network such as Ethereum test net to validate functionality. </a:t>
            </a:r>
          </a:p>
          <a:p>
            <a:pPr marL="342900" indent="-342900" algn="l">
              <a:buFont typeface="Wingdings" panose="05000000000000000000" pitchFamily="2" charset="2"/>
              <a:buChar char="v"/>
            </a:pPr>
            <a:endParaRPr lang="en-US" sz="2400" dirty="0">
              <a:solidFill>
                <a:schemeClr val="accent1"/>
              </a:solidFill>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B9D4B-8E3E-8990-9EC0-AED8DC6E752B}"/>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8AEC8132-7691-1B75-A542-37BE64EAF7F4}"/>
              </a:ext>
            </a:extLst>
          </p:cNvPr>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z="2000" b="0" spc="-30" dirty="0">
                <a:solidFill>
                  <a:srgbClr val="FFFFFF"/>
                </a:solidFill>
                <a:latin typeface="Calibri"/>
                <a:cs typeface="Calibri"/>
              </a:rPr>
              <a:t>DEPARTMENT</a:t>
            </a:r>
            <a:r>
              <a:rPr sz="2000" b="0" spc="-80" dirty="0">
                <a:solidFill>
                  <a:srgbClr val="FFFFFF"/>
                </a:solidFill>
                <a:latin typeface="Calibri"/>
                <a:cs typeface="Calibri"/>
              </a:rPr>
              <a:t> </a:t>
            </a:r>
            <a:r>
              <a:rPr sz="2000" b="0" dirty="0">
                <a:solidFill>
                  <a:srgbClr val="FFFFFF"/>
                </a:solidFill>
                <a:latin typeface="Calibri"/>
                <a:cs typeface="Calibri"/>
              </a:rPr>
              <a:t>OF</a:t>
            </a:r>
            <a:r>
              <a:rPr sz="2000" b="0" spc="-5" dirty="0">
                <a:solidFill>
                  <a:srgbClr val="FFFFFF"/>
                </a:solidFill>
                <a:latin typeface="Calibri"/>
                <a:cs typeface="Calibri"/>
              </a:rPr>
              <a:t> </a:t>
            </a:r>
            <a:r>
              <a:rPr sz="2000" b="0" dirty="0">
                <a:solidFill>
                  <a:srgbClr val="FFFFFF"/>
                </a:solidFill>
                <a:latin typeface="Calibri"/>
                <a:cs typeface="Calibri"/>
              </a:rPr>
              <a:t>COMPUTER</a:t>
            </a:r>
            <a:r>
              <a:rPr sz="2000" b="0" spc="-30" dirty="0">
                <a:solidFill>
                  <a:srgbClr val="FFFFFF"/>
                </a:solidFill>
                <a:latin typeface="Calibri"/>
                <a:cs typeface="Calibri"/>
              </a:rPr>
              <a:t> </a:t>
            </a:r>
            <a:r>
              <a:rPr sz="2000" b="0" spc="-10" dirty="0">
                <a:solidFill>
                  <a:srgbClr val="FFFFFF"/>
                </a:solidFill>
                <a:latin typeface="Calibri"/>
                <a:cs typeface="Calibri"/>
              </a:rPr>
              <a:t>SCIENCE</a:t>
            </a:r>
            <a:r>
              <a:rPr sz="2000" b="0" spc="-85" dirty="0">
                <a:solidFill>
                  <a:srgbClr val="FFFFFF"/>
                </a:solidFill>
                <a:latin typeface="Calibri"/>
                <a:cs typeface="Calibri"/>
              </a:rPr>
              <a:t> </a:t>
            </a:r>
            <a:r>
              <a:rPr sz="2000" b="0" dirty="0">
                <a:solidFill>
                  <a:srgbClr val="FFFFFF"/>
                </a:solidFill>
                <a:latin typeface="Calibri"/>
                <a:cs typeface="Calibri"/>
              </a:rPr>
              <a:t>AND</a:t>
            </a:r>
            <a:r>
              <a:rPr sz="2000" b="0" spc="-40" dirty="0">
                <a:solidFill>
                  <a:srgbClr val="FFFFFF"/>
                </a:solidFill>
                <a:latin typeface="Calibri"/>
                <a:cs typeface="Calibri"/>
              </a:rPr>
              <a:t> </a:t>
            </a:r>
            <a:r>
              <a:rPr sz="2000" b="0" spc="-10" dirty="0">
                <a:solidFill>
                  <a:srgbClr val="FFFFFF"/>
                </a:solidFill>
                <a:latin typeface="Calibri"/>
                <a:cs typeface="Calibri"/>
              </a:rPr>
              <a:t>ENGINEERING</a:t>
            </a:r>
            <a:endParaRPr sz="2000">
              <a:latin typeface="Calibri"/>
              <a:cs typeface="Calibri"/>
            </a:endParaRPr>
          </a:p>
        </p:txBody>
      </p:sp>
      <p:sp>
        <p:nvSpPr>
          <p:cNvPr id="14" name="object 14">
            <a:extLst>
              <a:ext uri="{FF2B5EF4-FFF2-40B4-BE49-F238E27FC236}">
                <a16:creationId xmlns:a16="http://schemas.microsoft.com/office/drawing/2014/main" id="{C4362A4C-7367-C7E2-3E1B-E15A075A02B9}"/>
              </a:ext>
            </a:extLst>
          </p:cNvPr>
          <p:cNvSpPr txBox="1"/>
          <p:nvPr/>
        </p:nvSpPr>
        <p:spPr>
          <a:xfrm>
            <a:off x="13603986" y="7598779"/>
            <a:ext cx="278765" cy="269304"/>
          </a:xfrm>
          <a:prstGeom prst="rect">
            <a:avLst/>
          </a:prstGeom>
        </p:spPr>
        <p:txBody>
          <a:bodyPr vert="horz" wrap="square" lIns="0" tIns="0" rIns="0" bIns="0" rtlCol="0">
            <a:spAutoFit/>
          </a:bodyPr>
          <a:lstStyle/>
          <a:p>
            <a:pPr marL="12700">
              <a:lnSpc>
                <a:spcPts val="2090"/>
              </a:lnSpc>
            </a:pPr>
            <a:r>
              <a:rPr sz="1800" spc="-25" dirty="0">
                <a:solidFill>
                  <a:srgbClr val="888888"/>
                </a:solidFill>
                <a:latin typeface="Arial MT"/>
                <a:cs typeface="Arial MT"/>
              </a:rPr>
              <a:t>1</a:t>
            </a:r>
            <a:r>
              <a:rPr lang="en-US" sz="1800" spc="-25" dirty="0">
                <a:solidFill>
                  <a:srgbClr val="888888"/>
                </a:solidFill>
                <a:latin typeface="Arial MT"/>
                <a:cs typeface="Arial MT"/>
              </a:rPr>
              <a:t>0</a:t>
            </a:r>
            <a:endParaRPr sz="1800" dirty="0">
              <a:latin typeface="Arial MT"/>
              <a:cs typeface="Arial MT"/>
            </a:endParaRPr>
          </a:p>
        </p:txBody>
      </p:sp>
      <p:sp>
        <p:nvSpPr>
          <p:cNvPr id="3" name="TextBox 2">
            <a:extLst>
              <a:ext uri="{FF2B5EF4-FFF2-40B4-BE49-F238E27FC236}">
                <a16:creationId xmlns:a16="http://schemas.microsoft.com/office/drawing/2014/main" id="{B26841B9-B070-4FD6-FD3A-831416B7D5BD}"/>
              </a:ext>
            </a:extLst>
          </p:cNvPr>
          <p:cNvSpPr txBox="1"/>
          <p:nvPr/>
        </p:nvSpPr>
        <p:spPr>
          <a:xfrm>
            <a:off x="657226" y="7745532"/>
            <a:ext cx="2743200" cy="276999"/>
          </a:xfrm>
          <a:prstGeom prst="rect">
            <a:avLst/>
          </a:prstGeom>
          <a:noFill/>
        </p:spPr>
        <p:txBody>
          <a:bodyPr wrap="square" rtlCol="0">
            <a:spAutoFit/>
          </a:bodyPr>
          <a:lstStyle/>
          <a:p>
            <a:r>
              <a:rPr lang="en-US" sz="1200" dirty="0">
                <a:solidFill>
                  <a:schemeClr val="bg1">
                    <a:lumMod val="50000"/>
                  </a:schemeClr>
                </a:solidFill>
              </a:rPr>
              <a:t>ASSET TOKENIZATION</a:t>
            </a:r>
            <a:endParaRPr lang="en-IN" sz="1200" dirty="0">
              <a:solidFill>
                <a:schemeClr val="bg1">
                  <a:lumMod val="50000"/>
                </a:schemeClr>
              </a:solidFill>
            </a:endParaRPr>
          </a:p>
        </p:txBody>
      </p:sp>
      <p:pic>
        <p:nvPicPr>
          <p:cNvPr id="5" name="Picture 4">
            <a:extLst>
              <a:ext uri="{FF2B5EF4-FFF2-40B4-BE49-F238E27FC236}">
                <a16:creationId xmlns:a16="http://schemas.microsoft.com/office/drawing/2014/main" id="{6C5297C8-AB57-8242-7FC5-0B05F4814783}"/>
              </a:ext>
            </a:extLst>
          </p:cNvPr>
          <p:cNvPicPr>
            <a:picLocks noChangeAspect="1"/>
          </p:cNvPicPr>
          <p:nvPr/>
        </p:nvPicPr>
        <p:blipFill>
          <a:blip r:embed="rId2"/>
          <a:stretch>
            <a:fillRect/>
          </a:stretch>
        </p:blipFill>
        <p:spPr>
          <a:xfrm>
            <a:off x="6222" y="0"/>
            <a:ext cx="14624177" cy="723900"/>
          </a:xfrm>
          <a:prstGeom prst="rect">
            <a:avLst/>
          </a:prstGeom>
        </p:spPr>
      </p:pic>
      <p:sp>
        <p:nvSpPr>
          <p:cNvPr id="4" name="object 6">
            <a:extLst>
              <a:ext uri="{FF2B5EF4-FFF2-40B4-BE49-F238E27FC236}">
                <a16:creationId xmlns:a16="http://schemas.microsoft.com/office/drawing/2014/main" id="{A20A366F-7AFD-01FE-6BF7-9B688AFBC173}"/>
              </a:ext>
            </a:extLst>
          </p:cNvPr>
          <p:cNvSpPr txBox="1">
            <a:spLocks/>
          </p:cNvSpPr>
          <p:nvPr/>
        </p:nvSpPr>
        <p:spPr>
          <a:xfrm>
            <a:off x="3505200" y="832659"/>
            <a:ext cx="7355840" cy="482600"/>
          </a:xfrm>
          <a:prstGeom prst="rect">
            <a:avLst/>
          </a:prstGeom>
        </p:spPr>
        <p:txBody>
          <a:bodyPr vert="horz" wrap="square" lIns="0" tIns="12700" rIns="0" bIns="0" rtlCol="0">
            <a:spAutoFit/>
          </a:bodyPr>
          <a:lstStyle>
            <a:lvl1pPr>
              <a:defRPr sz="3000" b="1" i="0">
                <a:solidFill>
                  <a:schemeClr val="tx1"/>
                </a:solidFill>
                <a:latin typeface="Times New Roman"/>
                <a:ea typeface="+mj-ea"/>
                <a:cs typeface="Times New Roman"/>
              </a:defRPr>
            </a:lvl1pPr>
          </a:lstStyle>
          <a:p>
            <a:pPr marL="2209800">
              <a:spcBef>
                <a:spcPts val="100"/>
              </a:spcBef>
            </a:pPr>
            <a:r>
              <a:rPr lang="en-IN" spc="-10" dirty="0"/>
              <a:t>METHODOLOGY</a:t>
            </a:r>
          </a:p>
        </p:txBody>
      </p:sp>
      <p:sp>
        <p:nvSpPr>
          <p:cNvPr id="6" name="TextBox 5">
            <a:extLst>
              <a:ext uri="{FF2B5EF4-FFF2-40B4-BE49-F238E27FC236}">
                <a16:creationId xmlns:a16="http://schemas.microsoft.com/office/drawing/2014/main" id="{D8498004-1383-EAEB-0275-578CA835B53B}"/>
              </a:ext>
            </a:extLst>
          </p:cNvPr>
          <p:cNvSpPr txBox="1"/>
          <p:nvPr/>
        </p:nvSpPr>
        <p:spPr>
          <a:xfrm>
            <a:off x="657226" y="1424018"/>
            <a:ext cx="13787636" cy="63709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dirty="0">
                <a:solidFill>
                  <a:schemeClr val="accent1"/>
                </a:solidFill>
                <a:latin typeface="Arial" panose="020B0604020202020204" pitchFamily="34" charset="0"/>
                <a:cs typeface="Arial" panose="020B0604020202020204" pitchFamily="34" charset="0"/>
              </a:rPr>
              <a:t>The development of the project will follow these stages: </a:t>
            </a:r>
          </a:p>
          <a:p>
            <a:pPr algn="l"/>
            <a:endParaRPr lang="en-US" sz="2800" dirty="0">
              <a:solidFill>
                <a:schemeClr val="accent1"/>
              </a:solidFill>
              <a:latin typeface="Arial" panose="020B0604020202020204" pitchFamily="34" charset="0"/>
              <a:cs typeface="Arial" panose="020B0604020202020204" pitchFamily="34" charset="0"/>
            </a:endParaRPr>
          </a:p>
          <a:p>
            <a:pPr marL="342900" indent="-342900" algn="l">
              <a:buFont typeface="Wingdings" panose="05000000000000000000" pitchFamily="2" charset="2"/>
              <a:buChar char="v"/>
            </a:pPr>
            <a:r>
              <a:rPr lang="en-US" sz="2400" dirty="0">
                <a:solidFill>
                  <a:schemeClr val="accent1"/>
                </a:solidFill>
                <a:latin typeface="Arial" panose="020B0604020202020204" pitchFamily="34" charset="0"/>
                <a:cs typeface="Arial" panose="020B0604020202020204" pitchFamily="34" charset="0"/>
              </a:rPr>
              <a:t>Requirement Analysis Understanding the limitations of traditional asset ownership systems 	and identifying the need for fractional investment models. </a:t>
            </a:r>
          </a:p>
          <a:p>
            <a:pPr marL="342900" indent="-342900" algn="l">
              <a:buFont typeface="Wingdings" panose="05000000000000000000" pitchFamily="2" charset="2"/>
              <a:buChar char="v"/>
            </a:pPr>
            <a:endParaRPr lang="en-US" sz="2400" dirty="0">
              <a:solidFill>
                <a:schemeClr val="accent1"/>
              </a:solidFill>
              <a:latin typeface="Arial" panose="020B0604020202020204" pitchFamily="34" charset="0"/>
              <a:cs typeface="Arial" panose="020B0604020202020204" pitchFamily="34" charset="0"/>
            </a:endParaRPr>
          </a:p>
          <a:p>
            <a:pPr marL="342900" indent="-342900" algn="l">
              <a:buFont typeface="Wingdings" panose="05000000000000000000" pitchFamily="2" charset="2"/>
              <a:buChar char="v"/>
            </a:pPr>
            <a:r>
              <a:rPr lang="en-US" sz="2400" dirty="0">
                <a:solidFill>
                  <a:schemeClr val="accent1"/>
                </a:solidFill>
                <a:latin typeface="Arial" panose="020B0604020202020204" pitchFamily="34" charset="0"/>
                <a:cs typeface="Arial" panose="020B0604020202020204" pitchFamily="34" charset="0"/>
              </a:rPr>
              <a:t>System Design Designing the architecture consisting of: Frontend application for user interaction Backend services for data management Blockchain network for token transactions Smart contracts for asset representation </a:t>
            </a:r>
          </a:p>
          <a:p>
            <a:pPr marL="342900" indent="-342900" algn="l">
              <a:buFont typeface="Wingdings" panose="05000000000000000000" pitchFamily="2" charset="2"/>
              <a:buChar char="v"/>
            </a:pPr>
            <a:endParaRPr lang="en-US" sz="2400" dirty="0">
              <a:solidFill>
                <a:schemeClr val="accent1"/>
              </a:solidFill>
              <a:latin typeface="Arial" panose="020B0604020202020204" pitchFamily="34" charset="0"/>
              <a:cs typeface="Arial" panose="020B0604020202020204" pitchFamily="34" charset="0"/>
            </a:endParaRPr>
          </a:p>
          <a:p>
            <a:pPr marL="342900" indent="-342900" algn="l">
              <a:buFont typeface="Wingdings" panose="05000000000000000000" pitchFamily="2" charset="2"/>
              <a:buChar char="v"/>
            </a:pPr>
            <a:r>
              <a:rPr lang="en-US" sz="2400" dirty="0">
                <a:solidFill>
                  <a:schemeClr val="accent1"/>
                </a:solidFill>
                <a:latin typeface="Arial" panose="020B0604020202020204" pitchFamily="34" charset="0"/>
                <a:cs typeface="Arial" panose="020B0604020202020204" pitchFamily="34" charset="0"/>
              </a:rPr>
              <a:t>Smart Contract Development Smart contracts will be developed using Solidity. These contracts will: Mint tokens representing assets Handle ownership transfers Record transactions securely .</a:t>
            </a:r>
            <a:br>
              <a:rPr lang="en-US" sz="2400" dirty="0">
                <a:solidFill>
                  <a:schemeClr val="accent1"/>
                </a:solidFill>
                <a:latin typeface="Arial" panose="020B0604020202020204" pitchFamily="34" charset="0"/>
                <a:cs typeface="Arial" panose="020B0604020202020204" pitchFamily="34" charset="0"/>
              </a:rPr>
            </a:br>
            <a:endParaRPr lang="en-US" sz="2400" dirty="0">
              <a:solidFill>
                <a:schemeClr val="accent1"/>
              </a:solidFill>
              <a:latin typeface="Arial" panose="020B0604020202020204" pitchFamily="34" charset="0"/>
              <a:cs typeface="Arial" panose="020B0604020202020204" pitchFamily="34" charset="0"/>
            </a:endParaRPr>
          </a:p>
          <a:p>
            <a:pPr marL="342900" indent="-342900" algn="l">
              <a:buFont typeface="Wingdings" panose="05000000000000000000" pitchFamily="2" charset="2"/>
              <a:buChar char="v"/>
            </a:pPr>
            <a:r>
              <a:rPr lang="en-US" sz="2800" dirty="0">
                <a:solidFill>
                  <a:schemeClr val="accent1"/>
                </a:solidFill>
                <a:latin typeface="Calibri"/>
                <a:ea typeface="Calibri"/>
                <a:cs typeface="Calibri"/>
              </a:rPr>
              <a:t>Frontend &amp; Backend Development Frontend built using React.js for user-friendly interaction Backend using Node.js and Express.js Database integration (MongoDB) for storing off-chain metadata .</a:t>
            </a:r>
          </a:p>
          <a:p>
            <a:pPr marL="342900" indent="-342900" algn="l">
              <a:buFont typeface="Wingdings" panose="05000000000000000000" pitchFamily="2" charset="2"/>
              <a:buChar char="v"/>
            </a:pPr>
            <a:endParaRPr lang="en-US" sz="2800" dirty="0">
              <a:solidFill>
                <a:schemeClr val="accent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523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D4794-8820-0851-183E-6B6E96F567CD}"/>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BEE679B3-85FE-6961-512A-A84C1D2946A0}"/>
              </a:ext>
            </a:extLst>
          </p:cNvPr>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z="2000" b="0" spc="-30" dirty="0">
                <a:solidFill>
                  <a:srgbClr val="FFFFFF"/>
                </a:solidFill>
                <a:latin typeface="Calibri"/>
                <a:cs typeface="Calibri"/>
              </a:rPr>
              <a:t>DEPARTMENT</a:t>
            </a:r>
            <a:r>
              <a:rPr sz="2000" b="0" spc="-80" dirty="0">
                <a:solidFill>
                  <a:srgbClr val="FFFFFF"/>
                </a:solidFill>
                <a:latin typeface="Calibri"/>
                <a:cs typeface="Calibri"/>
              </a:rPr>
              <a:t> </a:t>
            </a:r>
            <a:r>
              <a:rPr sz="2000" b="0" dirty="0">
                <a:solidFill>
                  <a:srgbClr val="FFFFFF"/>
                </a:solidFill>
                <a:latin typeface="Calibri"/>
                <a:cs typeface="Calibri"/>
              </a:rPr>
              <a:t>OF</a:t>
            </a:r>
            <a:r>
              <a:rPr sz="2000" b="0" spc="-5" dirty="0">
                <a:solidFill>
                  <a:srgbClr val="FFFFFF"/>
                </a:solidFill>
                <a:latin typeface="Calibri"/>
                <a:cs typeface="Calibri"/>
              </a:rPr>
              <a:t> </a:t>
            </a:r>
            <a:r>
              <a:rPr sz="2000" b="0" dirty="0">
                <a:solidFill>
                  <a:srgbClr val="FFFFFF"/>
                </a:solidFill>
                <a:latin typeface="Calibri"/>
                <a:cs typeface="Calibri"/>
              </a:rPr>
              <a:t>COMPUTER</a:t>
            </a:r>
            <a:r>
              <a:rPr sz="2000" b="0" spc="-30" dirty="0">
                <a:solidFill>
                  <a:srgbClr val="FFFFFF"/>
                </a:solidFill>
                <a:latin typeface="Calibri"/>
                <a:cs typeface="Calibri"/>
              </a:rPr>
              <a:t> </a:t>
            </a:r>
            <a:r>
              <a:rPr sz="2000" b="0" spc="-10" dirty="0">
                <a:solidFill>
                  <a:srgbClr val="FFFFFF"/>
                </a:solidFill>
                <a:latin typeface="Calibri"/>
                <a:cs typeface="Calibri"/>
              </a:rPr>
              <a:t>SCIENCE</a:t>
            </a:r>
            <a:r>
              <a:rPr sz="2000" b="0" spc="-85" dirty="0">
                <a:solidFill>
                  <a:srgbClr val="FFFFFF"/>
                </a:solidFill>
                <a:latin typeface="Calibri"/>
                <a:cs typeface="Calibri"/>
              </a:rPr>
              <a:t> </a:t>
            </a:r>
            <a:r>
              <a:rPr sz="2000" b="0" dirty="0">
                <a:solidFill>
                  <a:srgbClr val="FFFFFF"/>
                </a:solidFill>
                <a:latin typeface="Calibri"/>
                <a:cs typeface="Calibri"/>
              </a:rPr>
              <a:t>AND</a:t>
            </a:r>
            <a:r>
              <a:rPr sz="2000" b="0" spc="-40" dirty="0">
                <a:solidFill>
                  <a:srgbClr val="FFFFFF"/>
                </a:solidFill>
                <a:latin typeface="Calibri"/>
                <a:cs typeface="Calibri"/>
              </a:rPr>
              <a:t> </a:t>
            </a:r>
            <a:r>
              <a:rPr sz="2000" b="0" spc="-10" dirty="0">
                <a:solidFill>
                  <a:srgbClr val="FFFFFF"/>
                </a:solidFill>
                <a:latin typeface="Calibri"/>
                <a:cs typeface="Calibri"/>
              </a:rPr>
              <a:t>ENGINEERING</a:t>
            </a:r>
            <a:endParaRPr sz="2000">
              <a:latin typeface="Calibri"/>
              <a:cs typeface="Calibri"/>
            </a:endParaRPr>
          </a:p>
        </p:txBody>
      </p:sp>
      <p:sp>
        <p:nvSpPr>
          <p:cNvPr id="14" name="object 14">
            <a:extLst>
              <a:ext uri="{FF2B5EF4-FFF2-40B4-BE49-F238E27FC236}">
                <a16:creationId xmlns:a16="http://schemas.microsoft.com/office/drawing/2014/main" id="{01DF4351-FF08-9D65-B42B-852769EFF14B}"/>
              </a:ext>
            </a:extLst>
          </p:cNvPr>
          <p:cNvSpPr txBox="1"/>
          <p:nvPr/>
        </p:nvSpPr>
        <p:spPr>
          <a:xfrm>
            <a:off x="13603986" y="7598779"/>
            <a:ext cx="278765" cy="269304"/>
          </a:xfrm>
          <a:prstGeom prst="rect">
            <a:avLst/>
          </a:prstGeom>
        </p:spPr>
        <p:txBody>
          <a:bodyPr vert="horz" wrap="square" lIns="0" tIns="0" rIns="0" bIns="0" rtlCol="0">
            <a:spAutoFit/>
          </a:bodyPr>
          <a:lstStyle/>
          <a:p>
            <a:pPr marL="12700">
              <a:lnSpc>
                <a:spcPts val="2090"/>
              </a:lnSpc>
            </a:pPr>
            <a:r>
              <a:rPr sz="1800" spc="-25" dirty="0">
                <a:solidFill>
                  <a:srgbClr val="888888"/>
                </a:solidFill>
                <a:latin typeface="Arial MT"/>
                <a:cs typeface="Arial MT"/>
              </a:rPr>
              <a:t>1</a:t>
            </a:r>
            <a:r>
              <a:rPr lang="en-US" sz="1800" spc="-25" dirty="0">
                <a:solidFill>
                  <a:srgbClr val="888888"/>
                </a:solidFill>
                <a:latin typeface="Arial MT"/>
                <a:cs typeface="Arial MT"/>
              </a:rPr>
              <a:t>1</a:t>
            </a:r>
            <a:endParaRPr sz="1800" dirty="0">
              <a:latin typeface="Arial MT"/>
              <a:cs typeface="Arial MT"/>
            </a:endParaRPr>
          </a:p>
        </p:txBody>
      </p:sp>
      <p:sp>
        <p:nvSpPr>
          <p:cNvPr id="3" name="TextBox 2">
            <a:extLst>
              <a:ext uri="{FF2B5EF4-FFF2-40B4-BE49-F238E27FC236}">
                <a16:creationId xmlns:a16="http://schemas.microsoft.com/office/drawing/2014/main" id="{ECDE7A51-1CE6-E344-516E-1D11A924FD92}"/>
              </a:ext>
            </a:extLst>
          </p:cNvPr>
          <p:cNvSpPr txBox="1"/>
          <p:nvPr/>
        </p:nvSpPr>
        <p:spPr>
          <a:xfrm>
            <a:off x="657226" y="7745532"/>
            <a:ext cx="2743200" cy="276999"/>
          </a:xfrm>
          <a:prstGeom prst="rect">
            <a:avLst/>
          </a:prstGeom>
          <a:noFill/>
        </p:spPr>
        <p:txBody>
          <a:bodyPr wrap="square" rtlCol="0">
            <a:spAutoFit/>
          </a:bodyPr>
          <a:lstStyle/>
          <a:p>
            <a:r>
              <a:rPr lang="en-US" sz="1200" dirty="0">
                <a:solidFill>
                  <a:schemeClr val="bg1">
                    <a:lumMod val="50000"/>
                  </a:schemeClr>
                </a:solidFill>
              </a:rPr>
              <a:t>ASSET TOKENIZATION</a:t>
            </a:r>
            <a:endParaRPr lang="en-IN" sz="1200" dirty="0">
              <a:solidFill>
                <a:schemeClr val="bg1">
                  <a:lumMod val="50000"/>
                </a:schemeClr>
              </a:solidFill>
            </a:endParaRPr>
          </a:p>
        </p:txBody>
      </p:sp>
      <p:pic>
        <p:nvPicPr>
          <p:cNvPr id="5" name="Picture 4">
            <a:extLst>
              <a:ext uri="{FF2B5EF4-FFF2-40B4-BE49-F238E27FC236}">
                <a16:creationId xmlns:a16="http://schemas.microsoft.com/office/drawing/2014/main" id="{3E9A3427-0EF6-C4E9-2410-1E779ABFC860}"/>
              </a:ext>
            </a:extLst>
          </p:cNvPr>
          <p:cNvPicPr>
            <a:picLocks noChangeAspect="1"/>
          </p:cNvPicPr>
          <p:nvPr/>
        </p:nvPicPr>
        <p:blipFill>
          <a:blip r:embed="rId2"/>
          <a:stretch>
            <a:fillRect/>
          </a:stretch>
        </p:blipFill>
        <p:spPr>
          <a:xfrm>
            <a:off x="6222" y="0"/>
            <a:ext cx="14624177" cy="723900"/>
          </a:xfrm>
          <a:prstGeom prst="rect">
            <a:avLst/>
          </a:prstGeom>
        </p:spPr>
      </p:pic>
      <p:sp>
        <p:nvSpPr>
          <p:cNvPr id="4" name="TextBox 3">
            <a:extLst>
              <a:ext uri="{FF2B5EF4-FFF2-40B4-BE49-F238E27FC236}">
                <a16:creationId xmlns:a16="http://schemas.microsoft.com/office/drawing/2014/main" id="{02202611-76E3-F645-E3FA-5577F4511D8B}"/>
              </a:ext>
            </a:extLst>
          </p:cNvPr>
          <p:cNvSpPr txBox="1"/>
          <p:nvPr/>
        </p:nvSpPr>
        <p:spPr>
          <a:xfrm>
            <a:off x="921509" y="1312442"/>
            <a:ext cx="12780777" cy="65556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panose="05000000000000000000" pitchFamily="2" charset="2"/>
              <a:buChar char="v"/>
            </a:pPr>
            <a:r>
              <a:rPr lang="en-US" sz="2400" dirty="0">
                <a:solidFill>
                  <a:schemeClr val="accent1"/>
                </a:solidFill>
                <a:latin typeface="Calibri"/>
                <a:ea typeface="Calibri"/>
                <a:cs typeface="Calibri"/>
              </a:rPr>
              <a:t>Testing and Validation </a:t>
            </a:r>
          </a:p>
          <a:p>
            <a:pPr lvl="1"/>
            <a:endParaRPr lang="en-US" sz="2400" dirty="0">
              <a:solidFill>
                <a:schemeClr val="accent1"/>
              </a:solidFill>
              <a:latin typeface="Calibri"/>
              <a:ea typeface="Calibri"/>
              <a:cs typeface="Calibri"/>
            </a:endParaRPr>
          </a:p>
          <a:p>
            <a:pPr lvl="1"/>
            <a:r>
              <a:rPr lang="en-US" sz="2400" dirty="0">
                <a:solidFill>
                  <a:schemeClr val="accent1"/>
                </a:solidFill>
                <a:latin typeface="Calibri"/>
                <a:ea typeface="Calibri"/>
                <a:cs typeface="Calibri"/>
              </a:rPr>
              <a:t>Functional testing: 	</a:t>
            </a:r>
          </a:p>
          <a:p>
            <a:pPr marL="342900" lvl="1" indent="-342900">
              <a:buFont typeface="Arial" panose="020B0604020202020204" pitchFamily="34" charset="0"/>
              <a:buChar char="•"/>
            </a:pPr>
            <a:r>
              <a:rPr lang="en-US" sz="2000" dirty="0">
                <a:solidFill>
                  <a:schemeClr val="accent1"/>
                </a:solidFill>
              </a:rPr>
              <a:t>Verify asset listing and retrieval </a:t>
            </a:r>
          </a:p>
          <a:p>
            <a:pPr marL="342900" indent="-342900">
              <a:buFont typeface="Arial" panose="020B0604020202020204" pitchFamily="34" charset="0"/>
              <a:buChar char="•"/>
            </a:pPr>
            <a:r>
              <a:rPr lang="en-US" sz="2000" dirty="0">
                <a:solidFill>
                  <a:schemeClr val="accent1"/>
                </a:solidFill>
              </a:rPr>
              <a:t>Validate token purchase workflow </a:t>
            </a:r>
          </a:p>
          <a:p>
            <a:pPr marL="342900" indent="-342900">
              <a:buFont typeface="Arial" panose="020B0604020202020204" pitchFamily="34" charset="0"/>
              <a:buChar char="•"/>
            </a:pPr>
            <a:r>
              <a:rPr lang="en-US" sz="2000" dirty="0">
                <a:solidFill>
                  <a:schemeClr val="accent1"/>
                </a:solidFill>
              </a:rPr>
              <a:t>Check user authentication (login/signup) </a:t>
            </a:r>
          </a:p>
          <a:p>
            <a:pPr marL="342900" indent="-342900">
              <a:buFont typeface="Arial" panose="020B0604020202020204" pitchFamily="34" charset="0"/>
              <a:buChar char="•"/>
            </a:pPr>
            <a:r>
              <a:rPr lang="en-US" sz="2000" dirty="0">
                <a:solidFill>
                  <a:schemeClr val="accent1"/>
                </a:solidFill>
              </a:rPr>
              <a:t>Ensure correct ownership update after transactions </a:t>
            </a:r>
          </a:p>
          <a:p>
            <a:endParaRPr lang="en-US" sz="2000" dirty="0">
              <a:solidFill>
                <a:schemeClr val="accent1"/>
              </a:solidFill>
            </a:endParaRPr>
          </a:p>
          <a:p>
            <a:pPr algn="l"/>
            <a:r>
              <a:rPr lang="en-US" sz="2400" dirty="0">
                <a:solidFill>
                  <a:schemeClr val="accent1"/>
                </a:solidFill>
                <a:latin typeface="Calibri"/>
                <a:ea typeface="Calibri"/>
                <a:cs typeface="Calibri"/>
              </a:rPr>
              <a:t>Security Contract Testing : </a:t>
            </a:r>
          </a:p>
          <a:p>
            <a:pPr marL="342900" indent="-342900">
              <a:buFont typeface="Arial" panose="020B0604020202020204" pitchFamily="34" charset="0"/>
              <a:buChar char="•"/>
            </a:pPr>
            <a:r>
              <a:rPr lang="en-US" sz="2000" dirty="0">
                <a:solidFill>
                  <a:schemeClr val="accent1"/>
                </a:solidFill>
              </a:rPr>
              <a:t>Token minting accuracy </a:t>
            </a:r>
          </a:p>
          <a:p>
            <a:pPr marL="342900" indent="-342900">
              <a:buFont typeface="Arial" panose="020B0604020202020204" pitchFamily="34" charset="0"/>
              <a:buChar char="•"/>
            </a:pPr>
            <a:r>
              <a:rPr lang="en-US" sz="2000" dirty="0">
                <a:solidFill>
                  <a:schemeClr val="accent1"/>
                </a:solidFill>
              </a:rPr>
              <a:t>Ownership transfer correctness </a:t>
            </a:r>
          </a:p>
          <a:p>
            <a:pPr marL="342900" indent="-342900">
              <a:buFont typeface="Arial" panose="020B0604020202020204" pitchFamily="34" charset="0"/>
              <a:buChar char="•"/>
            </a:pPr>
            <a:r>
              <a:rPr lang="en-US" sz="2000" dirty="0">
                <a:solidFill>
                  <a:schemeClr val="accent1"/>
                </a:solidFill>
              </a:rPr>
              <a:t>Validation of input conditions (require statements) </a:t>
            </a:r>
          </a:p>
          <a:p>
            <a:pPr marL="342900" indent="-342900">
              <a:buFont typeface="Arial" panose="020B0604020202020204" pitchFamily="34" charset="0"/>
              <a:buChar char="•"/>
            </a:pPr>
            <a:r>
              <a:rPr lang="en-US" sz="2000" dirty="0">
                <a:solidFill>
                  <a:schemeClr val="accent1"/>
                </a:solidFill>
              </a:rPr>
              <a:t>Prevention of invalid or duplicate transactions </a:t>
            </a:r>
          </a:p>
          <a:p>
            <a:pPr marL="342900" indent="-342900">
              <a:buFont typeface="Arial" panose="020B0604020202020204" pitchFamily="34" charset="0"/>
              <a:buChar char="•"/>
            </a:pPr>
            <a:endParaRPr lang="en-US" sz="2000" dirty="0">
              <a:solidFill>
                <a:schemeClr val="accent1"/>
              </a:solidFill>
            </a:endParaRPr>
          </a:p>
          <a:p>
            <a:pPr algn="l"/>
            <a:r>
              <a:rPr lang="en-US" sz="2400" dirty="0">
                <a:solidFill>
                  <a:schemeClr val="accent1"/>
                </a:solidFill>
              </a:rPr>
              <a:t>Performance Testing : </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42900" lvl="4" indent="-342900" algn="l" rtl="0"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chemeClr val="accent1"/>
                </a:solidFill>
                <a:effectLst/>
                <a:latin typeface="Arial" panose="020B0604020202020204" pitchFamily="34" charset="0"/>
              </a:rPr>
              <a:t>API response time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accent1"/>
                </a:solidFill>
                <a:effectLst/>
                <a:latin typeface="Arial" panose="020B0604020202020204" pitchFamily="34" charset="0"/>
              </a:rPr>
              <a:t>System behavior under multiple users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accent1"/>
                </a:solidFill>
                <a:effectLst/>
                <a:latin typeface="Arial" panose="020B0604020202020204" pitchFamily="34" charset="0"/>
              </a:rPr>
              <a:t>Database query performance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accent1"/>
                </a:solidFill>
                <a:effectLst/>
                <a:latin typeface="Arial" panose="020B0604020202020204" pitchFamily="34" charset="0"/>
              </a:rPr>
              <a:t>Transaction processing delay </a:t>
            </a:r>
          </a:p>
          <a:p>
            <a:endParaRPr lang="en-US" sz="2000" dirty="0">
              <a:solidFill>
                <a:schemeClr val="accent1"/>
              </a:solidFill>
            </a:endParaRPr>
          </a:p>
        </p:txBody>
      </p:sp>
    </p:spTree>
    <p:extLst>
      <p:ext uri="{BB962C8B-B14F-4D97-AF65-F5344CB8AC3E}">
        <p14:creationId xmlns:p14="http://schemas.microsoft.com/office/powerpoint/2010/main" val="552873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A00FD-DC80-EF2A-BB5B-3108B4AD0FEF}"/>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E16FADA9-DC98-8754-0F19-49F2EA7A032D}"/>
              </a:ext>
            </a:extLst>
          </p:cNvPr>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z="2000" b="0" spc="-30" dirty="0">
                <a:solidFill>
                  <a:srgbClr val="FFFFFF"/>
                </a:solidFill>
                <a:latin typeface="Calibri"/>
                <a:cs typeface="Calibri"/>
              </a:rPr>
              <a:t>DEPARTMENT</a:t>
            </a:r>
            <a:r>
              <a:rPr sz="2000" b="0" spc="-80" dirty="0">
                <a:solidFill>
                  <a:srgbClr val="FFFFFF"/>
                </a:solidFill>
                <a:latin typeface="Calibri"/>
                <a:cs typeface="Calibri"/>
              </a:rPr>
              <a:t> </a:t>
            </a:r>
            <a:r>
              <a:rPr sz="2000" b="0" dirty="0">
                <a:solidFill>
                  <a:srgbClr val="FFFFFF"/>
                </a:solidFill>
                <a:latin typeface="Calibri"/>
                <a:cs typeface="Calibri"/>
              </a:rPr>
              <a:t>OF</a:t>
            </a:r>
            <a:r>
              <a:rPr sz="2000" b="0" spc="-5" dirty="0">
                <a:solidFill>
                  <a:srgbClr val="FFFFFF"/>
                </a:solidFill>
                <a:latin typeface="Calibri"/>
                <a:cs typeface="Calibri"/>
              </a:rPr>
              <a:t> </a:t>
            </a:r>
            <a:r>
              <a:rPr sz="2000" b="0" dirty="0">
                <a:solidFill>
                  <a:srgbClr val="FFFFFF"/>
                </a:solidFill>
                <a:latin typeface="Calibri"/>
                <a:cs typeface="Calibri"/>
              </a:rPr>
              <a:t>COMPUTER</a:t>
            </a:r>
            <a:r>
              <a:rPr sz="2000" b="0" spc="-30" dirty="0">
                <a:solidFill>
                  <a:srgbClr val="FFFFFF"/>
                </a:solidFill>
                <a:latin typeface="Calibri"/>
                <a:cs typeface="Calibri"/>
              </a:rPr>
              <a:t> </a:t>
            </a:r>
            <a:r>
              <a:rPr sz="2000" b="0" spc="-10" dirty="0">
                <a:solidFill>
                  <a:srgbClr val="FFFFFF"/>
                </a:solidFill>
                <a:latin typeface="Calibri"/>
                <a:cs typeface="Calibri"/>
              </a:rPr>
              <a:t>SCIENCE</a:t>
            </a:r>
            <a:r>
              <a:rPr sz="2000" b="0" spc="-85" dirty="0">
                <a:solidFill>
                  <a:srgbClr val="FFFFFF"/>
                </a:solidFill>
                <a:latin typeface="Calibri"/>
                <a:cs typeface="Calibri"/>
              </a:rPr>
              <a:t> </a:t>
            </a:r>
            <a:r>
              <a:rPr sz="2000" b="0" dirty="0">
                <a:solidFill>
                  <a:srgbClr val="FFFFFF"/>
                </a:solidFill>
                <a:latin typeface="Calibri"/>
                <a:cs typeface="Calibri"/>
              </a:rPr>
              <a:t>AND</a:t>
            </a:r>
            <a:r>
              <a:rPr sz="2000" b="0" spc="-40" dirty="0">
                <a:solidFill>
                  <a:srgbClr val="FFFFFF"/>
                </a:solidFill>
                <a:latin typeface="Calibri"/>
                <a:cs typeface="Calibri"/>
              </a:rPr>
              <a:t> </a:t>
            </a:r>
            <a:r>
              <a:rPr sz="2000" b="0" spc="-10" dirty="0">
                <a:solidFill>
                  <a:srgbClr val="FFFFFF"/>
                </a:solidFill>
                <a:latin typeface="Calibri"/>
                <a:cs typeface="Calibri"/>
              </a:rPr>
              <a:t>ENGINEERING</a:t>
            </a:r>
            <a:endParaRPr sz="2000">
              <a:latin typeface="Calibri"/>
              <a:cs typeface="Calibri"/>
            </a:endParaRPr>
          </a:p>
        </p:txBody>
      </p:sp>
      <p:sp>
        <p:nvSpPr>
          <p:cNvPr id="14" name="object 14">
            <a:extLst>
              <a:ext uri="{FF2B5EF4-FFF2-40B4-BE49-F238E27FC236}">
                <a16:creationId xmlns:a16="http://schemas.microsoft.com/office/drawing/2014/main" id="{7522733A-9220-C157-64EA-0818B4F6B6B1}"/>
              </a:ext>
            </a:extLst>
          </p:cNvPr>
          <p:cNvSpPr txBox="1"/>
          <p:nvPr/>
        </p:nvSpPr>
        <p:spPr>
          <a:xfrm>
            <a:off x="13603986" y="7598779"/>
            <a:ext cx="278765" cy="269304"/>
          </a:xfrm>
          <a:prstGeom prst="rect">
            <a:avLst/>
          </a:prstGeom>
        </p:spPr>
        <p:txBody>
          <a:bodyPr vert="horz" wrap="square" lIns="0" tIns="0" rIns="0" bIns="0" rtlCol="0">
            <a:spAutoFit/>
          </a:bodyPr>
          <a:lstStyle/>
          <a:p>
            <a:pPr marL="12700">
              <a:lnSpc>
                <a:spcPts val="2090"/>
              </a:lnSpc>
            </a:pPr>
            <a:r>
              <a:rPr sz="1800" spc="-25" dirty="0">
                <a:solidFill>
                  <a:srgbClr val="888888"/>
                </a:solidFill>
                <a:latin typeface="Arial MT"/>
                <a:cs typeface="Arial MT"/>
              </a:rPr>
              <a:t>1</a:t>
            </a:r>
            <a:r>
              <a:rPr lang="en-US" sz="1800" spc="-25" dirty="0">
                <a:solidFill>
                  <a:srgbClr val="888888"/>
                </a:solidFill>
                <a:latin typeface="Arial MT"/>
                <a:cs typeface="Arial MT"/>
              </a:rPr>
              <a:t>2</a:t>
            </a:r>
            <a:endParaRPr sz="1800" dirty="0">
              <a:latin typeface="Arial MT"/>
              <a:cs typeface="Arial MT"/>
            </a:endParaRPr>
          </a:p>
        </p:txBody>
      </p:sp>
      <p:sp>
        <p:nvSpPr>
          <p:cNvPr id="3" name="TextBox 2">
            <a:extLst>
              <a:ext uri="{FF2B5EF4-FFF2-40B4-BE49-F238E27FC236}">
                <a16:creationId xmlns:a16="http://schemas.microsoft.com/office/drawing/2014/main" id="{D50829C7-A417-7891-D37E-895CD51817E1}"/>
              </a:ext>
            </a:extLst>
          </p:cNvPr>
          <p:cNvSpPr txBox="1"/>
          <p:nvPr/>
        </p:nvSpPr>
        <p:spPr>
          <a:xfrm>
            <a:off x="657226" y="7745532"/>
            <a:ext cx="2743200" cy="276999"/>
          </a:xfrm>
          <a:prstGeom prst="rect">
            <a:avLst/>
          </a:prstGeom>
          <a:noFill/>
        </p:spPr>
        <p:txBody>
          <a:bodyPr wrap="square" rtlCol="0">
            <a:spAutoFit/>
          </a:bodyPr>
          <a:lstStyle/>
          <a:p>
            <a:r>
              <a:rPr lang="en-US" sz="1200" dirty="0">
                <a:solidFill>
                  <a:schemeClr val="bg1">
                    <a:lumMod val="50000"/>
                  </a:schemeClr>
                </a:solidFill>
              </a:rPr>
              <a:t>ASSET TOKENIZATION</a:t>
            </a:r>
            <a:endParaRPr lang="en-IN" sz="1200" dirty="0">
              <a:solidFill>
                <a:schemeClr val="bg1">
                  <a:lumMod val="50000"/>
                </a:schemeClr>
              </a:solidFill>
            </a:endParaRPr>
          </a:p>
        </p:txBody>
      </p:sp>
      <p:pic>
        <p:nvPicPr>
          <p:cNvPr id="5" name="Picture 4">
            <a:extLst>
              <a:ext uri="{FF2B5EF4-FFF2-40B4-BE49-F238E27FC236}">
                <a16:creationId xmlns:a16="http://schemas.microsoft.com/office/drawing/2014/main" id="{0246A538-B8EC-D4AE-C7C8-00BDDCA6AE2A}"/>
              </a:ext>
            </a:extLst>
          </p:cNvPr>
          <p:cNvPicPr>
            <a:picLocks noChangeAspect="1"/>
          </p:cNvPicPr>
          <p:nvPr/>
        </p:nvPicPr>
        <p:blipFill>
          <a:blip r:embed="rId2"/>
          <a:stretch>
            <a:fillRect/>
          </a:stretch>
        </p:blipFill>
        <p:spPr>
          <a:xfrm>
            <a:off x="6222" y="0"/>
            <a:ext cx="14624177" cy="723900"/>
          </a:xfrm>
          <a:prstGeom prst="rect">
            <a:avLst/>
          </a:prstGeom>
        </p:spPr>
      </p:pic>
      <p:sp>
        <p:nvSpPr>
          <p:cNvPr id="4" name="TextBox 3">
            <a:extLst>
              <a:ext uri="{FF2B5EF4-FFF2-40B4-BE49-F238E27FC236}">
                <a16:creationId xmlns:a16="http://schemas.microsoft.com/office/drawing/2014/main" id="{1C915B34-1C7C-1436-B10B-A743C600DED0}"/>
              </a:ext>
            </a:extLst>
          </p:cNvPr>
          <p:cNvSpPr txBox="1"/>
          <p:nvPr/>
        </p:nvSpPr>
        <p:spPr>
          <a:xfrm>
            <a:off x="1030987" y="1143000"/>
            <a:ext cx="12572999" cy="53245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l">
              <a:buFont typeface="Arial" panose="020B0604020202020204" pitchFamily="34" charset="0"/>
              <a:buChar char="•"/>
            </a:pPr>
            <a:endParaRPr lang="en-US" sz="2400" dirty="0">
              <a:solidFill>
                <a:schemeClr val="accent1"/>
              </a:solidFill>
            </a:endParaRPr>
          </a:p>
          <a:p>
            <a:pPr algn="l"/>
            <a:r>
              <a:rPr lang="en-US" sz="2400" dirty="0">
                <a:solidFill>
                  <a:schemeClr val="accent1"/>
                </a:solidFill>
              </a:rPr>
              <a:t>Security Testing :</a:t>
            </a:r>
          </a:p>
          <a:p>
            <a:pPr marL="342900" indent="-342900">
              <a:buFont typeface="Arial" panose="020B0604020202020204" pitchFamily="34" charset="0"/>
              <a:buChar char="•"/>
            </a:pPr>
            <a:r>
              <a:rPr lang="en-US" sz="2000" dirty="0">
                <a:solidFill>
                  <a:schemeClr val="accent1"/>
                </a:solidFill>
              </a:rPr>
              <a:t>Input validation (prevent invalid data) </a:t>
            </a:r>
          </a:p>
          <a:p>
            <a:pPr marL="342900" indent="-342900">
              <a:buFont typeface="Arial" panose="020B0604020202020204" pitchFamily="34" charset="0"/>
              <a:buChar char="•"/>
            </a:pPr>
            <a:r>
              <a:rPr lang="en-US" sz="2000" dirty="0">
                <a:solidFill>
                  <a:schemeClr val="accent1"/>
                </a:solidFill>
              </a:rPr>
              <a:t>Protection against unauthorized access </a:t>
            </a:r>
          </a:p>
          <a:p>
            <a:pPr marL="342900" indent="-342900">
              <a:buFont typeface="Arial" panose="020B0604020202020204" pitchFamily="34" charset="0"/>
              <a:buChar char="•"/>
            </a:pPr>
            <a:r>
              <a:rPr lang="en-US" sz="2000" dirty="0">
                <a:solidFill>
                  <a:schemeClr val="accent1"/>
                </a:solidFill>
              </a:rPr>
              <a:t>Smart contract vulnerability checks </a:t>
            </a:r>
          </a:p>
          <a:p>
            <a:pPr marL="342900" indent="-342900">
              <a:buFont typeface="Arial" panose="020B0604020202020204" pitchFamily="34" charset="0"/>
              <a:buChar char="•"/>
            </a:pPr>
            <a:r>
              <a:rPr lang="en-US" sz="2000" dirty="0">
                <a:solidFill>
                  <a:schemeClr val="accent1"/>
                </a:solidFill>
              </a:rPr>
              <a:t>Wallet transaction security </a:t>
            </a:r>
          </a:p>
          <a:p>
            <a:pPr algn="l"/>
            <a:endParaRPr lang="en-US" sz="2000" dirty="0">
              <a:solidFill>
                <a:schemeClr val="accent1"/>
              </a:solidFill>
            </a:endParaRPr>
          </a:p>
          <a:p>
            <a:pPr algn="l"/>
            <a:r>
              <a:rPr lang="en-US" sz="2400" dirty="0">
                <a:solidFill>
                  <a:schemeClr val="accent1"/>
                </a:solidFill>
              </a:rPr>
              <a:t>Integration Testing : </a:t>
            </a:r>
          </a:p>
          <a:p>
            <a:pPr marL="342900" indent="-342900">
              <a:buFont typeface="Arial" panose="020B0604020202020204" pitchFamily="34" charset="0"/>
              <a:buChar char="•"/>
            </a:pPr>
            <a:r>
              <a:rPr lang="en-IN" sz="2000" dirty="0">
                <a:solidFill>
                  <a:schemeClr val="accent1"/>
                </a:solidFill>
              </a:rPr>
              <a:t>Frontend - Backend communication </a:t>
            </a:r>
          </a:p>
          <a:p>
            <a:pPr marL="342900" indent="-342900">
              <a:buFont typeface="Arial" panose="020B0604020202020204" pitchFamily="34" charset="0"/>
              <a:buChar char="•"/>
            </a:pPr>
            <a:r>
              <a:rPr lang="en-IN" sz="2000" dirty="0">
                <a:solidFill>
                  <a:schemeClr val="accent1"/>
                </a:solidFill>
              </a:rPr>
              <a:t>Backend - Blockchain interaction </a:t>
            </a:r>
          </a:p>
          <a:p>
            <a:pPr marL="342900" indent="-342900">
              <a:buFont typeface="Arial" panose="020B0604020202020204" pitchFamily="34" charset="0"/>
              <a:buChar char="•"/>
            </a:pPr>
            <a:r>
              <a:rPr lang="en-IN" sz="2000" dirty="0">
                <a:solidFill>
                  <a:schemeClr val="accent1"/>
                </a:solidFill>
              </a:rPr>
              <a:t>MetaMask - Smart contract execution </a:t>
            </a:r>
          </a:p>
          <a:p>
            <a:pPr algn="l"/>
            <a:endParaRPr lang="en-US" sz="2400" dirty="0">
              <a:solidFill>
                <a:schemeClr val="accent1"/>
              </a:solidFill>
            </a:endParaRPr>
          </a:p>
          <a:p>
            <a:pPr algn="l"/>
            <a:r>
              <a:rPr lang="en-US" sz="2400" dirty="0">
                <a:solidFill>
                  <a:schemeClr val="accent1"/>
                </a:solidFill>
              </a:rPr>
              <a:t>Usability Testing : </a:t>
            </a:r>
          </a:p>
          <a:p>
            <a:pPr marL="342900" indent="-342900">
              <a:buFont typeface="Arial" panose="020B0604020202020204" pitchFamily="34" charset="0"/>
              <a:buChar char="•"/>
            </a:pPr>
            <a:r>
              <a:rPr lang="en-US" sz="2000" dirty="0">
                <a:solidFill>
                  <a:schemeClr val="accent1"/>
                </a:solidFill>
              </a:rPr>
              <a:t>Ease of navigation </a:t>
            </a:r>
          </a:p>
          <a:p>
            <a:pPr marL="342900" indent="-342900">
              <a:buFont typeface="Arial" panose="020B0604020202020204" pitchFamily="34" charset="0"/>
              <a:buChar char="•"/>
            </a:pPr>
            <a:r>
              <a:rPr lang="en-US" sz="2000" dirty="0">
                <a:solidFill>
                  <a:schemeClr val="accent1"/>
                </a:solidFill>
              </a:rPr>
              <a:t>User interface responsiveness </a:t>
            </a:r>
          </a:p>
          <a:p>
            <a:pPr marL="342900" indent="-342900">
              <a:buFont typeface="Arial" panose="020B0604020202020204" pitchFamily="34" charset="0"/>
              <a:buChar char="•"/>
            </a:pPr>
            <a:r>
              <a:rPr lang="en-US" sz="2000" dirty="0">
                <a:solidFill>
                  <a:schemeClr val="accent1"/>
                </a:solidFill>
              </a:rPr>
              <a:t>Clarity of transaction feedback </a:t>
            </a:r>
          </a:p>
        </p:txBody>
      </p:sp>
    </p:spTree>
    <p:extLst>
      <p:ext uri="{BB962C8B-B14F-4D97-AF65-F5344CB8AC3E}">
        <p14:creationId xmlns:p14="http://schemas.microsoft.com/office/powerpoint/2010/main" val="1914939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D44A7-94D4-5DA5-ACB8-C811CB7CF50B}"/>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63105CC6-0C2B-6CE9-3CEB-1C26C148498D}"/>
              </a:ext>
            </a:extLst>
          </p:cNvPr>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z="2000" b="0" spc="-30" dirty="0">
                <a:solidFill>
                  <a:srgbClr val="FFFFFF"/>
                </a:solidFill>
                <a:latin typeface="Calibri"/>
                <a:cs typeface="Calibri"/>
              </a:rPr>
              <a:t>DEPARTMENT</a:t>
            </a:r>
            <a:r>
              <a:rPr sz="2000" b="0" spc="-80" dirty="0">
                <a:solidFill>
                  <a:srgbClr val="FFFFFF"/>
                </a:solidFill>
                <a:latin typeface="Calibri"/>
                <a:cs typeface="Calibri"/>
              </a:rPr>
              <a:t> </a:t>
            </a:r>
            <a:r>
              <a:rPr sz="2000" b="0" dirty="0">
                <a:solidFill>
                  <a:srgbClr val="FFFFFF"/>
                </a:solidFill>
                <a:latin typeface="Calibri"/>
                <a:cs typeface="Calibri"/>
              </a:rPr>
              <a:t>OF</a:t>
            </a:r>
            <a:r>
              <a:rPr sz="2000" b="0" spc="-5" dirty="0">
                <a:solidFill>
                  <a:srgbClr val="FFFFFF"/>
                </a:solidFill>
                <a:latin typeface="Calibri"/>
                <a:cs typeface="Calibri"/>
              </a:rPr>
              <a:t> </a:t>
            </a:r>
            <a:r>
              <a:rPr sz="2000" b="0" dirty="0">
                <a:solidFill>
                  <a:srgbClr val="FFFFFF"/>
                </a:solidFill>
                <a:latin typeface="Calibri"/>
                <a:cs typeface="Calibri"/>
              </a:rPr>
              <a:t>COMPUTER</a:t>
            </a:r>
            <a:r>
              <a:rPr sz="2000" b="0" spc="-30" dirty="0">
                <a:solidFill>
                  <a:srgbClr val="FFFFFF"/>
                </a:solidFill>
                <a:latin typeface="Calibri"/>
                <a:cs typeface="Calibri"/>
              </a:rPr>
              <a:t> </a:t>
            </a:r>
            <a:r>
              <a:rPr sz="2000" b="0" spc="-10" dirty="0">
                <a:solidFill>
                  <a:srgbClr val="FFFFFF"/>
                </a:solidFill>
                <a:latin typeface="Calibri"/>
                <a:cs typeface="Calibri"/>
              </a:rPr>
              <a:t>SCIENCE</a:t>
            </a:r>
            <a:r>
              <a:rPr sz="2000" b="0" spc="-85" dirty="0">
                <a:solidFill>
                  <a:srgbClr val="FFFFFF"/>
                </a:solidFill>
                <a:latin typeface="Calibri"/>
                <a:cs typeface="Calibri"/>
              </a:rPr>
              <a:t> </a:t>
            </a:r>
            <a:r>
              <a:rPr sz="2000" b="0" dirty="0">
                <a:solidFill>
                  <a:srgbClr val="FFFFFF"/>
                </a:solidFill>
                <a:latin typeface="Calibri"/>
                <a:cs typeface="Calibri"/>
              </a:rPr>
              <a:t>AND</a:t>
            </a:r>
            <a:r>
              <a:rPr sz="2000" b="0" spc="-40" dirty="0">
                <a:solidFill>
                  <a:srgbClr val="FFFFFF"/>
                </a:solidFill>
                <a:latin typeface="Calibri"/>
                <a:cs typeface="Calibri"/>
              </a:rPr>
              <a:t> </a:t>
            </a:r>
            <a:r>
              <a:rPr sz="2000" b="0" spc="-10" dirty="0">
                <a:solidFill>
                  <a:srgbClr val="FFFFFF"/>
                </a:solidFill>
                <a:latin typeface="Calibri"/>
                <a:cs typeface="Calibri"/>
              </a:rPr>
              <a:t>ENGINEERING</a:t>
            </a:r>
            <a:endParaRPr sz="2000">
              <a:latin typeface="Calibri"/>
              <a:cs typeface="Calibri"/>
            </a:endParaRPr>
          </a:p>
        </p:txBody>
      </p:sp>
      <p:sp>
        <p:nvSpPr>
          <p:cNvPr id="14" name="object 14">
            <a:extLst>
              <a:ext uri="{FF2B5EF4-FFF2-40B4-BE49-F238E27FC236}">
                <a16:creationId xmlns:a16="http://schemas.microsoft.com/office/drawing/2014/main" id="{0A382195-359A-C16A-5225-A35A60CD517B}"/>
              </a:ext>
            </a:extLst>
          </p:cNvPr>
          <p:cNvSpPr txBox="1"/>
          <p:nvPr/>
        </p:nvSpPr>
        <p:spPr>
          <a:xfrm>
            <a:off x="13603986" y="7598779"/>
            <a:ext cx="278765" cy="269304"/>
          </a:xfrm>
          <a:prstGeom prst="rect">
            <a:avLst/>
          </a:prstGeom>
        </p:spPr>
        <p:txBody>
          <a:bodyPr vert="horz" wrap="square" lIns="0" tIns="0" rIns="0" bIns="0" rtlCol="0">
            <a:spAutoFit/>
          </a:bodyPr>
          <a:lstStyle/>
          <a:p>
            <a:pPr marL="12700">
              <a:lnSpc>
                <a:spcPts val="2090"/>
              </a:lnSpc>
            </a:pPr>
            <a:r>
              <a:rPr sz="1800" spc="-25" dirty="0">
                <a:solidFill>
                  <a:srgbClr val="888888"/>
                </a:solidFill>
                <a:latin typeface="Arial MT"/>
                <a:cs typeface="Arial MT"/>
              </a:rPr>
              <a:t>1</a:t>
            </a:r>
            <a:r>
              <a:rPr lang="en-US" sz="1800" spc="-25" dirty="0">
                <a:solidFill>
                  <a:srgbClr val="888888"/>
                </a:solidFill>
                <a:latin typeface="Arial MT"/>
                <a:cs typeface="Arial MT"/>
              </a:rPr>
              <a:t>3</a:t>
            </a:r>
            <a:endParaRPr sz="1800" dirty="0">
              <a:latin typeface="Arial MT"/>
              <a:cs typeface="Arial MT"/>
            </a:endParaRPr>
          </a:p>
        </p:txBody>
      </p:sp>
      <p:sp>
        <p:nvSpPr>
          <p:cNvPr id="3" name="TextBox 2">
            <a:extLst>
              <a:ext uri="{FF2B5EF4-FFF2-40B4-BE49-F238E27FC236}">
                <a16:creationId xmlns:a16="http://schemas.microsoft.com/office/drawing/2014/main" id="{9820FD5E-BE42-1A2C-2A1E-A92D84DBD2AD}"/>
              </a:ext>
            </a:extLst>
          </p:cNvPr>
          <p:cNvSpPr txBox="1"/>
          <p:nvPr/>
        </p:nvSpPr>
        <p:spPr>
          <a:xfrm>
            <a:off x="657226" y="7745532"/>
            <a:ext cx="2743200" cy="276999"/>
          </a:xfrm>
          <a:prstGeom prst="rect">
            <a:avLst/>
          </a:prstGeom>
          <a:noFill/>
        </p:spPr>
        <p:txBody>
          <a:bodyPr wrap="square" rtlCol="0">
            <a:spAutoFit/>
          </a:bodyPr>
          <a:lstStyle/>
          <a:p>
            <a:r>
              <a:rPr lang="en-US" sz="1200" dirty="0">
                <a:solidFill>
                  <a:schemeClr val="bg1">
                    <a:lumMod val="50000"/>
                  </a:schemeClr>
                </a:solidFill>
              </a:rPr>
              <a:t>ASSET TOKENIZATION</a:t>
            </a:r>
            <a:endParaRPr lang="en-IN" sz="1200" dirty="0">
              <a:solidFill>
                <a:schemeClr val="bg1">
                  <a:lumMod val="50000"/>
                </a:schemeClr>
              </a:solidFill>
            </a:endParaRPr>
          </a:p>
        </p:txBody>
      </p:sp>
      <p:pic>
        <p:nvPicPr>
          <p:cNvPr id="5" name="Picture 4">
            <a:extLst>
              <a:ext uri="{FF2B5EF4-FFF2-40B4-BE49-F238E27FC236}">
                <a16:creationId xmlns:a16="http://schemas.microsoft.com/office/drawing/2014/main" id="{62549DF9-A33A-547C-66AA-56B9A37FFAD9}"/>
              </a:ext>
            </a:extLst>
          </p:cNvPr>
          <p:cNvPicPr>
            <a:picLocks noChangeAspect="1"/>
          </p:cNvPicPr>
          <p:nvPr/>
        </p:nvPicPr>
        <p:blipFill>
          <a:blip r:embed="rId2"/>
          <a:stretch>
            <a:fillRect/>
          </a:stretch>
        </p:blipFill>
        <p:spPr>
          <a:xfrm>
            <a:off x="6222" y="0"/>
            <a:ext cx="14624177" cy="723900"/>
          </a:xfrm>
          <a:prstGeom prst="rect">
            <a:avLst/>
          </a:prstGeom>
        </p:spPr>
      </p:pic>
      <p:sp>
        <p:nvSpPr>
          <p:cNvPr id="4" name="object 9">
            <a:extLst>
              <a:ext uri="{FF2B5EF4-FFF2-40B4-BE49-F238E27FC236}">
                <a16:creationId xmlns:a16="http://schemas.microsoft.com/office/drawing/2014/main" id="{412EBF88-0A50-F481-648E-30A178BBEAA6}"/>
              </a:ext>
            </a:extLst>
          </p:cNvPr>
          <p:cNvSpPr txBox="1">
            <a:spLocks/>
          </p:cNvSpPr>
          <p:nvPr/>
        </p:nvSpPr>
        <p:spPr>
          <a:xfrm>
            <a:off x="3493770" y="713358"/>
            <a:ext cx="7355840" cy="482600"/>
          </a:xfrm>
          <a:prstGeom prst="rect">
            <a:avLst/>
          </a:prstGeom>
        </p:spPr>
        <p:txBody>
          <a:bodyPr vert="horz" wrap="square" lIns="0" tIns="12700" rIns="0" bIns="0" rtlCol="0">
            <a:spAutoFit/>
          </a:bodyPr>
          <a:lstStyle>
            <a:lvl1pPr>
              <a:defRPr sz="3000" b="1" i="0">
                <a:solidFill>
                  <a:schemeClr val="tx1"/>
                </a:solidFill>
                <a:latin typeface="Times New Roman"/>
                <a:ea typeface="+mj-ea"/>
                <a:cs typeface="Times New Roman"/>
              </a:defRPr>
            </a:lvl1pPr>
          </a:lstStyle>
          <a:p>
            <a:pPr marL="1245870">
              <a:spcBef>
                <a:spcPts val="100"/>
              </a:spcBef>
            </a:pPr>
            <a:r>
              <a:rPr lang="en-IN"/>
              <a:t>ARCHITECTURE</a:t>
            </a:r>
            <a:r>
              <a:rPr lang="en-IN" spc="-35"/>
              <a:t> </a:t>
            </a:r>
            <a:r>
              <a:rPr lang="en-IN" spc="-10"/>
              <a:t>DIAGRAM</a:t>
            </a:r>
            <a:endParaRPr lang="en-IN" spc="-10" dirty="0"/>
          </a:p>
        </p:txBody>
      </p:sp>
      <p:pic>
        <p:nvPicPr>
          <p:cNvPr id="6" name="Picture 5">
            <a:extLst>
              <a:ext uri="{FF2B5EF4-FFF2-40B4-BE49-F238E27FC236}">
                <a16:creationId xmlns:a16="http://schemas.microsoft.com/office/drawing/2014/main" id="{3897CE81-7450-55D4-23A9-8AF602714C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4600" y="1459214"/>
            <a:ext cx="9719999" cy="6480000"/>
          </a:xfrm>
          <a:prstGeom prst="rect">
            <a:avLst/>
          </a:prstGeom>
        </p:spPr>
      </p:pic>
    </p:spTree>
    <p:extLst>
      <p:ext uri="{BB962C8B-B14F-4D97-AF65-F5344CB8AC3E}">
        <p14:creationId xmlns:p14="http://schemas.microsoft.com/office/powerpoint/2010/main" val="28469332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object 11"/>
          <p:cNvSpPr txBox="1"/>
          <p:nvPr/>
        </p:nvSpPr>
        <p:spPr>
          <a:xfrm>
            <a:off x="4183760" y="84582"/>
            <a:ext cx="5966460" cy="330835"/>
          </a:xfrm>
          <a:prstGeom prst="rect">
            <a:avLst/>
          </a:prstGeom>
        </p:spPr>
        <p:txBody>
          <a:bodyPr vert="horz" wrap="square" lIns="0" tIns="12700" rIns="0" bIns="0" rtlCol="0">
            <a:spAutoFit/>
          </a:bodyPr>
          <a:lstStyle/>
          <a:p>
            <a:pPr marL="12700">
              <a:lnSpc>
                <a:spcPct val="100000"/>
              </a:lnSpc>
              <a:spcBef>
                <a:spcPts val="100"/>
              </a:spcBef>
            </a:pPr>
            <a:r>
              <a:rPr sz="2000" spc="-30" dirty="0">
                <a:solidFill>
                  <a:srgbClr val="FFFFFF"/>
                </a:solidFill>
                <a:latin typeface="Calibri"/>
                <a:cs typeface="Calibri"/>
              </a:rPr>
              <a:t>DEPARTMENT</a:t>
            </a:r>
            <a:r>
              <a:rPr sz="2000" spc="-90" dirty="0">
                <a:solidFill>
                  <a:srgbClr val="FFFFFF"/>
                </a:solidFill>
                <a:latin typeface="Calibri"/>
                <a:cs typeface="Calibri"/>
              </a:rPr>
              <a:t> </a:t>
            </a:r>
            <a:r>
              <a:rPr sz="2000" dirty="0">
                <a:solidFill>
                  <a:srgbClr val="FFFFFF"/>
                </a:solidFill>
                <a:latin typeface="Calibri"/>
                <a:cs typeface="Calibri"/>
              </a:rPr>
              <a:t>OF</a:t>
            </a:r>
            <a:r>
              <a:rPr sz="2000" spc="-40" dirty="0">
                <a:solidFill>
                  <a:srgbClr val="FFFFFF"/>
                </a:solidFill>
                <a:latin typeface="Calibri"/>
                <a:cs typeface="Calibri"/>
              </a:rPr>
              <a:t> </a:t>
            </a:r>
            <a:r>
              <a:rPr sz="2000" dirty="0">
                <a:solidFill>
                  <a:srgbClr val="FFFFFF"/>
                </a:solidFill>
                <a:latin typeface="Calibri"/>
                <a:cs typeface="Calibri"/>
              </a:rPr>
              <a:t>COMPUTER</a:t>
            </a:r>
            <a:r>
              <a:rPr sz="2000" spc="-60" dirty="0">
                <a:solidFill>
                  <a:srgbClr val="FFFFFF"/>
                </a:solidFill>
                <a:latin typeface="Calibri"/>
                <a:cs typeface="Calibri"/>
              </a:rPr>
              <a:t> </a:t>
            </a:r>
            <a:r>
              <a:rPr sz="2000" dirty="0">
                <a:solidFill>
                  <a:srgbClr val="FFFFFF"/>
                </a:solidFill>
                <a:latin typeface="Calibri"/>
                <a:cs typeface="Calibri"/>
              </a:rPr>
              <a:t>SCIENCE</a:t>
            </a:r>
            <a:r>
              <a:rPr sz="2000" spc="-85" dirty="0">
                <a:solidFill>
                  <a:srgbClr val="FFFFFF"/>
                </a:solidFill>
                <a:latin typeface="Calibri"/>
                <a:cs typeface="Calibri"/>
              </a:rPr>
              <a:t> </a:t>
            </a:r>
            <a:r>
              <a:rPr sz="2000" dirty="0">
                <a:solidFill>
                  <a:srgbClr val="FFFFFF"/>
                </a:solidFill>
                <a:latin typeface="Calibri"/>
                <a:cs typeface="Calibri"/>
              </a:rPr>
              <a:t>AND</a:t>
            </a:r>
            <a:r>
              <a:rPr sz="2000" spc="-55" dirty="0">
                <a:solidFill>
                  <a:srgbClr val="FFFFFF"/>
                </a:solidFill>
                <a:latin typeface="Calibri"/>
                <a:cs typeface="Calibri"/>
              </a:rPr>
              <a:t> </a:t>
            </a:r>
            <a:r>
              <a:rPr sz="2000" spc="-10" dirty="0">
                <a:solidFill>
                  <a:srgbClr val="FFFFFF"/>
                </a:solidFill>
                <a:latin typeface="Calibri"/>
                <a:cs typeface="Calibri"/>
              </a:rPr>
              <a:t>ENGINEERING</a:t>
            </a:r>
            <a:endParaRPr sz="2000">
              <a:latin typeface="Calibri"/>
              <a:cs typeface="Calibri"/>
            </a:endParaRPr>
          </a:p>
        </p:txBody>
      </p:sp>
      <p:sp>
        <p:nvSpPr>
          <p:cNvPr id="15" name="object 15"/>
          <p:cNvSpPr txBox="1"/>
          <p:nvPr/>
        </p:nvSpPr>
        <p:spPr>
          <a:xfrm>
            <a:off x="13908786" y="7657910"/>
            <a:ext cx="278765" cy="269304"/>
          </a:xfrm>
          <a:prstGeom prst="rect">
            <a:avLst/>
          </a:prstGeom>
        </p:spPr>
        <p:txBody>
          <a:bodyPr vert="horz" wrap="square" lIns="0" tIns="0" rIns="0" bIns="0" rtlCol="0">
            <a:spAutoFit/>
          </a:bodyPr>
          <a:lstStyle/>
          <a:p>
            <a:pPr marL="12700">
              <a:lnSpc>
                <a:spcPts val="2090"/>
              </a:lnSpc>
            </a:pPr>
            <a:r>
              <a:rPr sz="1800" spc="-25" dirty="0">
                <a:solidFill>
                  <a:srgbClr val="888888"/>
                </a:solidFill>
                <a:latin typeface="Arial MT"/>
                <a:cs typeface="Arial MT"/>
              </a:rPr>
              <a:t>1</a:t>
            </a:r>
            <a:r>
              <a:rPr lang="en-US" sz="1800" spc="-25" dirty="0">
                <a:solidFill>
                  <a:srgbClr val="888888"/>
                </a:solidFill>
                <a:latin typeface="Arial MT"/>
                <a:cs typeface="Arial MT"/>
              </a:rPr>
              <a:t>4</a:t>
            </a:r>
            <a:endParaRPr sz="1800" dirty="0">
              <a:latin typeface="Arial MT"/>
              <a:cs typeface="Arial MT"/>
            </a:endParaRPr>
          </a:p>
        </p:txBody>
      </p:sp>
      <p:sp>
        <p:nvSpPr>
          <p:cNvPr id="17" name="Title 16">
            <a:extLst>
              <a:ext uri="{FF2B5EF4-FFF2-40B4-BE49-F238E27FC236}">
                <a16:creationId xmlns:a16="http://schemas.microsoft.com/office/drawing/2014/main" id="{7C049348-167E-BB0D-04B3-FAADE439055B}"/>
              </a:ext>
            </a:extLst>
          </p:cNvPr>
          <p:cNvSpPr>
            <a:spLocks noGrp="1"/>
          </p:cNvSpPr>
          <p:nvPr>
            <p:ph type="title"/>
          </p:nvPr>
        </p:nvSpPr>
        <p:spPr>
          <a:xfrm>
            <a:off x="2510360" y="799622"/>
            <a:ext cx="8494526" cy="461665"/>
          </a:xfrm>
        </p:spPr>
        <p:txBody>
          <a:bodyPr wrap="square" lIns="0" tIns="0" rIns="0" bIns="0" anchor="t">
            <a:spAutoFit/>
          </a:bodyPr>
          <a:lstStyle/>
          <a:p>
            <a:r>
              <a:rPr lang="en-US"/>
              <a:t>SOFTWARE /HARDWARE REQUIREMENTS</a:t>
            </a:r>
            <a:endParaRPr lang="en-US" dirty="0"/>
          </a:p>
        </p:txBody>
      </p:sp>
      <p:sp>
        <p:nvSpPr>
          <p:cNvPr id="20" name="TextBox 19">
            <a:extLst>
              <a:ext uri="{FF2B5EF4-FFF2-40B4-BE49-F238E27FC236}">
                <a16:creationId xmlns:a16="http://schemas.microsoft.com/office/drawing/2014/main" id="{0F5C674C-9B15-1C4D-F70F-36A91154D07C}"/>
              </a:ext>
            </a:extLst>
          </p:cNvPr>
          <p:cNvSpPr txBox="1"/>
          <p:nvPr/>
        </p:nvSpPr>
        <p:spPr>
          <a:xfrm>
            <a:off x="1823314" y="1654803"/>
            <a:ext cx="9868618"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u="sng" dirty="0">
                <a:solidFill>
                  <a:schemeClr val="accent1"/>
                </a:solidFill>
              </a:rPr>
              <a:t>SOFTWARE REQUIREMENTS:</a:t>
            </a:r>
            <a:r>
              <a:rPr lang="en-US" sz="2400" dirty="0">
                <a:solidFill>
                  <a:schemeClr val="accent1"/>
                </a:solidFill>
              </a:rPr>
              <a:t> </a:t>
            </a:r>
          </a:p>
          <a:p>
            <a:pPr marL="342900" indent="-342900" algn="l">
              <a:buFont typeface="Arial" panose="020B0604020202020204" pitchFamily="34" charset="0"/>
              <a:buChar char="•"/>
            </a:pPr>
            <a:r>
              <a:rPr lang="en-US" sz="2400" dirty="0">
                <a:solidFill>
                  <a:schemeClr val="accent1"/>
                </a:solidFill>
              </a:rPr>
              <a:t>Operating System: Windows / Linux </a:t>
            </a:r>
          </a:p>
          <a:p>
            <a:pPr marL="342900" indent="-342900" algn="l">
              <a:buFont typeface="Arial" panose="020B0604020202020204" pitchFamily="34" charset="0"/>
              <a:buChar char="•"/>
            </a:pPr>
            <a:r>
              <a:rPr lang="en-US" sz="2400" dirty="0">
                <a:solidFill>
                  <a:schemeClr val="accent1"/>
                </a:solidFill>
              </a:rPr>
              <a:t>Programming Languages: Solidity, JavaScript </a:t>
            </a:r>
          </a:p>
          <a:p>
            <a:pPr marL="342900" indent="-342900" algn="l">
              <a:buFont typeface="Arial" panose="020B0604020202020204" pitchFamily="34" charset="0"/>
              <a:buChar char="•"/>
            </a:pPr>
            <a:r>
              <a:rPr lang="en-US" sz="2400" dirty="0">
                <a:solidFill>
                  <a:schemeClr val="accent1"/>
                </a:solidFill>
              </a:rPr>
              <a:t>Frontend Framework: React.js </a:t>
            </a:r>
          </a:p>
          <a:p>
            <a:pPr marL="342900" indent="-342900" algn="l">
              <a:buFont typeface="Arial" panose="020B0604020202020204" pitchFamily="34" charset="0"/>
              <a:buChar char="•"/>
            </a:pPr>
            <a:r>
              <a:rPr lang="en-US" sz="2400" dirty="0">
                <a:solidFill>
                  <a:schemeClr val="accent1"/>
                </a:solidFill>
              </a:rPr>
              <a:t>Backend Framework: Node.js, Express.js </a:t>
            </a:r>
          </a:p>
          <a:p>
            <a:pPr marL="342900" indent="-342900" algn="l">
              <a:buFont typeface="Arial" panose="020B0604020202020204" pitchFamily="34" charset="0"/>
              <a:buChar char="•"/>
            </a:pPr>
            <a:r>
              <a:rPr lang="en-US" sz="2400" dirty="0">
                <a:solidFill>
                  <a:schemeClr val="accent1"/>
                </a:solidFill>
              </a:rPr>
              <a:t>Database: MongoDB </a:t>
            </a:r>
          </a:p>
          <a:p>
            <a:pPr marL="342900" indent="-342900" algn="l">
              <a:buFont typeface="Arial" panose="020B0604020202020204" pitchFamily="34" charset="0"/>
              <a:buChar char="•"/>
            </a:pPr>
            <a:r>
              <a:rPr lang="en-US" sz="2400" dirty="0">
                <a:solidFill>
                  <a:schemeClr val="accent1"/>
                </a:solidFill>
              </a:rPr>
              <a:t>Blockchain Platform: Ethereum (Test Network) Development</a:t>
            </a:r>
          </a:p>
          <a:p>
            <a:pPr marL="342900" indent="-342900" algn="l">
              <a:buFont typeface="Arial" panose="020B0604020202020204" pitchFamily="34" charset="0"/>
              <a:buChar char="•"/>
            </a:pPr>
            <a:r>
              <a:rPr lang="en-US" sz="2400" dirty="0">
                <a:solidFill>
                  <a:schemeClr val="accent1"/>
                </a:solidFill>
              </a:rPr>
              <a:t>Tools: Remix IDE / Hardhat MetaMask Wallet VS Code Ganache (for local blockchain testing) </a:t>
            </a:r>
          </a:p>
          <a:p>
            <a:pPr algn="l"/>
            <a:br>
              <a:rPr lang="en-US" sz="2400" dirty="0">
                <a:solidFill>
                  <a:schemeClr val="accent1"/>
                </a:solidFill>
              </a:rPr>
            </a:br>
            <a:r>
              <a:rPr lang="en-US" sz="2400" u="sng" dirty="0">
                <a:solidFill>
                  <a:schemeClr val="accent1"/>
                </a:solidFill>
              </a:rPr>
              <a:t>HARDWARE REQUIREMENTS:</a:t>
            </a:r>
            <a:r>
              <a:rPr lang="en-US" sz="2400" dirty="0">
                <a:solidFill>
                  <a:schemeClr val="accent1"/>
                </a:solidFill>
              </a:rPr>
              <a:t> </a:t>
            </a:r>
          </a:p>
          <a:p>
            <a:pPr marL="342900" indent="-342900" algn="l">
              <a:buFont typeface="Arial" panose="020B0604020202020204" pitchFamily="34" charset="0"/>
              <a:buChar char="•"/>
            </a:pPr>
            <a:r>
              <a:rPr lang="en-US" sz="2400" dirty="0">
                <a:solidFill>
                  <a:schemeClr val="accent1"/>
                </a:solidFill>
              </a:rPr>
              <a:t>Processor: Intel i5 or above </a:t>
            </a:r>
          </a:p>
          <a:p>
            <a:pPr marL="342900" indent="-342900" algn="l">
              <a:buFont typeface="Arial" panose="020B0604020202020204" pitchFamily="34" charset="0"/>
              <a:buChar char="•"/>
            </a:pPr>
            <a:r>
              <a:rPr lang="en-US" sz="2400" dirty="0">
                <a:solidFill>
                  <a:schemeClr val="accent1"/>
                </a:solidFill>
              </a:rPr>
              <a:t>RAM: Minimum 8 GB Storage: 256 GB SSD or higher Stable Internet Connection.</a:t>
            </a:r>
          </a:p>
          <a:p>
            <a:pPr algn="l"/>
            <a:endParaRPr lang="en-US" sz="2400" dirty="0">
              <a:solidFill>
                <a:schemeClr val="accent1"/>
              </a:solidFill>
            </a:endParaRPr>
          </a:p>
        </p:txBody>
      </p:sp>
      <p:sp>
        <p:nvSpPr>
          <p:cNvPr id="2" name="TextBox 1">
            <a:extLst>
              <a:ext uri="{FF2B5EF4-FFF2-40B4-BE49-F238E27FC236}">
                <a16:creationId xmlns:a16="http://schemas.microsoft.com/office/drawing/2014/main" id="{5FFF5B40-2E1C-C2E1-29DC-EF5F93293689}"/>
              </a:ext>
            </a:extLst>
          </p:cNvPr>
          <p:cNvSpPr txBox="1"/>
          <p:nvPr/>
        </p:nvSpPr>
        <p:spPr>
          <a:xfrm>
            <a:off x="657226" y="7745532"/>
            <a:ext cx="2743200" cy="276999"/>
          </a:xfrm>
          <a:prstGeom prst="rect">
            <a:avLst/>
          </a:prstGeom>
          <a:noFill/>
        </p:spPr>
        <p:txBody>
          <a:bodyPr wrap="square" rtlCol="0">
            <a:spAutoFit/>
          </a:bodyPr>
          <a:lstStyle/>
          <a:p>
            <a:r>
              <a:rPr lang="en-US" sz="1200" dirty="0">
                <a:solidFill>
                  <a:schemeClr val="bg1">
                    <a:lumMod val="50000"/>
                  </a:schemeClr>
                </a:solidFill>
              </a:rPr>
              <a:t>ASSET TOKENIZATION</a:t>
            </a:r>
            <a:endParaRPr lang="en-IN" sz="1200" dirty="0">
              <a:solidFill>
                <a:schemeClr val="bg1">
                  <a:lumMod val="50000"/>
                </a:schemeClr>
              </a:solidFill>
            </a:endParaRPr>
          </a:p>
        </p:txBody>
      </p:sp>
      <p:grpSp>
        <p:nvGrpSpPr>
          <p:cNvPr id="8" name="object 3">
            <a:extLst>
              <a:ext uri="{FF2B5EF4-FFF2-40B4-BE49-F238E27FC236}">
                <a16:creationId xmlns:a16="http://schemas.microsoft.com/office/drawing/2014/main" id="{C725E00F-9924-CCEF-9DC3-B4781FC08C39}"/>
              </a:ext>
            </a:extLst>
          </p:cNvPr>
          <p:cNvGrpSpPr/>
          <p:nvPr/>
        </p:nvGrpSpPr>
        <p:grpSpPr>
          <a:xfrm>
            <a:off x="16854" y="0"/>
            <a:ext cx="14613800" cy="720000"/>
            <a:chOff x="16854" y="0"/>
            <a:chExt cx="14613800" cy="720000"/>
          </a:xfrm>
        </p:grpSpPr>
        <p:sp>
          <p:nvSpPr>
            <p:cNvPr id="9" name="object 4">
              <a:extLst>
                <a:ext uri="{FF2B5EF4-FFF2-40B4-BE49-F238E27FC236}">
                  <a16:creationId xmlns:a16="http://schemas.microsoft.com/office/drawing/2014/main" id="{E3D0EA88-D49D-907A-C814-5971DFD707AD}"/>
                </a:ext>
              </a:extLst>
            </p:cNvPr>
            <p:cNvSpPr/>
            <p:nvPr/>
          </p:nvSpPr>
          <p:spPr>
            <a:xfrm>
              <a:off x="1541399" y="38"/>
              <a:ext cx="13089255" cy="696811"/>
            </a:xfrm>
            <a:custGeom>
              <a:avLst/>
              <a:gdLst/>
              <a:ahLst/>
              <a:cxnLst/>
              <a:rect l="l" t="t" r="r" b="b"/>
              <a:pathLst>
                <a:path w="13089255" h="541655">
                  <a:moveTo>
                    <a:pt x="13089001" y="0"/>
                  </a:moveTo>
                  <a:lnTo>
                    <a:pt x="0" y="0"/>
                  </a:lnTo>
                  <a:lnTo>
                    <a:pt x="0" y="541489"/>
                  </a:lnTo>
                  <a:lnTo>
                    <a:pt x="13089001" y="541489"/>
                  </a:lnTo>
                  <a:lnTo>
                    <a:pt x="13089001" y="0"/>
                  </a:lnTo>
                  <a:close/>
                </a:path>
              </a:pathLst>
            </a:custGeom>
            <a:solidFill>
              <a:srgbClr val="155F82"/>
            </a:solidFill>
          </p:spPr>
          <p:txBody>
            <a:bodyPr wrap="square" lIns="0" tIns="0" rIns="0" bIns="0" rtlCol="0"/>
            <a:lstStyle/>
            <a:p>
              <a:endParaRPr/>
            </a:p>
          </p:txBody>
        </p:sp>
        <p:pic>
          <p:nvPicPr>
            <p:cNvPr id="10" name="object 5">
              <a:extLst>
                <a:ext uri="{FF2B5EF4-FFF2-40B4-BE49-F238E27FC236}">
                  <a16:creationId xmlns:a16="http://schemas.microsoft.com/office/drawing/2014/main" id="{F02037FE-7BFF-BC8E-2021-1398110662F2}"/>
                </a:ext>
              </a:extLst>
            </p:cNvPr>
            <p:cNvPicPr/>
            <p:nvPr/>
          </p:nvPicPr>
          <p:blipFill>
            <a:blip r:embed="rId2" cstate="print"/>
            <a:stretch>
              <a:fillRect/>
            </a:stretch>
          </p:blipFill>
          <p:spPr>
            <a:xfrm>
              <a:off x="13856311" y="0"/>
              <a:ext cx="720000" cy="720000"/>
            </a:xfrm>
            <a:prstGeom prst="rect">
              <a:avLst/>
            </a:prstGeom>
          </p:spPr>
        </p:pic>
        <p:pic>
          <p:nvPicPr>
            <p:cNvPr id="12" name="object 6">
              <a:extLst>
                <a:ext uri="{FF2B5EF4-FFF2-40B4-BE49-F238E27FC236}">
                  <a16:creationId xmlns:a16="http://schemas.microsoft.com/office/drawing/2014/main" id="{B46951C6-AA7D-D97F-5290-8CB74DC3566E}"/>
                </a:ext>
              </a:extLst>
            </p:cNvPr>
            <p:cNvPicPr/>
            <p:nvPr/>
          </p:nvPicPr>
          <p:blipFill>
            <a:blip r:embed="rId3" cstate="print"/>
            <a:stretch>
              <a:fillRect/>
            </a:stretch>
          </p:blipFill>
          <p:spPr>
            <a:xfrm>
              <a:off x="16854" y="11176"/>
              <a:ext cx="1524254" cy="685673"/>
            </a:xfrm>
            <a:prstGeom prst="rect">
              <a:avLst/>
            </a:prstGeom>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95186-BEE9-7C89-1C69-CB26FC7AFEBC}"/>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56B2D731-2C87-6137-F488-FA9D01CF8FAD}"/>
              </a:ext>
            </a:extLst>
          </p:cNvPr>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z="2000" b="0" spc="-30" dirty="0">
                <a:solidFill>
                  <a:srgbClr val="FFFFFF"/>
                </a:solidFill>
                <a:latin typeface="Calibri"/>
                <a:cs typeface="Calibri"/>
              </a:rPr>
              <a:t>DEPARTMENT</a:t>
            </a:r>
            <a:r>
              <a:rPr sz="2000" b="0" spc="-80" dirty="0">
                <a:solidFill>
                  <a:srgbClr val="FFFFFF"/>
                </a:solidFill>
                <a:latin typeface="Calibri"/>
                <a:cs typeface="Calibri"/>
              </a:rPr>
              <a:t> </a:t>
            </a:r>
            <a:r>
              <a:rPr sz="2000" b="0" dirty="0">
                <a:solidFill>
                  <a:srgbClr val="FFFFFF"/>
                </a:solidFill>
                <a:latin typeface="Calibri"/>
                <a:cs typeface="Calibri"/>
              </a:rPr>
              <a:t>OF</a:t>
            </a:r>
            <a:r>
              <a:rPr sz="2000" b="0" spc="-5" dirty="0">
                <a:solidFill>
                  <a:srgbClr val="FFFFFF"/>
                </a:solidFill>
                <a:latin typeface="Calibri"/>
                <a:cs typeface="Calibri"/>
              </a:rPr>
              <a:t> </a:t>
            </a:r>
            <a:r>
              <a:rPr sz="2000" b="0" dirty="0">
                <a:solidFill>
                  <a:srgbClr val="FFFFFF"/>
                </a:solidFill>
                <a:latin typeface="Calibri"/>
                <a:cs typeface="Calibri"/>
              </a:rPr>
              <a:t>COMPUTER</a:t>
            </a:r>
            <a:r>
              <a:rPr sz="2000" b="0" spc="-30" dirty="0">
                <a:solidFill>
                  <a:srgbClr val="FFFFFF"/>
                </a:solidFill>
                <a:latin typeface="Calibri"/>
                <a:cs typeface="Calibri"/>
              </a:rPr>
              <a:t> </a:t>
            </a:r>
            <a:r>
              <a:rPr sz="2000" b="0" spc="-10" dirty="0">
                <a:solidFill>
                  <a:srgbClr val="FFFFFF"/>
                </a:solidFill>
                <a:latin typeface="Calibri"/>
                <a:cs typeface="Calibri"/>
              </a:rPr>
              <a:t>SCIENCE</a:t>
            </a:r>
            <a:r>
              <a:rPr sz="2000" b="0" spc="-85" dirty="0">
                <a:solidFill>
                  <a:srgbClr val="FFFFFF"/>
                </a:solidFill>
                <a:latin typeface="Calibri"/>
                <a:cs typeface="Calibri"/>
              </a:rPr>
              <a:t> </a:t>
            </a:r>
            <a:r>
              <a:rPr sz="2000" b="0" dirty="0">
                <a:solidFill>
                  <a:srgbClr val="FFFFFF"/>
                </a:solidFill>
                <a:latin typeface="Calibri"/>
                <a:cs typeface="Calibri"/>
              </a:rPr>
              <a:t>AND</a:t>
            </a:r>
            <a:r>
              <a:rPr sz="2000" b="0" spc="-40" dirty="0">
                <a:solidFill>
                  <a:srgbClr val="FFFFFF"/>
                </a:solidFill>
                <a:latin typeface="Calibri"/>
                <a:cs typeface="Calibri"/>
              </a:rPr>
              <a:t> </a:t>
            </a:r>
            <a:r>
              <a:rPr sz="2000" b="0" spc="-10" dirty="0">
                <a:solidFill>
                  <a:srgbClr val="FFFFFF"/>
                </a:solidFill>
                <a:latin typeface="Calibri"/>
                <a:cs typeface="Calibri"/>
              </a:rPr>
              <a:t>ENGINEERING</a:t>
            </a:r>
            <a:endParaRPr sz="2000">
              <a:latin typeface="Calibri"/>
              <a:cs typeface="Calibri"/>
            </a:endParaRPr>
          </a:p>
        </p:txBody>
      </p:sp>
      <p:sp>
        <p:nvSpPr>
          <p:cNvPr id="14" name="object 14">
            <a:extLst>
              <a:ext uri="{FF2B5EF4-FFF2-40B4-BE49-F238E27FC236}">
                <a16:creationId xmlns:a16="http://schemas.microsoft.com/office/drawing/2014/main" id="{33CFB78D-E363-E26A-A337-7A6B1028B448}"/>
              </a:ext>
            </a:extLst>
          </p:cNvPr>
          <p:cNvSpPr txBox="1"/>
          <p:nvPr/>
        </p:nvSpPr>
        <p:spPr>
          <a:xfrm>
            <a:off x="13603986" y="7598779"/>
            <a:ext cx="278765" cy="269304"/>
          </a:xfrm>
          <a:prstGeom prst="rect">
            <a:avLst/>
          </a:prstGeom>
        </p:spPr>
        <p:txBody>
          <a:bodyPr vert="horz" wrap="square" lIns="0" tIns="0" rIns="0" bIns="0" rtlCol="0">
            <a:spAutoFit/>
          </a:bodyPr>
          <a:lstStyle/>
          <a:p>
            <a:pPr marL="12700">
              <a:lnSpc>
                <a:spcPts val="2090"/>
              </a:lnSpc>
            </a:pPr>
            <a:r>
              <a:rPr sz="1800" spc="-25" dirty="0">
                <a:solidFill>
                  <a:srgbClr val="888888"/>
                </a:solidFill>
                <a:latin typeface="Arial MT"/>
                <a:cs typeface="Arial MT"/>
              </a:rPr>
              <a:t>1</a:t>
            </a:r>
            <a:r>
              <a:rPr lang="en-US" sz="1800" spc="-25" dirty="0">
                <a:solidFill>
                  <a:srgbClr val="888888"/>
                </a:solidFill>
                <a:latin typeface="Arial MT"/>
                <a:cs typeface="Arial MT"/>
              </a:rPr>
              <a:t>5</a:t>
            </a:r>
            <a:endParaRPr sz="1800" dirty="0">
              <a:latin typeface="Arial MT"/>
              <a:cs typeface="Arial MT"/>
            </a:endParaRPr>
          </a:p>
        </p:txBody>
      </p:sp>
      <p:sp>
        <p:nvSpPr>
          <p:cNvPr id="3" name="TextBox 2">
            <a:extLst>
              <a:ext uri="{FF2B5EF4-FFF2-40B4-BE49-F238E27FC236}">
                <a16:creationId xmlns:a16="http://schemas.microsoft.com/office/drawing/2014/main" id="{5EC080E0-962F-C04D-A080-8587FEBE2F19}"/>
              </a:ext>
            </a:extLst>
          </p:cNvPr>
          <p:cNvSpPr txBox="1"/>
          <p:nvPr/>
        </p:nvSpPr>
        <p:spPr>
          <a:xfrm>
            <a:off x="657226" y="7745532"/>
            <a:ext cx="2743200" cy="276999"/>
          </a:xfrm>
          <a:prstGeom prst="rect">
            <a:avLst/>
          </a:prstGeom>
          <a:noFill/>
        </p:spPr>
        <p:txBody>
          <a:bodyPr wrap="square" rtlCol="0">
            <a:spAutoFit/>
          </a:bodyPr>
          <a:lstStyle/>
          <a:p>
            <a:r>
              <a:rPr lang="en-US" sz="1200" dirty="0">
                <a:solidFill>
                  <a:schemeClr val="bg1">
                    <a:lumMod val="50000"/>
                  </a:schemeClr>
                </a:solidFill>
              </a:rPr>
              <a:t>ASSET TOKENIZATION</a:t>
            </a:r>
            <a:endParaRPr lang="en-IN" sz="1200" dirty="0">
              <a:solidFill>
                <a:schemeClr val="bg1">
                  <a:lumMod val="50000"/>
                </a:schemeClr>
              </a:solidFill>
            </a:endParaRPr>
          </a:p>
        </p:txBody>
      </p:sp>
      <p:pic>
        <p:nvPicPr>
          <p:cNvPr id="5" name="Picture 4">
            <a:extLst>
              <a:ext uri="{FF2B5EF4-FFF2-40B4-BE49-F238E27FC236}">
                <a16:creationId xmlns:a16="http://schemas.microsoft.com/office/drawing/2014/main" id="{93EEACD6-014A-FF95-BAA6-7BAEEE585100}"/>
              </a:ext>
            </a:extLst>
          </p:cNvPr>
          <p:cNvPicPr>
            <a:picLocks noChangeAspect="1"/>
          </p:cNvPicPr>
          <p:nvPr/>
        </p:nvPicPr>
        <p:blipFill>
          <a:blip r:embed="rId2"/>
          <a:stretch>
            <a:fillRect/>
          </a:stretch>
        </p:blipFill>
        <p:spPr>
          <a:xfrm>
            <a:off x="6222" y="0"/>
            <a:ext cx="14624177" cy="723900"/>
          </a:xfrm>
          <a:prstGeom prst="rect">
            <a:avLst/>
          </a:prstGeom>
        </p:spPr>
      </p:pic>
      <p:sp>
        <p:nvSpPr>
          <p:cNvPr id="4" name="object 8">
            <a:extLst>
              <a:ext uri="{FF2B5EF4-FFF2-40B4-BE49-F238E27FC236}">
                <a16:creationId xmlns:a16="http://schemas.microsoft.com/office/drawing/2014/main" id="{4407A483-AB1C-233A-D3D9-15CCFC476126}"/>
              </a:ext>
            </a:extLst>
          </p:cNvPr>
          <p:cNvSpPr txBox="1">
            <a:spLocks/>
          </p:cNvSpPr>
          <p:nvPr/>
        </p:nvSpPr>
        <p:spPr>
          <a:xfrm>
            <a:off x="3372454" y="723900"/>
            <a:ext cx="7355840" cy="482600"/>
          </a:xfrm>
          <a:prstGeom prst="rect">
            <a:avLst/>
          </a:prstGeom>
        </p:spPr>
        <p:txBody>
          <a:bodyPr vert="horz" wrap="square" lIns="0" tIns="12700" rIns="0" bIns="0" rtlCol="0">
            <a:spAutoFit/>
          </a:bodyPr>
          <a:lstStyle>
            <a:lvl1pPr>
              <a:defRPr sz="3000" b="1" i="0">
                <a:solidFill>
                  <a:schemeClr val="tx1"/>
                </a:solidFill>
                <a:latin typeface="Times New Roman"/>
                <a:ea typeface="+mj-ea"/>
                <a:cs typeface="Times New Roman"/>
              </a:defRPr>
            </a:lvl1pPr>
          </a:lstStyle>
          <a:p>
            <a:pPr marL="1017269">
              <a:spcBef>
                <a:spcPts val="100"/>
              </a:spcBef>
            </a:pPr>
            <a:r>
              <a:rPr lang="en-IN"/>
              <a:t>DATA</a:t>
            </a:r>
            <a:r>
              <a:rPr lang="en-IN" spc="-55"/>
              <a:t> </a:t>
            </a:r>
            <a:r>
              <a:rPr lang="en-IN"/>
              <a:t>FLOW</a:t>
            </a:r>
            <a:r>
              <a:rPr lang="en-IN" spc="-30"/>
              <a:t> </a:t>
            </a:r>
            <a:r>
              <a:rPr lang="en-IN"/>
              <a:t>DIAGRAM</a:t>
            </a:r>
            <a:r>
              <a:rPr lang="en-IN" spc="-55"/>
              <a:t> </a:t>
            </a:r>
            <a:r>
              <a:rPr lang="en-IN" spc="-10"/>
              <a:t>(DFD)</a:t>
            </a:r>
            <a:endParaRPr lang="en-IN" spc="-10" dirty="0"/>
          </a:p>
        </p:txBody>
      </p:sp>
      <p:pic>
        <p:nvPicPr>
          <p:cNvPr id="6" name="Picture 5">
            <a:extLst>
              <a:ext uri="{FF2B5EF4-FFF2-40B4-BE49-F238E27FC236}">
                <a16:creationId xmlns:a16="http://schemas.microsoft.com/office/drawing/2014/main" id="{E08E839B-A010-265F-58B4-3FAEAD059F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0" y="1318562"/>
            <a:ext cx="9720000" cy="6480000"/>
          </a:xfrm>
          <a:prstGeom prst="rect">
            <a:avLst/>
          </a:prstGeom>
        </p:spPr>
      </p:pic>
    </p:spTree>
    <p:extLst>
      <p:ext uri="{BB962C8B-B14F-4D97-AF65-F5344CB8AC3E}">
        <p14:creationId xmlns:p14="http://schemas.microsoft.com/office/powerpoint/2010/main" val="3536060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900F4-2E5D-0A31-EEEC-BC749FE40381}"/>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C5158E99-44F3-2A5B-847D-9205C6F4BEF8}"/>
              </a:ext>
            </a:extLst>
          </p:cNvPr>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z="2000" b="0" spc="-30" dirty="0">
                <a:solidFill>
                  <a:srgbClr val="FFFFFF"/>
                </a:solidFill>
                <a:latin typeface="Calibri"/>
                <a:cs typeface="Calibri"/>
              </a:rPr>
              <a:t>DEPARTMENT</a:t>
            </a:r>
            <a:r>
              <a:rPr sz="2000" b="0" spc="-80" dirty="0">
                <a:solidFill>
                  <a:srgbClr val="FFFFFF"/>
                </a:solidFill>
                <a:latin typeface="Calibri"/>
                <a:cs typeface="Calibri"/>
              </a:rPr>
              <a:t> </a:t>
            </a:r>
            <a:r>
              <a:rPr sz="2000" b="0" dirty="0">
                <a:solidFill>
                  <a:srgbClr val="FFFFFF"/>
                </a:solidFill>
                <a:latin typeface="Calibri"/>
                <a:cs typeface="Calibri"/>
              </a:rPr>
              <a:t>OF</a:t>
            </a:r>
            <a:r>
              <a:rPr sz="2000" b="0" spc="-5" dirty="0">
                <a:solidFill>
                  <a:srgbClr val="FFFFFF"/>
                </a:solidFill>
                <a:latin typeface="Calibri"/>
                <a:cs typeface="Calibri"/>
              </a:rPr>
              <a:t> </a:t>
            </a:r>
            <a:r>
              <a:rPr sz="2000" b="0" dirty="0">
                <a:solidFill>
                  <a:srgbClr val="FFFFFF"/>
                </a:solidFill>
                <a:latin typeface="Calibri"/>
                <a:cs typeface="Calibri"/>
              </a:rPr>
              <a:t>COMPUTER</a:t>
            </a:r>
            <a:r>
              <a:rPr sz="2000" b="0" spc="-30" dirty="0">
                <a:solidFill>
                  <a:srgbClr val="FFFFFF"/>
                </a:solidFill>
                <a:latin typeface="Calibri"/>
                <a:cs typeface="Calibri"/>
              </a:rPr>
              <a:t> </a:t>
            </a:r>
            <a:r>
              <a:rPr sz="2000" b="0" spc="-10" dirty="0">
                <a:solidFill>
                  <a:srgbClr val="FFFFFF"/>
                </a:solidFill>
                <a:latin typeface="Calibri"/>
                <a:cs typeface="Calibri"/>
              </a:rPr>
              <a:t>SCIENCE</a:t>
            </a:r>
            <a:r>
              <a:rPr sz="2000" b="0" spc="-85" dirty="0">
                <a:solidFill>
                  <a:srgbClr val="FFFFFF"/>
                </a:solidFill>
                <a:latin typeface="Calibri"/>
                <a:cs typeface="Calibri"/>
              </a:rPr>
              <a:t> </a:t>
            </a:r>
            <a:r>
              <a:rPr sz="2000" b="0" dirty="0">
                <a:solidFill>
                  <a:srgbClr val="FFFFFF"/>
                </a:solidFill>
                <a:latin typeface="Calibri"/>
                <a:cs typeface="Calibri"/>
              </a:rPr>
              <a:t>AND</a:t>
            </a:r>
            <a:r>
              <a:rPr sz="2000" b="0" spc="-40" dirty="0">
                <a:solidFill>
                  <a:srgbClr val="FFFFFF"/>
                </a:solidFill>
                <a:latin typeface="Calibri"/>
                <a:cs typeface="Calibri"/>
              </a:rPr>
              <a:t> </a:t>
            </a:r>
            <a:r>
              <a:rPr sz="2000" b="0" spc="-10" dirty="0">
                <a:solidFill>
                  <a:srgbClr val="FFFFFF"/>
                </a:solidFill>
                <a:latin typeface="Calibri"/>
                <a:cs typeface="Calibri"/>
              </a:rPr>
              <a:t>ENGINEERING</a:t>
            </a:r>
            <a:endParaRPr sz="2000">
              <a:latin typeface="Calibri"/>
              <a:cs typeface="Calibri"/>
            </a:endParaRPr>
          </a:p>
        </p:txBody>
      </p:sp>
      <p:sp>
        <p:nvSpPr>
          <p:cNvPr id="14" name="object 14">
            <a:extLst>
              <a:ext uri="{FF2B5EF4-FFF2-40B4-BE49-F238E27FC236}">
                <a16:creationId xmlns:a16="http://schemas.microsoft.com/office/drawing/2014/main" id="{89379AFC-CEEA-3E4C-8D19-C8EAE2D7A776}"/>
              </a:ext>
            </a:extLst>
          </p:cNvPr>
          <p:cNvSpPr txBox="1"/>
          <p:nvPr/>
        </p:nvSpPr>
        <p:spPr>
          <a:xfrm>
            <a:off x="13603986" y="7598779"/>
            <a:ext cx="278765" cy="269304"/>
          </a:xfrm>
          <a:prstGeom prst="rect">
            <a:avLst/>
          </a:prstGeom>
        </p:spPr>
        <p:txBody>
          <a:bodyPr vert="horz" wrap="square" lIns="0" tIns="0" rIns="0" bIns="0" rtlCol="0">
            <a:spAutoFit/>
          </a:bodyPr>
          <a:lstStyle/>
          <a:p>
            <a:pPr marL="12700">
              <a:lnSpc>
                <a:spcPts val="2090"/>
              </a:lnSpc>
            </a:pPr>
            <a:r>
              <a:rPr sz="1800" spc="-25" dirty="0">
                <a:solidFill>
                  <a:srgbClr val="888888"/>
                </a:solidFill>
                <a:latin typeface="Arial MT"/>
                <a:cs typeface="Arial MT"/>
              </a:rPr>
              <a:t>1</a:t>
            </a:r>
            <a:r>
              <a:rPr lang="en-US" sz="1800" spc="-25" dirty="0">
                <a:solidFill>
                  <a:srgbClr val="888888"/>
                </a:solidFill>
                <a:latin typeface="Arial MT"/>
                <a:cs typeface="Arial MT"/>
              </a:rPr>
              <a:t>6</a:t>
            </a:r>
            <a:endParaRPr sz="1800" dirty="0">
              <a:latin typeface="Arial MT"/>
              <a:cs typeface="Arial MT"/>
            </a:endParaRPr>
          </a:p>
        </p:txBody>
      </p:sp>
      <p:sp>
        <p:nvSpPr>
          <p:cNvPr id="3" name="TextBox 2">
            <a:extLst>
              <a:ext uri="{FF2B5EF4-FFF2-40B4-BE49-F238E27FC236}">
                <a16:creationId xmlns:a16="http://schemas.microsoft.com/office/drawing/2014/main" id="{F52EA325-0DD7-4A1A-321D-0F0DFC269570}"/>
              </a:ext>
            </a:extLst>
          </p:cNvPr>
          <p:cNvSpPr txBox="1"/>
          <p:nvPr/>
        </p:nvSpPr>
        <p:spPr>
          <a:xfrm>
            <a:off x="657226" y="7745532"/>
            <a:ext cx="2743200" cy="276999"/>
          </a:xfrm>
          <a:prstGeom prst="rect">
            <a:avLst/>
          </a:prstGeom>
          <a:noFill/>
        </p:spPr>
        <p:txBody>
          <a:bodyPr wrap="square" rtlCol="0">
            <a:spAutoFit/>
          </a:bodyPr>
          <a:lstStyle/>
          <a:p>
            <a:r>
              <a:rPr lang="en-US" sz="1200" dirty="0">
                <a:solidFill>
                  <a:schemeClr val="bg1">
                    <a:lumMod val="50000"/>
                  </a:schemeClr>
                </a:solidFill>
              </a:rPr>
              <a:t>ASSET TOKENIZATION</a:t>
            </a:r>
            <a:endParaRPr lang="en-IN" sz="1200" dirty="0">
              <a:solidFill>
                <a:schemeClr val="bg1">
                  <a:lumMod val="50000"/>
                </a:schemeClr>
              </a:solidFill>
            </a:endParaRPr>
          </a:p>
        </p:txBody>
      </p:sp>
      <p:pic>
        <p:nvPicPr>
          <p:cNvPr id="5" name="Picture 4">
            <a:extLst>
              <a:ext uri="{FF2B5EF4-FFF2-40B4-BE49-F238E27FC236}">
                <a16:creationId xmlns:a16="http://schemas.microsoft.com/office/drawing/2014/main" id="{6AFD726A-08B0-3EE2-1686-343A3895C945}"/>
              </a:ext>
            </a:extLst>
          </p:cNvPr>
          <p:cNvPicPr>
            <a:picLocks noChangeAspect="1"/>
          </p:cNvPicPr>
          <p:nvPr/>
        </p:nvPicPr>
        <p:blipFill>
          <a:blip r:embed="rId2"/>
          <a:stretch>
            <a:fillRect/>
          </a:stretch>
        </p:blipFill>
        <p:spPr>
          <a:xfrm>
            <a:off x="6222" y="0"/>
            <a:ext cx="14624177" cy="723900"/>
          </a:xfrm>
          <a:prstGeom prst="rect">
            <a:avLst/>
          </a:prstGeom>
        </p:spPr>
      </p:pic>
      <p:sp>
        <p:nvSpPr>
          <p:cNvPr id="4" name="object 8">
            <a:extLst>
              <a:ext uri="{FF2B5EF4-FFF2-40B4-BE49-F238E27FC236}">
                <a16:creationId xmlns:a16="http://schemas.microsoft.com/office/drawing/2014/main" id="{9543D719-2C69-9A80-23A8-D2CC878E0257}"/>
              </a:ext>
            </a:extLst>
          </p:cNvPr>
          <p:cNvSpPr txBox="1">
            <a:spLocks/>
          </p:cNvSpPr>
          <p:nvPr/>
        </p:nvSpPr>
        <p:spPr>
          <a:xfrm>
            <a:off x="2667000" y="828801"/>
            <a:ext cx="8891341" cy="474489"/>
          </a:xfrm>
          <a:prstGeom prst="rect">
            <a:avLst/>
          </a:prstGeom>
        </p:spPr>
        <p:txBody>
          <a:bodyPr vert="horz" wrap="square" lIns="0" tIns="12700" rIns="0" bIns="0" rtlCol="0" anchor="t">
            <a:spAutoFit/>
          </a:bodyPr>
          <a:lstStyle>
            <a:lvl1pPr>
              <a:defRPr sz="3000" b="1" i="0">
                <a:solidFill>
                  <a:schemeClr val="tx1"/>
                </a:solidFill>
                <a:latin typeface="Times New Roman"/>
                <a:ea typeface="+mj-ea"/>
                <a:cs typeface="Times New Roman"/>
              </a:defRPr>
            </a:lvl1pPr>
          </a:lstStyle>
          <a:p>
            <a:pPr marL="1016635" algn="ctr">
              <a:spcBef>
                <a:spcPts val="100"/>
              </a:spcBef>
            </a:pPr>
            <a:r>
              <a:rPr lang="en-US" dirty="0"/>
              <a:t>USER DASHBOARD</a:t>
            </a:r>
          </a:p>
        </p:txBody>
      </p:sp>
      <p:pic>
        <p:nvPicPr>
          <p:cNvPr id="6" name="Picture 5">
            <a:extLst>
              <a:ext uri="{FF2B5EF4-FFF2-40B4-BE49-F238E27FC236}">
                <a16:creationId xmlns:a16="http://schemas.microsoft.com/office/drawing/2014/main" id="{F614B8F3-7F55-D0BE-5928-D478CC84F0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8999" y="1735374"/>
            <a:ext cx="8640000" cy="5400000"/>
          </a:xfrm>
          <a:prstGeom prst="rect">
            <a:avLst/>
          </a:prstGeom>
        </p:spPr>
      </p:pic>
      <p:sp>
        <p:nvSpPr>
          <p:cNvPr id="8" name="Rectangle: Rounded Corners 7">
            <a:extLst>
              <a:ext uri="{FF2B5EF4-FFF2-40B4-BE49-F238E27FC236}">
                <a16:creationId xmlns:a16="http://schemas.microsoft.com/office/drawing/2014/main" id="{442104B0-EFEB-EC42-D437-20370C87BC08}"/>
              </a:ext>
            </a:extLst>
          </p:cNvPr>
          <p:cNvSpPr/>
          <p:nvPr/>
        </p:nvSpPr>
        <p:spPr>
          <a:xfrm>
            <a:off x="714375" y="2819400"/>
            <a:ext cx="1371600" cy="914400"/>
          </a:xfrm>
          <a:prstGeom prst="roundRect">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Unique Wallet ID:</a:t>
            </a:r>
            <a:endParaRPr lang="en-IN" dirty="0">
              <a:solidFill>
                <a:schemeClr val="bg1"/>
              </a:solidFill>
            </a:endParaRPr>
          </a:p>
        </p:txBody>
      </p:sp>
      <p:cxnSp>
        <p:nvCxnSpPr>
          <p:cNvPr id="10" name="Straight Arrow Connector 9">
            <a:extLst>
              <a:ext uri="{FF2B5EF4-FFF2-40B4-BE49-F238E27FC236}">
                <a16:creationId xmlns:a16="http://schemas.microsoft.com/office/drawing/2014/main" id="{326AD23C-C97C-0390-7C62-947BF39DD362}"/>
              </a:ext>
            </a:extLst>
          </p:cNvPr>
          <p:cNvCxnSpPr>
            <a:cxnSpLocks/>
          </p:cNvCxnSpPr>
          <p:nvPr/>
        </p:nvCxnSpPr>
        <p:spPr>
          <a:xfrm>
            <a:off x="2114550" y="3276600"/>
            <a:ext cx="2057400" cy="0"/>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A3FB9C53-ACBC-2519-F3F0-D9E5AA030029}"/>
              </a:ext>
            </a:extLst>
          </p:cNvPr>
          <p:cNvSpPr/>
          <p:nvPr/>
        </p:nvSpPr>
        <p:spPr>
          <a:xfrm>
            <a:off x="13030200" y="2848337"/>
            <a:ext cx="1371600" cy="914400"/>
          </a:xfrm>
          <a:prstGeom prst="roundRect">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Wallet</a:t>
            </a:r>
            <a:br>
              <a:rPr lang="en-US" dirty="0">
                <a:solidFill>
                  <a:schemeClr val="bg1"/>
                </a:solidFill>
              </a:rPr>
            </a:br>
            <a:r>
              <a:rPr lang="en-US" dirty="0">
                <a:solidFill>
                  <a:schemeClr val="bg1"/>
                </a:solidFill>
              </a:rPr>
              <a:t>Balance</a:t>
            </a:r>
            <a:endParaRPr lang="en-IN" dirty="0">
              <a:solidFill>
                <a:schemeClr val="bg1"/>
              </a:solidFill>
            </a:endParaRPr>
          </a:p>
        </p:txBody>
      </p:sp>
      <p:cxnSp>
        <p:nvCxnSpPr>
          <p:cNvPr id="12" name="Straight Arrow Connector 11">
            <a:extLst>
              <a:ext uri="{FF2B5EF4-FFF2-40B4-BE49-F238E27FC236}">
                <a16:creationId xmlns:a16="http://schemas.microsoft.com/office/drawing/2014/main" id="{28ADEBAB-5FCC-C620-6B05-BB680C208D35}"/>
              </a:ext>
            </a:extLst>
          </p:cNvPr>
          <p:cNvCxnSpPr>
            <a:cxnSpLocks/>
          </p:cNvCxnSpPr>
          <p:nvPr/>
        </p:nvCxnSpPr>
        <p:spPr>
          <a:xfrm flipH="1" flipV="1">
            <a:off x="11049000" y="3276600"/>
            <a:ext cx="1981200" cy="28937"/>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88193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70397-4D4D-9247-543B-846303DC48A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3519D62-238C-1497-D11E-0D9CF63B4DEE}"/>
              </a:ext>
            </a:extLst>
          </p:cNvPr>
          <p:cNvSpPr txBox="1"/>
          <p:nvPr/>
        </p:nvSpPr>
        <p:spPr>
          <a:xfrm>
            <a:off x="3580638" y="3053283"/>
            <a:ext cx="7462520" cy="1489075"/>
          </a:xfrm>
          <a:prstGeom prst="rect">
            <a:avLst/>
          </a:prstGeom>
        </p:spPr>
        <p:txBody>
          <a:bodyPr vert="horz" wrap="square" lIns="0" tIns="12700" rIns="0" bIns="0" rtlCol="0">
            <a:spAutoFit/>
          </a:bodyPr>
          <a:lstStyle/>
          <a:p>
            <a:pPr marL="12700">
              <a:lnSpc>
                <a:spcPct val="100000"/>
              </a:lnSpc>
              <a:spcBef>
                <a:spcPts val="100"/>
              </a:spcBef>
            </a:pPr>
            <a:r>
              <a:rPr sz="9600" b="1" dirty="0">
                <a:latin typeface="Times New Roman"/>
                <a:cs typeface="Times New Roman"/>
              </a:rPr>
              <a:t>THANK</a:t>
            </a:r>
            <a:r>
              <a:rPr sz="9600" b="1" spc="-355" dirty="0">
                <a:latin typeface="Times New Roman"/>
                <a:cs typeface="Times New Roman"/>
              </a:rPr>
              <a:t> </a:t>
            </a:r>
            <a:r>
              <a:rPr sz="9600" b="1" spc="-25" dirty="0">
                <a:latin typeface="Times New Roman"/>
                <a:cs typeface="Times New Roman"/>
              </a:rPr>
              <a:t>YOU</a:t>
            </a:r>
            <a:endParaRPr sz="9600">
              <a:latin typeface="Times New Roman"/>
              <a:cs typeface="Times New Roman"/>
            </a:endParaRPr>
          </a:p>
        </p:txBody>
      </p:sp>
      <p:sp>
        <p:nvSpPr>
          <p:cNvPr id="9" name="object 9">
            <a:extLst>
              <a:ext uri="{FF2B5EF4-FFF2-40B4-BE49-F238E27FC236}">
                <a16:creationId xmlns:a16="http://schemas.microsoft.com/office/drawing/2014/main" id="{D40BDCC8-693E-76E6-F53C-52D4CCCAF6C3}"/>
              </a:ext>
            </a:extLst>
          </p:cNvPr>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z="2000" b="0" spc="-30" dirty="0">
                <a:solidFill>
                  <a:srgbClr val="FFFFFF"/>
                </a:solidFill>
                <a:latin typeface="Calibri"/>
                <a:cs typeface="Calibri"/>
              </a:rPr>
              <a:t>DEPARTMENT</a:t>
            </a:r>
            <a:r>
              <a:rPr sz="2000" b="0" spc="-80" dirty="0">
                <a:solidFill>
                  <a:srgbClr val="FFFFFF"/>
                </a:solidFill>
                <a:latin typeface="Calibri"/>
                <a:cs typeface="Calibri"/>
              </a:rPr>
              <a:t> </a:t>
            </a:r>
            <a:r>
              <a:rPr sz="2000" b="0" dirty="0">
                <a:solidFill>
                  <a:srgbClr val="FFFFFF"/>
                </a:solidFill>
                <a:latin typeface="Calibri"/>
                <a:cs typeface="Calibri"/>
              </a:rPr>
              <a:t>OF</a:t>
            </a:r>
            <a:r>
              <a:rPr sz="2000" b="0" spc="-5" dirty="0">
                <a:solidFill>
                  <a:srgbClr val="FFFFFF"/>
                </a:solidFill>
                <a:latin typeface="Calibri"/>
                <a:cs typeface="Calibri"/>
              </a:rPr>
              <a:t> </a:t>
            </a:r>
            <a:r>
              <a:rPr sz="2000" b="0" dirty="0">
                <a:solidFill>
                  <a:srgbClr val="FFFFFF"/>
                </a:solidFill>
                <a:latin typeface="Calibri"/>
                <a:cs typeface="Calibri"/>
              </a:rPr>
              <a:t>COMPUTER</a:t>
            </a:r>
            <a:r>
              <a:rPr sz="2000" b="0" spc="-30" dirty="0">
                <a:solidFill>
                  <a:srgbClr val="FFFFFF"/>
                </a:solidFill>
                <a:latin typeface="Calibri"/>
                <a:cs typeface="Calibri"/>
              </a:rPr>
              <a:t> </a:t>
            </a:r>
            <a:r>
              <a:rPr sz="2000" b="0" spc="-10" dirty="0">
                <a:solidFill>
                  <a:srgbClr val="FFFFFF"/>
                </a:solidFill>
                <a:latin typeface="Calibri"/>
                <a:cs typeface="Calibri"/>
              </a:rPr>
              <a:t>SCIENCE</a:t>
            </a:r>
            <a:r>
              <a:rPr sz="2000" b="0" spc="-85" dirty="0">
                <a:solidFill>
                  <a:srgbClr val="FFFFFF"/>
                </a:solidFill>
                <a:latin typeface="Calibri"/>
                <a:cs typeface="Calibri"/>
              </a:rPr>
              <a:t> </a:t>
            </a:r>
            <a:r>
              <a:rPr sz="2000" b="0" dirty="0">
                <a:solidFill>
                  <a:srgbClr val="FFFFFF"/>
                </a:solidFill>
                <a:latin typeface="Calibri"/>
                <a:cs typeface="Calibri"/>
              </a:rPr>
              <a:t>AND</a:t>
            </a:r>
            <a:r>
              <a:rPr sz="2000" b="0" spc="-40" dirty="0">
                <a:solidFill>
                  <a:srgbClr val="FFFFFF"/>
                </a:solidFill>
                <a:latin typeface="Calibri"/>
                <a:cs typeface="Calibri"/>
              </a:rPr>
              <a:t> </a:t>
            </a:r>
            <a:r>
              <a:rPr sz="2000" b="0" spc="-10" dirty="0">
                <a:solidFill>
                  <a:srgbClr val="FFFFFF"/>
                </a:solidFill>
                <a:latin typeface="Calibri"/>
                <a:cs typeface="Calibri"/>
              </a:rPr>
              <a:t>ENGINEERING</a:t>
            </a:r>
            <a:endParaRPr sz="2000">
              <a:latin typeface="Calibri"/>
              <a:cs typeface="Calibri"/>
            </a:endParaRPr>
          </a:p>
        </p:txBody>
      </p:sp>
      <p:sp>
        <p:nvSpPr>
          <p:cNvPr id="14" name="object 14">
            <a:extLst>
              <a:ext uri="{FF2B5EF4-FFF2-40B4-BE49-F238E27FC236}">
                <a16:creationId xmlns:a16="http://schemas.microsoft.com/office/drawing/2014/main" id="{FE6EF1F2-48F6-601B-75CE-88E218D42186}"/>
              </a:ext>
            </a:extLst>
          </p:cNvPr>
          <p:cNvSpPr txBox="1"/>
          <p:nvPr/>
        </p:nvSpPr>
        <p:spPr>
          <a:xfrm>
            <a:off x="13603986" y="7598779"/>
            <a:ext cx="278765" cy="269304"/>
          </a:xfrm>
          <a:prstGeom prst="rect">
            <a:avLst/>
          </a:prstGeom>
        </p:spPr>
        <p:txBody>
          <a:bodyPr vert="horz" wrap="square" lIns="0" tIns="0" rIns="0" bIns="0" rtlCol="0">
            <a:spAutoFit/>
          </a:bodyPr>
          <a:lstStyle/>
          <a:p>
            <a:pPr marL="12700">
              <a:lnSpc>
                <a:spcPts val="2090"/>
              </a:lnSpc>
            </a:pPr>
            <a:r>
              <a:rPr sz="1800" spc="-25" dirty="0">
                <a:solidFill>
                  <a:srgbClr val="888888"/>
                </a:solidFill>
                <a:latin typeface="Arial MT"/>
                <a:cs typeface="Arial MT"/>
              </a:rPr>
              <a:t>1</a:t>
            </a:r>
            <a:r>
              <a:rPr lang="en-US" sz="1800" spc="-25" dirty="0">
                <a:solidFill>
                  <a:srgbClr val="888888"/>
                </a:solidFill>
                <a:latin typeface="Arial MT"/>
                <a:cs typeface="Arial MT"/>
              </a:rPr>
              <a:t>7</a:t>
            </a:r>
            <a:endParaRPr sz="1800" dirty="0">
              <a:latin typeface="Arial MT"/>
              <a:cs typeface="Arial MT"/>
            </a:endParaRPr>
          </a:p>
        </p:txBody>
      </p:sp>
      <p:sp>
        <p:nvSpPr>
          <p:cNvPr id="3" name="TextBox 2">
            <a:extLst>
              <a:ext uri="{FF2B5EF4-FFF2-40B4-BE49-F238E27FC236}">
                <a16:creationId xmlns:a16="http://schemas.microsoft.com/office/drawing/2014/main" id="{F19A8706-B5E6-BBCE-E052-2A8DE85CB82F}"/>
              </a:ext>
            </a:extLst>
          </p:cNvPr>
          <p:cNvSpPr txBox="1"/>
          <p:nvPr/>
        </p:nvSpPr>
        <p:spPr>
          <a:xfrm>
            <a:off x="657226" y="7745532"/>
            <a:ext cx="2743200" cy="276999"/>
          </a:xfrm>
          <a:prstGeom prst="rect">
            <a:avLst/>
          </a:prstGeom>
          <a:noFill/>
        </p:spPr>
        <p:txBody>
          <a:bodyPr wrap="square" rtlCol="0">
            <a:spAutoFit/>
          </a:bodyPr>
          <a:lstStyle/>
          <a:p>
            <a:r>
              <a:rPr lang="en-US" sz="1200" dirty="0">
                <a:solidFill>
                  <a:schemeClr val="bg1">
                    <a:lumMod val="50000"/>
                  </a:schemeClr>
                </a:solidFill>
              </a:rPr>
              <a:t>ASSET TOKENIZATION</a:t>
            </a:r>
            <a:endParaRPr lang="en-IN" sz="1200" dirty="0">
              <a:solidFill>
                <a:schemeClr val="bg1">
                  <a:lumMod val="50000"/>
                </a:schemeClr>
              </a:solidFill>
            </a:endParaRPr>
          </a:p>
        </p:txBody>
      </p:sp>
      <p:pic>
        <p:nvPicPr>
          <p:cNvPr id="5" name="Picture 4">
            <a:extLst>
              <a:ext uri="{FF2B5EF4-FFF2-40B4-BE49-F238E27FC236}">
                <a16:creationId xmlns:a16="http://schemas.microsoft.com/office/drawing/2014/main" id="{E0F55025-8892-8D0F-F4B8-621568243FD3}"/>
              </a:ext>
            </a:extLst>
          </p:cNvPr>
          <p:cNvPicPr>
            <a:picLocks noChangeAspect="1"/>
          </p:cNvPicPr>
          <p:nvPr/>
        </p:nvPicPr>
        <p:blipFill>
          <a:blip r:embed="rId2"/>
          <a:stretch>
            <a:fillRect/>
          </a:stretch>
        </p:blipFill>
        <p:spPr>
          <a:xfrm>
            <a:off x="6222" y="0"/>
            <a:ext cx="14624177" cy="723900"/>
          </a:xfrm>
          <a:prstGeom prst="rect">
            <a:avLst/>
          </a:prstGeom>
        </p:spPr>
      </p:pic>
    </p:spTree>
    <p:extLst>
      <p:ext uri="{BB962C8B-B14F-4D97-AF65-F5344CB8AC3E}">
        <p14:creationId xmlns:p14="http://schemas.microsoft.com/office/powerpoint/2010/main" val="30199418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128</TotalTime>
  <Words>1447</Words>
  <Application>Microsoft Office PowerPoint</Application>
  <PresentationFormat>Custom</PresentationFormat>
  <Paragraphs>229</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Arial MT</vt:lpstr>
      <vt:lpstr>Calibri</vt:lpstr>
      <vt:lpstr>Times New Roman</vt:lpstr>
      <vt:lpstr>Wingdings</vt:lpstr>
      <vt:lpstr>Office Theme</vt:lpstr>
      <vt:lpstr>PowerPoint Presentation</vt:lpstr>
      <vt:lpstr>PRESENTATION FLOW</vt:lpstr>
      <vt:lpstr>ABSTRACT</vt:lpstr>
      <vt:lpstr>PowerPoint Presentation</vt:lpstr>
      <vt:lpstr>INTRODUCTION</vt:lpstr>
      <vt:lpstr>Literature Survey</vt:lpstr>
      <vt:lpstr>PROBLEM STATEMENTS</vt:lpstr>
      <vt:lpstr>PowerPoint Presentation</vt:lpstr>
      <vt:lpstr>DEPARTMENT OF COMPUTER SCIENCE AND ENGINEERING</vt:lpstr>
      <vt:lpstr>DEPARTMENT OF COMPUTER SCIENCE AND ENGINEERING</vt:lpstr>
      <vt:lpstr>DEPARTMENT OF COMPUTER SCIENCE AND ENGINEERING</vt:lpstr>
      <vt:lpstr>DEPARTMENT OF COMPUTER SCIENCE AND ENGINEERING</vt:lpstr>
      <vt:lpstr>DEPARTMENT OF COMPUTER SCIENCE AND ENGINEERING</vt:lpstr>
      <vt:lpstr>SOFTWARE /HARDWARE REQUIREMENTS</vt:lpstr>
      <vt:lpstr>DEPARTMENT OF COMPUTER SCIENCE AND ENGINEERING</vt:lpstr>
      <vt:lpstr>DEPARTMENT OF COMPUTER SCIENCE AND ENGINEERING</vt:lpstr>
      <vt:lpstr>DEPARTMENT OF COMPUTER SCIENCE AND ENGINEERING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Sumit</dc:creator>
  <cp:lastModifiedBy>Omkar Bharath Pukale</cp:lastModifiedBy>
  <cp:revision>818</cp:revision>
  <dcterms:created xsi:type="dcterms:W3CDTF">2026-04-11T08:18:54Z</dcterms:created>
  <dcterms:modified xsi:type="dcterms:W3CDTF">2026-04-23T14:17:34Z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2025-11-28T00:00:00Z</vt:filetime>
  </property>
  <property fmtid="{D5CDD505-2E9C-101B-9397-08002B2CF9AE}" pid="3" name="Creator">
    <vt:lpwstr>Microsoft® PowerPoint® LTSC</vt:lpwstr>
  </property>
  <property fmtid="{D5CDD505-2E9C-101B-9397-08002B2CF9AE}" pid="4" name="LastSaved">
    <vt:filetime>2026-04-11T00:00:00Z</vt:filetime>
  </property>
  <property fmtid="{D5CDD505-2E9C-101B-9397-08002B2CF9AE}" pid="5" name="Producer">
    <vt:lpwstr>Microsoft® PowerPoint® LTSC</vt:lpwstr>
  </property>
</Properties>
</file>