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74" r:id="rId5"/>
    <p:sldId id="259" r:id="rId6"/>
    <p:sldId id="260" r:id="rId7"/>
    <p:sldId id="261" r:id="rId8"/>
    <p:sldId id="275" r:id="rId9"/>
    <p:sldId id="262" r:id="rId10"/>
    <p:sldId id="276" r:id="rId11"/>
    <p:sldId id="277" r:id="rId12"/>
    <p:sldId id="278" r:id="rId13"/>
    <p:sldId id="279" r:id="rId14"/>
    <p:sldId id="280" r:id="rId15"/>
    <p:sldId id="281" r:id="rId16"/>
    <p:sldId id="282" r:id="rId17"/>
    <p:sldId id="273" r:id="rId18"/>
  </p:sldIdLst>
  <p:sldSz cx="18288000" cy="10287000"/>
  <p:notesSz cx="6858000" cy="9144000"/>
  <p:embeddedFontLst>
    <p:embeddedFont>
      <p:font typeface="Playfair Display" panose="00000500000000000000" pitchFamily="2" charset="0"/>
      <p:regular r:id="rId19"/>
      <p:bold r:id="rId20"/>
      <p:italic r:id="rId21"/>
      <p:boldItalic r:id="rId22"/>
    </p:embeddedFont>
    <p:embeddedFont>
      <p:font typeface="Public Sans" panose="020B0604020202020204" charset="0"/>
      <p:regular r:id="rId23"/>
    </p:embeddedFont>
    <p:embeddedFont>
      <p:font typeface="Public Sans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EFE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4" d="100"/>
          <a:sy n="64" d="100"/>
        </p:scale>
        <p:origin x="178"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mcgroup.edu.in/"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706" y="4514765"/>
            <a:ext cx="16230594" cy="38509"/>
          </a:xfrm>
          <a:prstGeom prst="line">
            <a:avLst/>
          </a:prstGeom>
          <a:ln w="9525" cap="flat">
            <a:solidFill>
              <a:srgbClr val="2B2C30"/>
            </a:solidFill>
            <a:prstDash val="solid"/>
            <a:headEnd type="none" w="sm" len="sm"/>
            <a:tailEnd type="none" w="sm" len="sm"/>
          </a:ln>
        </p:spPr>
      </p:sp>
      <p:sp>
        <p:nvSpPr>
          <p:cNvPr id="4" name="TextBox 4"/>
          <p:cNvSpPr txBox="1"/>
          <p:nvPr/>
        </p:nvSpPr>
        <p:spPr>
          <a:xfrm>
            <a:off x="1006882" y="4728792"/>
            <a:ext cx="16230600" cy="1286763"/>
          </a:xfrm>
          <a:prstGeom prst="rect">
            <a:avLst/>
          </a:prstGeom>
        </p:spPr>
        <p:txBody>
          <a:bodyPr lIns="0" tIns="0" rIns="0" bIns="0" rtlCol="0" anchor="t">
            <a:spAutoFit/>
          </a:bodyPr>
          <a:lstStyle/>
          <a:p>
            <a:pPr>
              <a:lnSpc>
                <a:spcPts val="5200"/>
              </a:lnSpc>
              <a:spcBef>
                <a:spcPct val="0"/>
              </a:spcBef>
            </a:pPr>
            <a:r>
              <a:rPr lang="en-US" sz="4000" b="1" spc="-10" dirty="0">
                <a:latin typeface="Public Sans Bold" panose="020B0604020202020204" charset="0"/>
                <a:cs typeface="Times New Roman"/>
              </a:rPr>
              <a:t>Asset Tokenization: Decentralized Platform for real-World Asset Tokenization Using  Blockchain</a:t>
            </a:r>
            <a:endParaRPr lang="en-US" sz="3714" b="1" spc="843" dirty="0">
              <a:solidFill>
                <a:srgbClr val="2B2C30"/>
              </a:solidFill>
              <a:latin typeface="Public Sans Bold" panose="020B0604020202020204" charset="0"/>
              <a:ea typeface="Public Sans Bold"/>
              <a:cs typeface="Public Sans Bold"/>
              <a:sym typeface="Public Sans Bold"/>
            </a:endParaRPr>
          </a:p>
        </p:txBody>
      </p:sp>
      <p:sp>
        <p:nvSpPr>
          <p:cNvPr id="6" name="TextBox 6"/>
          <p:cNvSpPr txBox="1"/>
          <p:nvPr/>
        </p:nvSpPr>
        <p:spPr>
          <a:xfrm>
            <a:off x="955592" y="6858284"/>
            <a:ext cx="7862435" cy="2154436"/>
          </a:xfrm>
          <a:prstGeom prst="rect">
            <a:avLst/>
          </a:prstGeom>
        </p:spPr>
        <p:txBody>
          <a:bodyPr lIns="0" tIns="0" rIns="0" bIns="0" rtlCol="0" anchor="t">
            <a:spAutoFit/>
          </a:bodyPr>
          <a:lstStyle/>
          <a:p>
            <a:r>
              <a:rPr lang="en-US" sz="2000" dirty="0">
                <a:latin typeface="Public Sans "/>
              </a:rPr>
              <a:t>BY</a:t>
            </a:r>
          </a:p>
          <a:p>
            <a:r>
              <a:rPr lang="en-US" sz="2000" dirty="0">
                <a:solidFill>
                  <a:srgbClr val="000000"/>
                </a:solidFill>
                <a:latin typeface="Public Sans "/>
              </a:rPr>
              <a:t>Omkar Bharath Pukale - (1AM23CS127)</a:t>
            </a:r>
          </a:p>
          <a:p>
            <a:r>
              <a:rPr lang="en-US" sz="2000" dirty="0">
                <a:solidFill>
                  <a:srgbClr val="000000"/>
                </a:solidFill>
                <a:latin typeface="Public Sans "/>
                <a:ea typeface="Calibri"/>
                <a:cs typeface="Calibri"/>
              </a:rPr>
              <a:t>Sahil Kumar Mishra - (1AM23CS176)</a:t>
            </a:r>
          </a:p>
          <a:p>
            <a:r>
              <a:rPr lang="en-US" sz="2000" dirty="0">
                <a:solidFill>
                  <a:srgbClr val="000000"/>
                </a:solidFill>
                <a:latin typeface="Public Sans "/>
                <a:ea typeface="Calibri"/>
                <a:cs typeface="Calibri"/>
              </a:rPr>
              <a:t>Sandesh G.C - (1AM23CS183)</a:t>
            </a:r>
          </a:p>
          <a:p>
            <a:r>
              <a:rPr lang="en-US" sz="2000" dirty="0">
                <a:solidFill>
                  <a:srgbClr val="000000"/>
                </a:solidFill>
                <a:latin typeface="Public Sans "/>
                <a:ea typeface="Calibri"/>
                <a:cs typeface="Calibri"/>
              </a:rPr>
              <a:t>Sanjitha A - (1AM23CS186)</a:t>
            </a:r>
          </a:p>
          <a:p>
            <a:endParaRPr lang="en-US" sz="2000" dirty="0">
              <a:solidFill>
                <a:srgbClr val="000000"/>
              </a:solidFill>
              <a:latin typeface="Public Sans "/>
            </a:endParaRPr>
          </a:p>
          <a:p>
            <a:endParaRPr lang="en-US" sz="2000" dirty="0">
              <a:solidFill>
                <a:srgbClr val="000000"/>
              </a:solidFill>
              <a:latin typeface="Public Sans "/>
            </a:endParaRPr>
          </a:p>
        </p:txBody>
      </p:sp>
      <p:sp>
        <p:nvSpPr>
          <p:cNvPr id="7" name="TextBox 7"/>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8" name="object 10">
            <a:extLst>
              <a:ext uri="{FF2B5EF4-FFF2-40B4-BE49-F238E27FC236}">
                <a16:creationId xmlns:a16="http://schemas.microsoft.com/office/drawing/2014/main" id="{B46F6E62-AA5F-6695-A25C-0399B13E2A44}"/>
              </a:ext>
            </a:extLst>
          </p:cNvPr>
          <p:cNvPicPr/>
          <p:nvPr/>
        </p:nvPicPr>
        <p:blipFill>
          <a:blip r:embed="rId2" cstate="print"/>
          <a:stretch>
            <a:fillRect/>
          </a:stretch>
        </p:blipFill>
        <p:spPr>
          <a:xfrm>
            <a:off x="304800" y="160451"/>
            <a:ext cx="3048000" cy="1693200"/>
          </a:xfrm>
          <a:prstGeom prst="rect">
            <a:avLst/>
          </a:prstGeom>
        </p:spPr>
      </p:pic>
      <p:sp>
        <p:nvSpPr>
          <p:cNvPr id="9" name="object 22">
            <a:extLst>
              <a:ext uri="{FF2B5EF4-FFF2-40B4-BE49-F238E27FC236}">
                <a16:creationId xmlns:a16="http://schemas.microsoft.com/office/drawing/2014/main" id="{EE983DD3-F184-4D0E-F82B-91EA797804A7}"/>
              </a:ext>
            </a:extLst>
          </p:cNvPr>
          <p:cNvSpPr txBox="1"/>
          <p:nvPr/>
        </p:nvSpPr>
        <p:spPr>
          <a:xfrm>
            <a:off x="5520392" y="187665"/>
            <a:ext cx="7247215" cy="1748556"/>
          </a:xfrm>
          <a:prstGeom prst="rect">
            <a:avLst/>
          </a:prstGeom>
        </p:spPr>
        <p:txBody>
          <a:bodyPr vert="horz" wrap="square" lIns="0" tIns="12065" rIns="0" bIns="0" rtlCol="0">
            <a:spAutoFit/>
          </a:bodyPr>
          <a:lstStyle/>
          <a:p>
            <a:pPr marL="51435" algn="ctr">
              <a:lnSpc>
                <a:spcPct val="100000"/>
              </a:lnSpc>
              <a:spcBef>
                <a:spcPts val="95"/>
              </a:spcBef>
            </a:pPr>
            <a:r>
              <a:rPr lang="en-US" sz="4000" b="1" dirty="0">
                <a:latin typeface="Calibri"/>
                <a:cs typeface="Calibri"/>
              </a:rPr>
              <a:t>AMC</a:t>
            </a:r>
            <a:r>
              <a:rPr lang="en-US" sz="4000" b="1" spc="-114" dirty="0">
                <a:latin typeface="Calibri"/>
                <a:cs typeface="Calibri"/>
              </a:rPr>
              <a:t> </a:t>
            </a:r>
            <a:r>
              <a:rPr lang="en-US" sz="4000" b="1" dirty="0">
                <a:latin typeface="Calibri"/>
                <a:cs typeface="Calibri"/>
              </a:rPr>
              <a:t>ENGINEERING</a:t>
            </a:r>
            <a:r>
              <a:rPr lang="en-US" sz="4000" b="1" spc="-85" dirty="0">
                <a:latin typeface="Calibri"/>
                <a:cs typeface="Calibri"/>
              </a:rPr>
              <a:t> </a:t>
            </a:r>
            <a:r>
              <a:rPr lang="en-US" sz="4000" b="1" spc="-10" dirty="0">
                <a:latin typeface="Calibri"/>
                <a:cs typeface="Calibri"/>
              </a:rPr>
              <a:t>COLLEGE</a:t>
            </a:r>
            <a:endParaRPr lang="en-US" sz="4000" dirty="0">
              <a:latin typeface="Calibri"/>
              <a:cs typeface="Calibri"/>
            </a:endParaRPr>
          </a:p>
          <a:p>
            <a:pPr algn="ctr">
              <a:lnSpc>
                <a:spcPct val="100000"/>
              </a:lnSpc>
              <a:spcBef>
                <a:spcPts val="85"/>
              </a:spcBef>
            </a:pPr>
            <a:r>
              <a:rPr lang="en-US" dirty="0">
                <a:latin typeface="Calibri"/>
                <a:cs typeface="Calibri"/>
              </a:rPr>
              <a:t>(NAAC</a:t>
            </a:r>
            <a:r>
              <a:rPr lang="en-US" spc="-45" dirty="0">
                <a:latin typeface="Calibri"/>
                <a:cs typeface="Calibri"/>
              </a:rPr>
              <a:t> </a:t>
            </a:r>
            <a:r>
              <a:rPr lang="en-US" dirty="0">
                <a:latin typeface="Calibri"/>
                <a:cs typeface="Calibri"/>
              </a:rPr>
              <a:t>A+</a:t>
            </a:r>
            <a:r>
              <a:rPr lang="en-US" spc="-40" dirty="0">
                <a:latin typeface="Calibri"/>
                <a:cs typeface="Calibri"/>
              </a:rPr>
              <a:t> </a:t>
            </a:r>
            <a:r>
              <a:rPr lang="en-US" dirty="0">
                <a:latin typeface="Calibri"/>
                <a:cs typeface="Calibri"/>
              </a:rPr>
              <a:t>Accredited</a:t>
            </a:r>
            <a:r>
              <a:rPr lang="en-US" spc="-30" dirty="0">
                <a:latin typeface="Calibri"/>
                <a:cs typeface="Calibri"/>
              </a:rPr>
              <a:t> </a:t>
            </a:r>
            <a:r>
              <a:rPr lang="en-US" dirty="0">
                <a:latin typeface="Calibri"/>
                <a:cs typeface="Calibri"/>
              </a:rPr>
              <a:t>and</a:t>
            </a:r>
            <a:r>
              <a:rPr lang="en-US" spc="-60" dirty="0">
                <a:latin typeface="Calibri"/>
                <a:cs typeface="Calibri"/>
              </a:rPr>
              <a:t> </a:t>
            </a:r>
            <a:r>
              <a:rPr lang="en-US" dirty="0">
                <a:latin typeface="Calibri"/>
                <a:cs typeface="Calibri"/>
              </a:rPr>
              <a:t>AICTE</a:t>
            </a:r>
            <a:r>
              <a:rPr lang="en-US" spc="-45" dirty="0">
                <a:latin typeface="Calibri"/>
                <a:cs typeface="Calibri"/>
              </a:rPr>
              <a:t> </a:t>
            </a:r>
            <a:r>
              <a:rPr lang="en-US" dirty="0">
                <a:latin typeface="Calibri"/>
                <a:cs typeface="Calibri"/>
              </a:rPr>
              <a:t>Certified</a:t>
            </a:r>
            <a:r>
              <a:rPr lang="en-US" spc="-50" dirty="0">
                <a:latin typeface="Calibri"/>
                <a:cs typeface="Calibri"/>
              </a:rPr>
              <a:t> </a:t>
            </a:r>
            <a:r>
              <a:rPr lang="en-US" spc="-10" dirty="0">
                <a:latin typeface="Calibri"/>
                <a:cs typeface="Calibri"/>
              </a:rPr>
              <a:t>Institute)</a:t>
            </a:r>
            <a:endParaRPr lang="en-US" dirty="0">
              <a:latin typeface="Calibri"/>
              <a:cs typeface="Calibri"/>
            </a:endParaRPr>
          </a:p>
          <a:p>
            <a:pPr algn="ctr">
              <a:lnSpc>
                <a:spcPct val="100000"/>
              </a:lnSpc>
            </a:pPr>
            <a:r>
              <a:rPr lang="en-US" dirty="0">
                <a:latin typeface="Calibri"/>
                <a:cs typeface="Calibri"/>
              </a:rPr>
              <a:t>18</a:t>
            </a:r>
            <a:r>
              <a:rPr lang="en-US" baseline="26455" dirty="0">
                <a:latin typeface="Calibri"/>
                <a:cs typeface="Calibri"/>
              </a:rPr>
              <a:t>th</a:t>
            </a:r>
            <a:r>
              <a:rPr lang="en-US" spc="179" baseline="26455" dirty="0">
                <a:latin typeface="Calibri"/>
                <a:cs typeface="Calibri"/>
              </a:rPr>
              <a:t> </a:t>
            </a:r>
            <a:r>
              <a:rPr lang="en-US" dirty="0">
                <a:latin typeface="Calibri"/>
                <a:cs typeface="Calibri"/>
              </a:rPr>
              <a:t>K.M.</a:t>
            </a:r>
            <a:r>
              <a:rPr lang="en-US" spc="-30" dirty="0">
                <a:latin typeface="Calibri"/>
                <a:cs typeface="Calibri"/>
              </a:rPr>
              <a:t> </a:t>
            </a:r>
            <a:r>
              <a:rPr lang="en-US" dirty="0">
                <a:latin typeface="Calibri"/>
                <a:cs typeface="Calibri"/>
              </a:rPr>
              <a:t>Bannerghatta</a:t>
            </a:r>
            <a:r>
              <a:rPr lang="en-US" spc="-25" dirty="0">
                <a:latin typeface="Calibri"/>
                <a:cs typeface="Calibri"/>
              </a:rPr>
              <a:t> </a:t>
            </a:r>
            <a:r>
              <a:rPr lang="en-US" dirty="0">
                <a:latin typeface="Calibri"/>
                <a:cs typeface="Calibri"/>
              </a:rPr>
              <a:t>Main</a:t>
            </a:r>
            <a:r>
              <a:rPr lang="en-US" spc="-45" dirty="0">
                <a:latin typeface="Calibri"/>
                <a:cs typeface="Calibri"/>
              </a:rPr>
              <a:t> </a:t>
            </a:r>
            <a:r>
              <a:rPr lang="en-US" dirty="0">
                <a:latin typeface="Calibri"/>
                <a:cs typeface="Calibri"/>
              </a:rPr>
              <a:t>Road, Bengaluru,</a:t>
            </a:r>
            <a:r>
              <a:rPr lang="en-US" spc="-25" dirty="0">
                <a:latin typeface="Calibri"/>
                <a:cs typeface="Calibri"/>
              </a:rPr>
              <a:t> </a:t>
            </a:r>
            <a:r>
              <a:rPr lang="en-US" spc="-10" dirty="0">
                <a:latin typeface="Calibri"/>
                <a:cs typeface="Calibri"/>
              </a:rPr>
              <a:t>Karnataka-560083</a:t>
            </a:r>
            <a:endParaRPr lang="en-US" dirty="0">
              <a:latin typeface="Calibri"/>
              <a:cs typeface="Calibri"/>
            </a:endParaRPr>
          </a:p>
          <a:p>
            <a:pPr algn="ctr">
              <a:lnSpc>
                <a:spcPct val="100000"/>
              </a:lnSpc>
            </a:pPr>
            <a:r>
              <a:rPr lang="en-US" b="1" dirty="0">
                <a:latin typeface="Calibri"/>
                <a:cs typeface="Calibri"/>
              </a:rPr>
              <a:t>Phone</a:t>
            </a:r>
            <a:r>
              <a:rPr lang="en-US" b="1" spc="-50" dirty="0">
                <a:latin typeface="Calibri"/>
                <a:cs typeface="Calibri"/>
              </a:rPr>
              <a:t> </a:t>
            </a:r>
            <a:r>
              <a:rPr lang="en-US" b="1" dirty="0">
                <a:latin typeface="Calibri"/>
                <a:cs typeface="Calibri"/>
              </a:rPr>
              <a:t>No.</a:t>
            </a:r>
            <a:r>
              <a:rPr lang="en-US" b="1" spc="-60" dirty="0">
                <a:latin typeface="Calibri"/>
                <a:cs typeface="Calibri"/>
              </a:rPr>
              <a:t> </a:t>
            </a:r>
            <a:r>
              <a:rPr lang="en-US" b="1" dirty="0">
                <a:latin typeface="Calibri"/>
                <a:cs typeface="Calibri"/>
              </a:rPr>
              <a:t>Phone</a:t>
            </a:r>
            <a:r>
              <a:rPr lang="en-US" b="1" spc="-40" dirty="0">
                <a:latin typeface="Calibri"/>
                <a:cs typeface="Calibri"/>
              </a:rPr>
              <a:t> </a:t>
            </a:r>
            <a:r>
              <a:rPr lang="en-US" b="1" dirty="0">
                <a:latin typeface="Calibri"/>
                <a:cs typeface="Calibri"/>
              </a:rPr>
              <a:t>No.</a:t>
            </a:r>
            <a:r>
              <a:rPr lang="en-US" b="1" spc="-60" dirty="0">
                <a:latin typeface="Calibri"/>
                <a:cs typeface="Calibri"/>
              </a:rPr>
              <a:t> </a:t>
            </a:r>
            <a:r>
              <a:rPr lang="en-US" b="1" dirty="0">
                <a:latin typeface="Calibri"/>
                <a:cs typeface="Calibri"/>
              </a:rPr>
              <a:t>9250376104,</a:t>
            </a:r>
            <a:r>
              <a:rPr lang="en-US" b="1" spc="-10" dirty="0">
                <a:latin typeface="Calibri"/>
                <a:cs typeface="Calibri"/>
              </a:rPr>
              <a:t> 9811004275</a:t>
            </a:r>
            <a:endParaRPr lang="en-US" dirty="0">
              <a:latin typeface="Calibri"/>
              <a:cs typeface="Calibri"/>
            </a:endParaRPr>
          </a:p>
          <a:p>
            <a:pPr marL="1270" algn="ctr">
              <a:lnSpc>
                <a:spcPct val="100000"/>
              </a:lnSpc>
            </a:pPr>
            <a:r>
              <a:rPr lang="en-US" b="1" spc="-10" dirty="0">
                <a:latin typeface="Calibri"/>
                <a:cs typeface="Calibri"/>
                <a:hlinkClick r:id="rId3"/>
              </a:rPr>
              <a:t>http://www.amcgroup.edu.in</a:t>
            </a:r>
            <a:endParaRPr lang="en-US" dirty="0">
              <a:latin typeface="Calibri"/>
              <a:cs typeface="Calibri"/>
            </a:endParaRPr>
          </a:p>
        </p:txBody>
      </p:sp>
      <p:pic>
        <p:nvPicPr>
          <p:cNvPr id="10" name="object 7">
            <a:extLst>
              <a:ext uri="{FF2B5EF4-FFF2-40B4-BE49-F238E27FC236}">
                <a16:creationId xmlns:a16="http://schemas.microsoft.com/office/drawing/2014/main" id="{B60B8863-01E0-6286-75C2-9602A9154A25}"/>
              </a:ext>
            </a:extLst>
          </p:cNvPr>
          <p:cNvPicPr/>
          <p:nvPr/>
        </p:nvPicPr>
        <p:blipFill>
          <a:blip r:embed="rId4" cstate="print"/>
          <a:stretch>
            <a:fillRect/>
          </a:stretch>
        </p:blipFill>
        <p:spPr>
          <a:xfrm>
            <a:off x="16176054" y="144658"/>
            <a:ext cx="1587119" cy="1393952"/>
          </a:xfrm>
          <a:prstGeom prst="rect">
            <a:avLst/>
          </a:prstGeom>
        </p:spPr>
      </p:pic>
      <p:sp>
        <p:nvSpPr>
          <p:cNvPr id="11" name="TextBox 10">
            <a:extLst>
              <a:ext uri="{FF2B5EF4-FFF2-40B4-BE49-F238E27FC236}">
                <a16:creationId xmlns:a16="http://schemas.microsoft.com/office/drawing/2014/main" id="{9E536E3D-C06F-F966-5135-20D9DCD0BAA3}"/>
              </a:ext>
            </a:extLst>
          </p:cNvPr>
          <p:cNvSpPr txBox="1"/>
          <p:nvPr/>
        </p:nvSpPr>
        <p:spPr>
          <a:xfrm>
            <a:off x="739013" y="2309440"/>
            <a:ext cx="16230600" cy="3139321"/>
          </a:xfrm>
          <a:prstGeom prst="rect">
            <a:avLst/>
          </a:prstGeom>
          <a:noFill/>
        </p:spPr>
        <p:txBody>
          <a:bodyPr wrap="square" rtlCol="0">
            <a:spAutoFit/>
          </a:bodyPr>
          <a:lstStyle/>
          <a:p>
            <a:pPr algn="ctr"/>
            <a:r>
              <a:rPr lang="en-US" sz="6600" b="1" spc="-45" dirty="0">
                <a:latin typeface="Times New Roman"/>
                <a:cs typeface="Times New Roman"/>
              </a:rPr>
              <a:t>DEPARTMENT</a:t>
            </a:r>
            <a:r>
              <a:rPr lang="en-US" sz="6600" b="1" spc="-130" dirty="0">
                <a:latin typeface="Times New Roman"/>
                <a:cs typeface="Times New Roman"/>
              </a:rPr>
              <a:t> </a:t>
            </a:r>
            <a:r>
              <a:rPr lang="en-US" sz="6600" b="1" spc="-25" dirty="0">
                <a:latin typeface="Times New Roman"/>
                <a:cs typeface="Times New Roman"/>
              </a:rPr>
              <a:t>OF </a:t>
            </a:r>
            <a:r>
              <a:rPr lang="en-US" sz="6600" b="1" spc="-20" dirty="0">
                <a:latin typeface="Times New Roman"/>
                <a:cs typeface="Times New Roman"/>
              </a:rPr>
              <a:t>COMPUTER</a:t>
            </a:r>
            <a:r>
              <a:rPr lang="en-US" sz="6600" b="1" spc="-130" dirty="0">
                <a:latin typeface="Times New Roman"/>
                <a:cs typeface="Times New Roman"/>
              </a:rPr>
              <a:t> </a:t>
            </a:r>
            <a:r>
              <a:rPr lang="en-US" sz="6600" b="1" spc="-10" dirty="0">
                <a:latin typeface="Times New Roman"/>
                <a:cs typeface="Times New Roman"/>
              </a:rPr>
              <a:t>SCIENCE</a:t>
            </a:r>
            <a:r>
              <a:rPr lang="en-US" sz="6600" b="1" spc="-145" dirty="0">
                <a:latin typeface="Times New Roman"/>
                <a:cs typeface="Times New Roman"/>
              </a:rPr>
              <a:t> </a:t>
            </a:r>
            <a:r>
              <a:rPr lang="en-US" sz="6600" b="1" dirty="0">
                <a:latin typeface="Times New Roman"/>
                <a:cs typeface="Times New Roman"/>
              </a:rPr>
              <a:t>AND</a:t>
            </a:r>
            <a:r>
              <a:rPr lang="en-US" sz="6600" b="1" spc="-110" dirty="0">
                <a:latin typeface="Times New Roman"/>
                <a:cs typeface="Times New Roman"/>
              </a:rPr>
              <a:t> </a:t>
            </a:r>
            <a:r>
              <a:rPr lang="en-US" sz="6600" b="1" spc="-10" dirty="0">
                <a:latin typeface="Times New Roman"/>
                <a:cs typeface="Times New Roman"/>
              </a:rPr>
              <a:t>ENGINEERING</a:t>
            </a:r>
            <a:endParaRPr lang="en-US" sz="6600" dirty="0">
              <a:latin typeface="Times New Roman"/>
              <a:cs typeface="Times New Roman"/>
            </a:endParaRPr>
          </a:p>
          <a:p>
            <a:pPr algn="ctr"/>
            <a:endParaRPr lang="en-IN" sz="6600" dirty="0"/>
          </a:p>
        </p:txBody>
      </p:sp>
      <p:sp>
        <p:nvSpPr>
          <p:cNvPr id="13" name="TextBox 12">
            <a:extLst>
              <a:ext uri="{FF2B5EF4-FFF2-40B4-BE49-F238E27FC236}">
                <a16:creationId xmlns:a16="http://schemas.microsoft.com/office/drawing/2014/main" id="{248B536A-8AD1-669F-4AD4-7B7A03DC8E52}"/>
              </a:ext>
            </a:extLst>
          </p:cNvPr>
          <p:cNvSpPr txBox="1"/>
          <p:nvPr/>
        </p:nvSpPr>
        <p:spPr>
          <a:xfrm>
            <a:off x="838200" y="8877300"/>
            <a:ext cx="9144000" cy="779252"/>
          </a:xfrm>
          <a:prstGeom prst="rect">
            <a:avLst/>
          </a:prstGeom>
          <a:noFill/>
        </p:spPr>
        <p:txBody>
          <a:bodyPr wrap="square">
            <a:spAutoFit/>
          </a:bodyPr>
          <a:lstStyle/>
          <a:p>
            <a:pPr marL="12700" marR="5080">
              <a:lnSpc>
                <a:spcPct val="113700"/>
              </a:lnSpc>
              <a:spcBef>
                <a:spcPts val="95"/>
              </a:spcBef>
            </a:pPr>
            <a:r>
              <a:rPr lang="en-US" sz="2000" dirty="0">
                <a:latin typeface="Public Sans "/>
                <a:cs typeface="Times New Roman"/>
              </a:rPr>
              <a:t>Under</a:t>
            </a:r>
            <a:r>
              <a:rPr lang="en-US" sz="2000" spc="-75" dirty="0">
                <a:latin typeface="Public Sans "/>
                <a:cs typeface="Times New Roman"/>
              </a:rPr>
              <a:t> </a:t>
            </a:r>
            <a:r>
              <a:rPr lang="en-US" sz="2000" dirty="0">
                <a:latin typeface="Public Sans "/>
                <a:cs typeface="Times New Roman"/>
              </a:rPr>
              <a:t>the</a:t>
            </a:r>
            <a:r>
              <a:rPr lang="en-US" sz="2000" spc="-65" dirty="0">
                <a:latin typeface="Public Sans "/>
                <a:cs typeface="Times New Roman"/>
              </a:rPr>
              <a:t> </a:t>
            </a:r>
            <a:r>
              <a:rPr lang="en-US" sz="2000" dirty="0">
                <a:latin typeface="Public Sans "/>
                <a:cs typeface="Times New Roman"/>
              </a:rPr>
              <a:t>guidance</a:t>
            </a:r>
            <a:r>
              <a:rPr lang="en-US" sz="2000" spc="-100" dirty="0">
                <a:latin typeface="Public Sans "/>
                <a:cs typeface="Times New Roman"/>
              </a:rPr>
              <a:t> </a:t>
            </a:r>
            <a:r>
              <a:rPr lang="en-US" sz="2000" spc="-25" dirty="0">
                <a:latin typeface="Public Sans "/>
                <a:cs typeface="Times New Roman"/>
              </a:rPr>
              <a:t>of Prof. Premkumar M K </a:t>
            </a:r>
            <a:r>
              <a:rPr lang="en-US" sz="2000" dirty="0">
                <a:latin typeface="Public Sans "/>
                <a:cs typeface="Times New Roman"/>
              </a:rPr>
              <a:t> </a:t>
            </a:r>
          </a:p>
          <a:p>
            <a:pPr marL="12700" marR="5080">
              <a:lnSpc>
                <a:spcPct val="113700"/>
              </a:lnSpc>
              <a:spcBef>
                <a:spcPts val="95"/>
              </a:spcBef>
            </a:pPr>
            <a:r>
              <a:rPr lang="en-US" sz="2000" dirty="0">
                <a:latin typeface="Public Sans "/>
                <a:cs typeface="Times New Roman"/>
              </a:rPr>
              <a:t>Assistant</a:t>
            </a:r>
            <a:r>
              <a:rPr lang="en-US" sz="2000" spc="-135" dirty="0">
                <a:latin typeface="Public Sans "/>
                <a:cs typeface="Times New Roman"/>
              </a:rPr>
              <a:t> </a:t>
            </a:r>
            <a:r>
              <a:rPr lang="en-US" sz="2000" spc="-10" dirty="0">
                <a:latin typeface="Public Sans "/>
                <a:cs typeface="Times New Roman"/>
              </a:rPr>
              <a:t>Professor </a:t>
            </a:r>
            <a:r>
              <a:rPr lang="en-US" sz="2000" dirty="0">
                <a:latin typeface="Public Sans "/>
                <a:cs typeface="Times New Roman"/>
              </a:rPr>
              <a:t>Dept.</a:t>
            </a:r>
            <a:r>
              <a:rPr lang="en-US" sz="2000" spc="-45" dirty="0">
                <a:latin typeface="Public Sans "/>
                <a:cs typeface="Times New Roman"/>
              </a:rPr>
              <a:t> </a:t>
            </a:r>
            <a:r>
              <a:rPr lang="en-US" sz="2000" spc="-10" dirty="0">
                <a:latin typeface="Public Sans "/>
                <a:cs typeface="Times New Roman"/>
              </a:rPr>
              <a:t>CSE</a:t>
            </a:r>
            <a:r>
              <a:rPr lang="en-US" sz="2000" spc="-105" dirty="0">
                <a:latin typeface="Public Sans "/>
                <a:cs typeface="Times New Roman"/>
              </a:rPr>
              <a:t> </a:t>
            </a:r>
            <a:r>
              <a:rPr lang="en-US" sz="2000" spc="-10" dirty="0">
                <a:latin typeface="Public Sans "/>
                <a:cs typeface="Times New Roman"/>
              </a:rPr>
              <a:t>AMCEC</a:t>
            </a:r>
            <a:endParaRPr lang="en-US" sz="2000" dirty="0">
              <a:latin typeface="Public Sans "/>
              <a:cs typeface="Times New Roman"/>
            </a:endParaRPr>
          </a:p>
        </p:txBody>
      </p:sp>
      <p:sp>
        <p:nvSpPr>
          <p:cNvPr id="14" name="object 16">
            <a:extLst>
              <a:ext uri="{FF2B5EF4-FFF2-40B4-BE49-F238E27FC236}">
                <a16:creationId xmlns:a16="http://schemas.microsoft.com/office/drawing/2014/main" id="{10B72301-DB59-FB64-027B-BB01C4C9C0BD}"/>
              </a:ext>
            </a:extLst>
          </p:cNvPr>
          <p:cNvSpPr txBox="1">
            <a:spLocks/>
          </p:cNvSpPr>
          <p:nvPr/>
        </p:nvSpPr>
        <p:spPr>
          <a:xfrm>
            <a:off x="17259300"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a:t>
            </a:fld>
            <a:endParaRPr lang="en-IN"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28700" y="1249537"/>
            <a:ext cx="16230600" cy="631776"/>
          </a:xfrm>
          <a:prstGeom prst="rect">
            <a:avLst/>
          </a:prstGeom>
        </p:spPr>
        <p:txBody>
          <a:bodyPr lIns="0" tIns="0" rIns="0" bIns="0" rtlCol="0" anchor="t">
            <a:spAutoFit/>
          </a:bodyPr>
          <a:lstStyle/>
          <a:p>
            <a:pPr>
              <a:lnSpc>
                <a:spcPts val="5200"/>
              </a:lnSpc>
              <a:spcBef>
                <a:spcPct val="0"/>
              </a:spcBef>
            </a:pPr>
            <a:r>
              <a:rPr lang="en-IN" sz="4000" spc="600" dirty="0">
                <a:latin typeface="Public Sans Bold" panose="020B0604020202020204" charset="0"/>
              </a:rPr>
              <a:t>PRESENTATION FLOW</a:t>
            </a:r>
            <a:endParaRPr lang="en-US" sz="3714" b="1" spc="600" dirty="0">
              <a:solidFill>
                <a:srgbClr val="2B2C30"/>
              </a:solidFill>
              <a:latin typeface="Public Sans Bold" panose="020B0604020202020204" charset="0"/>
              <a:ea typeface="Public Sans Bold"/>
              <a:cs typeface="Public Sans Bold"/>
              <a:sym typeface="Public Sans Bold"/>
            </a:endParaRPr>
          </a:p>
        </p:txBody>
      </p:sp>
      <p:sp>
        <p:nvSpPr>
          <p:cNvPr id="3" name="AutoShape 3"/>
          <p:cNvSpPr/>
          <p:nvPr/>
        </p:nvSpPr>
        <p:spPr>
          <a:xfrm flipV="1">
            <a:off x="1028703" y="2083781"/>
            <a:ext cx="16230594" cy="38509"/>
          </a:xfrm>
          <a:prstGeom prst="line">
            <a:avLst/>
          </a:prstGeom>
          <a:ln w="9525" cap="flat">
            <a:solidFill>
              <a:srgbClr val="2B2C30"/>
            </a:solidFill>
            <a:prstDash val="solid"/>
            <a:headEnd type="none" w="sm" len="sm"/>
            <a:tailEnd type="none" w="sm" len="sm"/>
          </a:ln>
        </p:spPr>
      </p:sp>
      <p:sp>
        <p:nvSpPr>
          <p:cNvPr id="4" name="TextBox 4"/>
          <p:cNvSpPr txBox="1"/>
          <p:nvPr/>
        </p:nvSpPr>
        <p:spPr>
          <a:xfrm>
            <a:off x="1028689" y="2122290"/>
            <a:ext cx="7877184" cy="6584303"/>
          </a:xfrm>
          <a:prstGeom prst="rect">
            <a:avLst/>
          </a:prstGeom>
        </p:spPr>
        <p:txBody>
          <a:bodyPr lIns="0" tIns="0" rIns="0" bIns="0" rtlCol="0" anchor="t">
            <a:spAutoFit/>
          </a:bodyPr>
          <a:lstStyle/>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Abstract</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Introduction</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Literature Survey</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Problem Statements</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Objectives</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Methodology</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Architecture Diagram</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Hardware/Software Components</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Data-Flow Diagram</a:t>
            </a:r>
          </a:p>
          <a:p>
            <a:pPr marL="604519" lvl="1" indent="-302260" algn="l">
              <a:lnSpc>
                <a:spcPts val="5235"/>
              </a:lnSpc>
              <a:buFont typeface="Arial"/>
              <a:buChar char="•"/>
            </a:pPr>
            <a:r>
              <a:rPr lang="en-US" sz="2799" dirty="0">
                <a:solidFill>
                  <a:srgbClr val="2B2C30"/>
                </a:solidFill>
                <a:latin typeface="Public Sans"/>
                <a:ea typeface="Public Sans"/>
                <a:cs typeface="Public Sans"/>
                <a:sym typeface="Public Sans"/>
              </a:rPr>
              <a:t>Dashboard UI</a:t>
            </a:r>
          </a:p>
        </p:txBody>
      </p:sp>
      <p:pic>
        <p:nvPicPr>
          <p:cNvPr id="10" name="Picture 9">
            <a:extLst>
              <a:ext uri="{FF2B5EF4-FFF2-40B4-BE49-F238E27FC236}">
                <a16:creationId xmlns:a16="http://schemas.microsoft.com/office/drawing/2014/main" id="{FA106E75-A563-BB59-6529-7B5087D8D423}"/>
              </a:ext>
            </a:extLst>
          </p:cNvPr>
          <p:cNvPicPr>
            <a:picLocks noChangeAspect="1"/>
          </p:cNvPicPr>
          <p:nvPr/>
        </p:nvPicPr>
        <p:blipFill>
          <a:blip r:embed="rId2"/>
          <a:stretch>
            <a:fillRect/>
          </a:stretch>
        </p:blipFill>
        <p:spPr>
          <a:xfrm>
            <a:off x="116294" y="114300"/>
            <a:ext cx="1800225" cy="990600"/>
          </a:xfrm>
          <a:prstGeom prst="rect">
            <a:avLst/>
          </a:prstGeom>
        </p:spPr>
      </p:pic>
      <p:sp>
        <p:nvSpPr>
          <p:cNvPr id="7" name="TextBox 7">
            <a:extLst>
              <a:ext uri="{FF2B5EF4-FFF2-40B4-BE49-F238E27FC236}">
                <a16:creationId xmlns:a16="http://schemas.microsoft.com/office/drawing/2014/main" id="{9F8A7509-E302-AC7A-3372-200BFB71F3D4}"/>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8" name="Picture 7">
            <a:extLst>
              <a:ext uri="{FF2B5EF4-FFF2-40B4-BE49-F238E27FC236}">
                <a16:creationId xmlns:a16="http://schemas.microsoft.com/office/drawing/2014/main" id="{CE19FBB4-EBA9-2B10-0CAE-5BD9FDCDEEBB}"/>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9" name="object 13">
            <a:extLst>
              <a:ext uri="{FF2B5EF4-FFF2-40B4-BE49-F238E27FC236}">
                <a16:creationId xmlns:a16="http://schemas.microsoft.com/office/drawing/2014/main" id="{1ECF76F0-622E-4CF7-C95D-D9DFBA36AA71}"/>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11" name="object 16">
            <a:extLst>
              <a:ext uri="{FF2B5EF4-FFF2-40B4-BE49-F238E27FC236}">
                <a16:creationId xmlns:a16="http://schemas.microsoft.com/office/drawing/2014/main" id="{CE297538-1923-CCEF-436D-953643F7AD00}"/>
              </a:ext>
            </a:extLst>
          </p:cNvPr>
          <p:cNvSpPr txBox="1">
            <a:spLocks/>
          </p:cNvSpPr>
          <p:nvPr/>
        </p:nvSpPr>
        <p:spPr>
          <a:xfrm>
            <a:off x="17259297"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2</a:t>
            </a:fld>
            <a:endParaRPr lang="en-IN"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8AF85AB-DFD3-8D44-470E-8E448FAF777E}"/>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10" name="Picture 9">
            <a:extLst>
              <a:ext uri="{FF2B5EF4-FFF2-40B4-BE49-F238E27FC236}">
                <a16:creationId xmlns:a16="http://schemas.microsoft.com/office/drawing/2014/main" id="{992BA844-2EDC-C952-3108-70001F7B64AD}"/>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6" name="TextBox 7">
            <a:extLst>
              <a:ext uri="{FF2B5EF4-FFF2-40B4-BE49-F238E27FC236}">
                <a16:creationId xmlns:a16="http://schemas.microsoft.com/office/drawing/2014/main" id="{D79215E0-A604-AF00-5C84-FFBFDAA2514A}"/>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sp>
        <p:nvSpPr>
          <p:cNvPr id="7" name="object 13">
            <a:extLst>
              <a:ext uri="{FF2B5EF4-FFF2-40B4-BE49-F238E27FC236}">
                <a16:creationId xmlns:a16="http://schemas.microsoft.com/office/drawing/2014/main" id="{0072BBE1-2A39-C22F-FE50-8578DE940B78}"/>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9" name="TextBox 2">
            <a:extLst>
              <a:ext uri="{FF2B5EF4-FFF2-40B4-BE49-F238E27FC236}">
                <a16:creationId xmlns:a16="http://schemas.microsoft.com/office/drawing/2014/main" id="{4588A0C3-2805-0C26-4E3D-C905B36B8EB1}"/>
              </a:ext>
            </a:extLst>
          </p:cNvPr>
          <p:cNvSpPr txBox="1"/>
          <p:nvPr/>
        </p:nvSpPr>
        <p:spPr>
          <a:xfrm>
            <a:off x="1028700" y="1249537"/>
            <a:ext cx="16230600" cy="631776"/>
          </a:xfrm>
          <a:prstGeom prst="rect">
            <a:avLst/>
          </a:prstGeom>
        </p:spPr>
        <p:txBody>
          <a:bodyPr lIns="0" tIns="0" rIns="0" bIns="0" rtlCol="0" anchor="t">
            <a:spAutoFit/>
          </a:bodyPr>
          <a:lstStyle/>
          <a:p>
            <a:pPr>
              <a:lnSpc>
                <a:spcPts val="5200"/>
              </a:lnSpc>
              <a:spcBef>
                <a:spcPct val="0"/>
              </a:spcBef>
            </a:pPr>
            <a:r>
              <a:rPr lang="en-IN" sz="4000" spc="600" dirty="0">
                <a:latin typeface="Public Sans Bold" panose="020B0604020202020204" charset="0"/>
              </a:rPr>
              <a:t>ABSTRACT (1)</a:t>
            </a:r>
            <a:endParaRPr lang="en-US" sz="3714" b="1" spc="600" dirty="0">
              <a:solidFill>
                <a:srgbClr val="2B2C30"/>
              </a:solidFill>
              <a:latin typeface="Public Sans Bold" panose="020B0604020202020204" charset="0"/>
              <a:ea typeface="Public Sans Bold"/>
              <a:cs typeface="Public Sans Bold"/>
              <a:sym typeface="Public Sans Bold"/>
            </a:endParaRPr>
          </a:p>
        </p:txBody>
      </p:sp>
      <p:sp>
        <p:nvSpPr>
          <p:cNvPr id="11" name="AutoShape 3">
            <a:extLst>
              <a:ext uri="{FF2B5EF4-FFF2-40B4-BE49-F238E27FC236}">
                <a16:creationId xmlns:a16="http://schemas.microsoft.com/office/drawing/2014/main" id="{4FDCEBBB-0FA0-3FAE-B2B6-8A39A382CC1A}"/>
              </a:ext>
            </a:extLst>
          </p:cNvPr>
          <p:cNvSpPr/>
          <p:nvPr/>
        </p:nvSpPr>
        <p:spPr>
          <a:xfrm flipV="1">
            <a:off x="1028703" y="2083781"/>
            <a:ext cx="16230594" cy="38509"/>
          </a:xfrm>
          <a:prstGeom prst="line">
            <a:avLst/>
          </a:prstGeom>
          <a:ln w="9525" cap="flat">
            <a:solidFill>
              <a:srgbClr val="2B2C30"/>
            </a:solidFill>
            <a:prstDash val="solid"/>
            <a:headEnd type="none" w="sm" len="sm"/>
            <a:tailEnd type="none" w="sm" len="sm"/>
          </a:ln>
        </p:spPr>
      </p:sp>
      <p:sp>
        <p:nvSpPr>
          <p:cNvPr id="12" name="TextBox 11">
            <a:extLst>
              <a:ext uri="{FF2B5EF4-FFF2-40B4-BE49-F238E27FC236}">
                <a16:creationId xmlns:a16="http://schemas.microsoft.com/office/drawing/2014/main" id="{4035798D-64C6-CF20-9030-EF2D062890A4}"/>
              </a:ext>
            </a:extLst>
          </p:cNvPr>
          <p:cNvSpPr txBox="1"/>
          <p:nvPr/>
        </p:nvSpPr>
        <p:spPr>
          <a:xfrm>
            <a:off x="1028700" y="2857500"/>
            <a:ext cx="13556973"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lgn="just">
              <a:buFont typeface="Wingdings" panose="05000000000000000000" pitchFamily="2" charset="2"/>
              <a:buChar char="v"/>
            </a:pPr>
            <a:r>
              <a:rPr lang="en-US" sz="2800" dirty="0">
                <a:solidFill>
                  <a:schemeClr val="bg2">
                    <a:lumMod val="25000"/>
                  </a:schemeClr>
                </a:solidFill>
                <a:latin typeface="Times New Roman" panose="02020603050405020304" pitchFamily="18" charset="0"/>
                <a:cs typeface="Times New Roman" panose="02020603050405020304" pitchFamily="18" charset="0"/>
              </a:rPr>
              <a:t>The project proposes a decentralized platform for tokenizing real-world assets using blockchain technology.</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ea typeface="Calibri"/>
              <a:cs typeface="Times New Roman" panose="02020603050405020304" pitchFamily="18" charset="0"/>
            </a:endParaRPr>
          </a:p>
          <a:p>
            <a:pPr marL="571500" indent="-571500" algn="just">
              <a:buFont typeface="Wingdings" panose="05000000000000000000" pitchFamily="2" charset="2"/>
              <a:buChar char="v"/>
            </a:pPr>
            <a:r>
              <a:rPr lang="en-US" sz="2800" dirty="0">
                <a:solidFill>
                  <a:schemeClr val="bg2">
                    <a:lumMod val="25000"/>
                  </a:schemeClr>
                </a:solidFill>
                <a:latin typeface="Times New Roman" panose="02020603050405020304" pitchFamily="18" charset="0"/>
                <a:cs typeface="Times New Roman" panose="02020603050405020304" pitchFamily="18" charset="0"/>
              </a:rPr>
              <a:t>It enables fractional ownership, allowing investors to buy small portions of high-value assets instead of entire assets.</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US" sz="2800" dirty="0">
                <a:solidFill>
                  <a:schemeClr val="bg2">
                    <a:lumMod val="25000"/>
                  </a:schemeClr>
                </a:solidFill>
                <a:latin typeface="Times New Roman" panose="02020603050405020304" pitchFamily="18" charset="0"/>
                <a:cs typeface="Times New Roman" panose="02020603050405020304" pitchFamily="18" charset="0"/>
              </a:rPr>
              <a:t>The solution targets traditionally illiquid assets such as real estate, commodities, and other high-value holdings.</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US" sz="2800" dirty="0">
                <a:solidFill>
                  <a:schemeClr val="bg2">
                    <a:lumMod val="25000"/>
                  </a:schemeClr>
                </a:solidFill>
                <a:latin typeface="Times New Roman" panose="02020603050405020304" pitchFamily="18" charset="0"/>
                <a:cs typeface="Times New Roman" panose="02020603050405020304" pitchFamily="18" charset="0"/>
              </a:rPr>
              <a:t>Asset ownership rights are converted into digital tokens, which are recorded and managed on a blockchain network.</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US" sz="2800" dirty="0">
                <a:solidFill>
                  <a:schemeClr val="bg2">
                    <a:lumMod val="25000"/>
                  </a:schemeClr>
                </a:solidFill>
                <a:latin typeface="Times New Roman" panose="02020603050405020304" pitchFamily="18" charset="0"/>
                <a:cs typeface="Times New Roman" panose="02020603050405020304" pitchFamily="18" charset="0"/>
              </a:rPr>
              <a:t>Smart contracts securely handle token minting, transfers, and ownership records without full reliance on intermediaries.</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ea typeface="Calibri"/>
              <a:cs typeface="Times New Roman" panose="02020603050405020304" pitchFamily="18" charset="0"/>
            </a:endParaRPr>
          </a:p>
        </p:txBody>
      </p:sp>
      <p:sp>
        <p:nvSpPr>
          <p:cNvPr id="13" name="object 16">
            <a:extLst>
              <a:ext uri="{FF2B5EF4-FFF2-40B4-BE49-F238E27FC236}">
                <a16:creationId xmlns:a16="http://schemas.microsoft.com/office/drawing/2014/main" id="{571CFC63-CC79-CB75-96D0-FAA6C155BC32}"/>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3</a:t>
            </a:fld>
            <a:endParaRPr lang="en-IN"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053535F3-04A2-6B46-4261-BD2F1BD4CA1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15EA16C-90EA-C3FF-F938-B9433654FE79}"/>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10" name="Picture 9">
            <a:extLst>
              <a:ext uri="{FF2B5EF4-FFF2-40B4-BE49-F238E27FC236}">
                <a16:creationId xmlns:a16="http://schemas.microsoft.com/office/drawing/2014/main" id="{DF0C73CE-1D3C-9419-12B2-3875B5ADAFD2}"/>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6" name="TextBox 7">
            <a:extLst>
              <a:ext uri="{FF2B5EF4-FFF2-40B4-BE49-F238E27FC236}">
                <a16:creationId xmlns:a16="http://schemas.microsoft.com/office/drawing/2014/main" id="{9896A02B-BDED-C4A9-8FCA-632F6E2B6047}"/>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sp>
        <p:nvSpPr>
          <p:cNvPr id="7" name="object 13">
            <a:extLst>
              <a:ext uri="{FF2B5EF4-FFF2-40B4-BE49-F238E27FC236}">
                <a16:creationId xmlns:a16="http://schemas.microsoft.com/office/drawing/2014/main" id="{D38F2B0E-1454-6F1A-6C77-44B06B4F0925}"/>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9" name="TextBox 2">
            <a:extLst>
              <a:ext uri="{FF2B5EF4-FFF2-40B4-BE49-F238E27FC236}">
                <a16:creationId xmlns:a16="http://schemas.microsoft.com/office/drawing/2014/main" id="{1EF32850-1DB0-F20E-933E-CC75DECD648B}"/>
              </a:ext>
            </a:extLst>
          </p:cNvPr>
          <p:cNvSpPr txBox="1"/>
          <p:nvPr/>
        </p:nvSpPr>
        <p:spPr>
          <a:xfrm>
            <a:off x="1028700" y="1249537"/>
            <a:ext cx="16230600" cy="631776"/>
          </a:xfrm>
          <a:prstGeom prst="rect">
            <a:avLst/>
          </a:prstGeom>
        </p:spPr>
        <p:txBody>
          <a:bodyPr lIns="0" tIns="0" rIns="0" bIns="0" rtlCol="0" anchor="t">
            <a:spAutoFit/>
          </a:bodyPr>
          <a:lstStyle/>
          <a:p>
            <a:pPr>
              <a:lnSpc>
                <a:spcPts val="5200"/>
              </a:lnSpc>
              <a:spcBef>
                <a:spcPct val="0"/>
              </a:spcBef>
            </a:pPr>
            <a:r>
              <a:rPr lang="en-IN" sz="4000" spc="600" dirty="0">
                <a:latin typeface="Public Sans Bold" panose="020B0604020202020204" charset="0"/>
              </a:rPr>
              <a:t>ABSTRACT (2)</a:t>
            </a:r>
            <a:endParaRPr lang="en-US" sz="3714" b="1" spc="600" dirty="0">
              <a:solidFill>
                <a:srgbClr val="2B2C30"/>
              </a:solidFill>
              <a:latin typeface="Public Sans Bold" panose="020B0604020202020204" charset="0"/>
              <a:ea typeface="Public Sans Bold"/>
              <a:cs typeface="Public Sans Bold"/>
              <a:sym typeface="Public Sans Bold"/>
            </a:endParaRPr>
          </a:p>
        </p:txBody>
      </p:sp>
      <p:sp>
        <p:nvSpPr>
          <p:cNvPr id="11" name="AutoShape 3">
            <a:extLst>
              <a:ext uri="{FF2B5EF4-FFF2-40B4-BE49-F238E27FC236}">
                <a16:creationId xmlns:a16="http://schemas.microsoft.com/office/drawing/2014/main" id="{4680E824-70B7-D6CD-8371-73D280DB5501}"/>
              </a:ext>
            </a:extLst>
          </p:cNvPr>
          <p:cNvSpPr/>
          <p:nvPr/>
        </p:nvSpPr>
        <p:spPr>
          <a:xfrm flipV="1">
            <a:off x="1028703" y="2083781"/>
            <a:ext cx="16230594" cy="38509"/>
          </a:xfrm>
          <a:prstGeom prst="line">
            <a:avLst/>
          </a:prstGeom>
          <a:ln w="9525" cap="flat">
            <a:solidFill>
              <a:srgbClr val="2B2C30"/>
            </a:solidFill>
            <a:prstDash val="solid"/>
            <a:headEnd type="none" w="sm" len="sm"/>
            <a:tailEnd type="none" w="sm" len="sm"/>
          </a:ln>
        </p:spPr>
      </p:sp>
      <p:sp>
        <p:nvSpPr>
          <p:cNvPr id="12" name="TextBox 11">
            <a:extLst>
              <a:ext uri="{FF2B5EF4-FFF2-40B4-BE49-F238E27FC236}">
                <a16:creationId xmlns:a16="http://schemas.microsoft.com/office/drawing/2014/main" id="{8324E947-9326-60FC-3B60-273AB693686B}"/>
              </a:ext>
            </a:extLst>
          </p:cNvPr>
          <p:cNvSpPr txBox="1"/>
          <p:nvPr/>
        </p:nvSpPr>
        <p:spPr>
          <a:xfrm>
            <a:off x="1028700" y="2857500"/>
            <a:ext cx="13556973"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lgn="just">
              <a:buFont typeface="Wingdings" panose="05000000000000000000" pitchFamily="2" charset="2"/>
              <a:buChar char="v"/>
            </a:pPr>
            <a:r>
              <a:rPr lang="en" sz="2800" dirty="0">
                <a:solidFill>
                  <a:schemeClr val="bg2">
                    <a:lumMod val="25000"/>
                  </a:schemeClr>
                </a:solidFill>
                <a:latin typeface="Times New Roman" panose="02020603050405020304" pitchFamily="18" charset="0"/>
                <a:cs typeface="Times New Roman" panose="02020603050405020304" pitchFamily="18" charset="0"/>
              </a:rPr>
              <a:t>The platform uses a web-based interface for asset listing, token purchase, and transaction tracking.</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 sz="2800" dirty="0">
                <a:solidFill>
                  <a:schemeClr val="bg2">
                    <a:lumMod val="25000"/>
                  </a:schemeClr>
                </a:solidFill>
                <a:latin typeface="Times New Roman" panose="02020603050405020304" pitchFamily="18" charset="0"/>
                <a:cs typeface="Times New Roman" panose="02020603050405020304" pitchFamily="18" charset="0"/>
              </a:rPr>
              <a:t>The tech stack includes React.js for frontend, Node.js and Express.js for backend, and MongoDB for off-chain data.</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 sz="2800" dirty="0">
                <a:solidFill>
                  <a:schemeClr val="bg2">
                    <a:lumMod val="25000"/>
                  </a:schemeClr>
                </a:solidFill>
                <a:latin typeface="Times New Roman" panose="02020603050405020304" pitchFamily="18" charset="0"/>
                <a:cs typeface="Times New Roman" panose="02020603050405020304" pitchFamily="18" charset="0"/>
              </a:rPr>
              <a:t>The system is integrated with an Ethereum test network to deploy and validate blockchain functions.</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 sz="2800" dirty="0">
                <a:solidFill>
                  <a:schemeClr val="bg2">
                    <a:lumMod val="25000"/>
                  </a:schemeClr>
                </a:solidFill>
                <a:latin typeface="Times New Roman" panose="02020603050405020304" pitchFamily="18" charset="0"/>
                <a:cs typeface="Times New Roman" panose="02020603050405020304" pitchFamily="18" charset="0"/>
              </a:rPr>
              <a:t>The platform ensures transparency and immutability through distributed ledger technology, making records tamper-proof.</a:t>
            </a:r>
          </a:p>
          <a:p>
            <a:pPr marL="571500" indent="-571500" algn="just">
              <a:buFont typeface="Wingdings" panose="05000000000000000000" pitchFamily="2" charset="2"/>
              <a:buChar char="v"/>
            </a:pP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 sz="2800" dirty="0">
                <a:solidFill>
                  <a:schemeClr val="bg2">
                    <a:lumMod val="25000"/>
                  </a:schemeClr>
                </a:solidFill>
                <a:latin typeface="Times New Roman" panose="02020603050405020304" pitchFamily="18" charset="0"/>
                <a:cs typeface="Times New Roman" panose="02020603050405020304" pitchFamily="18" charset="0"/>
              </a:rPr>
              <a:t>The project demonstrates the feasibility and scalability of asset tokenization as a modern, inclusive, and efficient investment model.</a:t>
            </a:r>
            <a:endParaRPr lang="en-US" sz="2800" dirty="0">
              <a:solidFill>
                <a:schemeClr val="bg2">
                  <a:lumMod val="25000"/>
                </a:schemeClr>
              </a:solidFill>
              <a:latin typeface="Times New Roman" panose="02020603050405020304" pitchFamily="18" charset="0"/>
              <a:cs typeface="Times New Roman" panose="02020603050405020304" pitchFamily="18" charset="0"/>
            </a:endParaRPr>
          </a:p>
          <a:p>
            <a:pPr algn="just"/>
            <a:br>
              <a:rPr lang="en-US" sz="2800" dirty="0">
                <a:solidFill>
                  <a:schemeClr val="bg2">
                    <a:lumMod val="25000"/>
                  </a:schemeClr>
                </a:solidFill>
                <a:latin typeface="Times New Roman" panose="02020603050405020304" pitchFamily="18" charset="0"/>
                <a:cs typeface="Times New Roman" panose="02020603050405020304" pitchFamily="18" charset="0"/>
              </a:rPr>
            </a:br>
            <a:endParaRPr lang="en-US" sz="28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 name="object 16">
            <a:extLst>
              <a:ext uri="{FF2B5EF4-FFF2-40B4-BE49-F238E27FC236}">
                <a16:creationId xmlns:a16="http://schemas.microsoft.com/office/drawing/2014/main" id="{6F372298-631E-CE5E-69E9-78A97E8A6612}"/>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4</a:t>
            </a:fld>
            <a:endParaRPr lang="en-IN" spc="-50" dirty="0"/>
          </a:p>
        </p:txBody>
      </p:sp>
    </p:spTree>
    <p:extLst>
      <p:ext uri="{BB962C8B-B14F-4D97-AF65-F5344CB8AC3E}">
        <p14:creationId xmlns:p14="http://schemas.microsoft.com/office/powerpoint/2010/main" val="114573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5" name="TextBox 5"/>
          <p:cNvSpPr txBox="1"/>
          <p:nvPr/>
        </p:nvSpPr>
        <p:spPr>
          <a:xfrm>
            <a:off x="1022553" y="1230818"/>
            <a:ext cx="16230600" cy="609590"/>
          </a:xfrm>
          <a:prstGeom prst="rect">
            <a:avLst/>
          </a:prstGeom>
        </p:spPr>
        <p:txBody>
          <a:bodyPr lIns="0" tIns="0" rIns="0" bIns="0" rtlCol="0" anchor="t">
            <a:spAutoFit/>
          </a:bodyPr>
          <a:lstStyle/>
          <a:p>
            <a:pPr algn="l">
              <a:lnSpc>
                <a:spcPts val="5200"/>
              </a:lnSpc>
              <a:spcBef>
                <a:spcPct val="0"/>
              </a:spcBef>
            </a:pPr>
            <a:r>
              <a:rPr lang="en-US" sz="3714" b="1" spc="843" dirty="0">
                <a:solidFill>
                  <a:srgbClr val="2B2C30"/>
                </a:solidFill>
                <a:latin typeface="Public Sans Bold"/>
                <a:ea typeface="Public Sans Bold"/>
                <a:cs typeface="Public Sans Bold"/>
                <a:sym typeface="Public Sans Bold"/>
              </a:rPr>
              <a:t>INTRODUCTION</a:t>
            </a:r>
          </a:p>
        </p:txBody>
      </p:sp>
      <p:sp>
        <p:nvSpPr>
          <p:cNvPr id="6" name="AutoShape 6"/>
          <p:cNvSpPr/>
          <p:nvPr/>
        </p:nvSpPr>
        <p:spPr>
          <a:xfrm flipV="1">
            <a:off x="1028706" y="2085845"/>
            <a:ext cx="16230594" cy="38509"/>
          </a:xfrm>
          <a:prstGeom prst="line">
            <a:avLst/>
          </a:prstGeom>
          <a:ln w="9525" cap="flat">
            <a:solidFill>
              <a:srgbClr val="2B2C30"/>
            </a:solidFill>
            <a:prstDash val="solid"/>
            <a:headEnd type="none" w="sm" len="sm"/>
            <a:tailEnd type="none" w="sm" len="sm"/>
          </a:ln>
        </p:spPr>
        <p:txBody>
          <a:bodyPr/>
          <a:lstStyle/>
          <a:p>
            <a:endParaRPr lang="en-IN" dirty="0"/>
          </a:p>
        </p:txBody>
      </p:sp>
      <p:sp>
        <p:nvSpPr>
          <p:cNvPr id="7" name="TextBox 7">
            <a:extLst>
              <a:ext uri="{FF2B5EF4-FFF2-40B4-BE49-F238E27FC236}">
                <a16:creationId xmlns:a16="http://schemas.microsoft.com/office/drawing/2014/main" id="{83B01049-3488-5DEF-43F2-ED0E6545F275}"/>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8" name="Picture 7">
            <a:extLst>
              <a:ext uri="{FF2B5EF4-FFF2-40B4-BE49-F238E27FC236}">
                <a16:creationId xmlns:a16="http://schemas.microsoft.com/office/drawing/2014/main" id="{5312743C-8183-7AAE-39E6-B3D02F7D55D3}"/>
              </a:ext>
            </a:extLst>
          </p:cNvPr>
          <p:cNvPicPr>
            <a:picLocks noChangeAspect="1"/>
          </p:cNvPicPr>
          <p:nvPr/>
        </p:nvPicPr>
        <p:blipFill>
          <a:blip r:embed="rId2"/>
          <a:stretch>
            <a:fillRect/>
          </a:stretch>
        </p:blipFill>
        <p:spPr>
          <a:xfrm>
            <a:off x="17237483" y="153600"/>
            <a:ext cx="900000" cy="912000"/>
          </a:xfrm>
          <a:prstGeom prst="rect">
            <a:avLst/>
          </a:prstGeom>
          <a:effectLst>
            <a:softEdge rad="76200"/>
          </a:effectLst>
        </p:spPr>
      </p:pic>
      <p:sp>
        <p:nvSpPr>
          <p:cNvPr id="9" name="object 13">
            <a:extLst>
              <a:ext uri="{FF2B5EF4-FFF2-40B4-BE49-F238E27FC236}">
                <a16:creationId xmlns:a16="http://schemas.microsoft.com/office/drawing/2014/main" id="{05EE058E-D27D-59EA-1146-04E5321148A2}"/>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pic>
        <p:nvPicPr>
          <p:cNvPr id="10" name="Picture 9">
            <a:extLst>
              <a:ext uri="{FF2B5EF4-FFF2-40B4-BE49-F238E27FC236}">
                <a16:creationId xmlns:a16="http://schemas.microsoft.com/office/drawing/2014/main" id="{AE842006-330C-38E9-0CA9-9CE29F83DB98}"/>
              </a:ext>
            </a:extLst>
          </p:cNvPr>
          <p:cNvPicPr>
            <a:picLocks noChangeAspect="1"/>
          </p:cNvPicPr>
          <p:nvPr/>
        </p:nvPicPr>
        <p:blipFill>
          <a:blip r:embed="rId3"/>
          <a:stretch>
            <a:fillRect/>
          </a:stretch>
        </p:blipFill>
        <p:spPr>
          <a:xfrm>
            <a:off x="116294" y="114300"/>
            <a:ext cx="1800225" cy="990600"/>
          </a:xfrm>
          <a:prstGeom prst="rect">
            <a:avLst/>
          </a:prstGeom>
        </p:spPr>
      </p:pic>
      <p:sp>
        <p:nvSpPr>
          <p:cNvPr id="11" name="object 16">
            <a:extLst>
              <a:ext uri="{FF2B5EF4-FFF2-40B4-BE49-F238E27FC236}">
                <a16:creationId xmlns:a16="http://schemas.microsoft.com/office/drawing/2014/main" id="{B2130B61-AA37-1D68-BD5C-C9759FB20423}"/>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5</a:t>
            </a:fld>
            <a:endParaRPr lang="en-IN" spc="-50" dirty="0"/>
          </a:p>
        </p:txBody>
      </p:sp>
      <p:sp>
        <p:nvSpPr>
          <p:cNvPr id="12" name="TextBox 11">
            <a:extLst>
              <a:ext uri="{FF2B5EF4-FFF2-40B4-BE49-F238E27FC236}">
                <a16:creationId xmlns:a16="http://schemas.microsoft.com/office/drawing/2014/main" id="{B70CC915-FBF4-2E3F-5577-942093D3025B}"/>
              </a:ext>
            </a:extLst>
          </p:cNvPr>
          <p:cNvSpPr txBox="1"/>
          <p:nvPr/>
        </p:nvSpPr>
        <p:spPr>
          <a:xfrm>
            <a:off x="6416777" y="2847953"/>
            <a:ext cx="4540047" cy="6986528"/>
          </a:xfrm>
          <a:prstGeom prst="rect">
            <a:avLst/>
          </a:prstGeom>
          <a:noFill/>
        </p:spPr>
        <p:txBody>
          <a:bodyPr wrap="square" rtlCol="0">
            <a:spAutoFit/>
          </a:bodyPr>
          <a:lstStyle/>
          <a:p>
            <a:pPr>
              <a:tabLst>
                <a:tab pos="370840" algn="l"/>
              </a:tabLst>
            </a:pPr>
            <a:r>
              <a:rPr lang="en-US" sz="2800" spc="-10" dirty="0">
                <a:solidFill>
                  <a:schemeClr val="bg2">
                    <a:lumMod val="25000"/>
                  </a:schemeClr>
                </a:solidFill>
                <a:latin typeface="Times New Roman" panose="02020603050405020304" pitchFamily="18" charset="0"/>
                <a:ea typeface="Calibri"/>
                <a:cs typeface="Times New Roman" panose="02020603050405020304" pitchFamily="18" charset="0"/>
              </a:rPr>
              <a:t>This project proposes the design and development of a decentralized platform that enables fractional ownership of real-world assets through blockchain technology. Each asset will be represented by digital tokens, allowing investors to purchase small portions instead of acquiring the entire asset. Blockchain ensures transparency, immutability, and secure transfer of ownership without relying entirely on intermediaries.</a:t>
            </a:r>
            <a:endParaRPr lang="en-US" sz="2800" dirty="0">
              <a:solidFill>
                <a:schemeClr val="bg2">
                  <a:lumMod val="25000"/>
                </a:schemeClr>
              </a:solidFill>
              <a:latin typeface="Times New Roman" panose="02020603050405020304" pitchFamily="18" charset="0"/>
              <a:ea typeface="Calibri"/>
              <a:cs typeface="Times New Roman" panose="02020603050405020304" pitchFamily="18" charset="0"/>
            </a:endParaRPr>
          </a:p>
        </p:txBody>
      </p:sp>
      <p:sp>
        <p:nvSpPr>
          <p:cNvPr id="13" name="TextBox 12">
            <a:extLst>
              <a:ext uri="{FF2B5EF4-FFF2-40B4-BE49-F238E27FC236}">
                <a16:creationId xmlns:a16="http://schemas.microsoft.com/office/drawing/2014/main" id="{12106217-B6B2-81BD-F0A0-FEB74064E9DD}"/>
              </a:ext>
            </a:extLst>
          </p:cNvPr>
          <p:cNvSpPr txBox="1"/>
          <p:nvPr/>
        </p:nvSpPr>
        <p:spPr>
          <a:xfrm>
            <a:off x="1028706" y="2847953"/>
            <a:ext cx="4540047" cy="5693866"/>
          </a:xfrm>
          <a:prstGeom prst="rect">
            <a:avLst/>
          </a:prstGeom>
          <a:noFill/>
        </p:spPr>
        <p:txBody>
          <a:bodyPr wrap="square" rtlCol="0">
            <a:spAutoFit/>
          </a:bodyPr>
          <a:lstStyle/>
          <a:p>
            <a:pPr>
              <a:tabLst>
                <a:tab pos="370840" algn="l"/>
              </a:tabLst>
            </a:pPr>
            <a:r>
              <a:rPr lang="en-US" sz="2800" dirty="0">
                <a:solidFill>
                  <a:schemeClr val="bg2">
                    <a:lumMod val="25000"/>
                  </a:schemeClr>
                </a:solidFill>
                <a:latin typeface="Times New Roman" panose="02020603050405020304" pitchFamily="18" charset="0"/>
                <a:ea typeface="Calibri"/>
                <a:cs typeface="Times New Roman" panose="02020603050405020304" pitchFamily="18" charset="0"/>
              </a:rPr>
              <a:t>Asset tokenization is the process of converting ownership rights of a real-world asset into digital tokens recorded on a blockchain network. Traditionally, investment in assets such as real estate, gold, or fine art requires significant capital and involves complex legal procedures. These barriers restrict participation to a limited group of investors.</a:t>
            </a:r>
          </a:p>
        </p:txBody>
      </p:sp>
      <p:cxnSp>
        <p:nvCxnSpPr>
          <p:cNvPr id="15" name="Straight Connector 14">
            <a:extLst>
              <a:ext uri="{FF2B5EF4-FFF2-40B4-BE49-F238E27FC236}">
                <a16:creationId xmlns:a16="http://schemas.microsoft.com/office/drawing/2014/main" id="{D3E89508-5C9C-DD7D-A9C6-A7149E0E6051}"/>
              </a:ext>
            </a:extLst>
          </p:cNvPr>
          <p:cNvCxnSpPr>
            <a:cxnSpLocks/>
          </p:cNvCxnSpPr>
          <p:nvPr/>
        </p:nvCxnSpPr>
        <p:spPr>
          <a:xfrm>
            <a:off x="5943600" y="2476500"/>
            <a:ext cx="0" cy="7420435"/>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778F97F-B6B7-74CF-0067-8096FE8C6514}"/>
              </a:ext>
            </a:extLst>
          </p:cNvPr>
          <p:cNvCxnSpPr>
            <a:cxnSpLocks/>
          </p:cNvCxnSpPr>
          <p:nvPr/>
        </p:nvCxnSpPr>
        <p:spPr>
          <a:xfrm>
            <a:off x="11125200" y="2532586"/>
            <a:ext cx="0" cy="7420435"/>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BA13B50-AF6F-141A-6C24-3BEBA9E28B50}"/>
              </a:ext>
            </a:extLst>
          </p:cNvPr>
          <p:cNvSpPr txBox="1"/>
          <p:nvPr/>
        </p:nvSpPr>
        <p:spPr>
          <a:xfrm>
            <a:off x="11598376" y="2847953"/>
            <a:ext cx="4540047" cy="4401205"/>
          </a:xfrm>
          <a:prstGeom prst="rect">
            <a:avLst/>
          </a:prstGeom>
          <a:noFill/>
        </p:spPr>
        <p:txBody>
          <a:bodyPr wrap="square" rtlCol="0">
            <a:spAutoFit/>
          </a:bodyPr>
          <a:lstStyle/>
          <a:p>
            <a:pPr>
              <a:tabLst>
                <a:tab pos="370840" algn="l"/>
              </a:tabLst>
            </a:pPr>
            <a:r>
              <a:rPr lang="en-US" sz="2800" spc="-10" dirty="0">
                <a:solidFill>
                  <a:schemeClr val="bg2">
                    <a:lumMod val="25000"/>
                  </a:schemeClr>
                </a:solidFill>
                <a:latin typeface="Times New Roman" panose="02020603050405020304" pitchFamily="18" charset="0"/>
                <a:ea typeface="Calibri"/>
                <a:cs typeface="Times New Roman" panose="02020603050405020304" pitchFamily="18" charset="0"/>
              </a:rPr>
              <a:t>The platform will focus on secure smart contract implementation, transparent transaction history, and efficient asset management. The aim is to demonstrate how blockchain can modernize traditional asset ownership models and improve liquidity in illiquid markets.</a:t>
            </a:r>
            <a:endParaRPr lang="en-US" sz="2800" dirty="0">
              <a:solidFill>
                <a:schemeClr val="bg2">
                  <a:lumMod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3" name="AutoShape 3"/>
          <p:cNvSpPr/>
          <p:nvPr/>
        </p:nvSpPr>
        <p:spPr>
          <a:xfrm flipV="1">
            <a:off x="1028703" y="2095500"/>
            <a:ext cx="16230594" cy="38509"/>
          </a:xfrm>
          <a:prstGeom prst="line">
            <a:avLst/>
          </a:prstGeom>
          <a:ln w="9525" cap="flat">
            <a:solidFill>
              <a:srgbClr val="2B2C30"/>
            </a:solidFill>
            <a:prstDash val="solid"/>
            <a:headEnd type="none" w="sm" len="sm"/>
            <a:tailEnd type="none" w="sm" len="sm"/>
          </a:ln>
        </p:spPr>
        <p:txBody>
          <a:bodyPr/>
          <a:lstStyle/>
          <a:p>
            <a:endParaRPr lang="en-IN" dirty="0"/>
          </a:p>
        </p:txBody>
      </p:sp>
      <p:sp>
        <p:nvSpPr>
          <p:cNvPr id="5" name="TextBox 5"/>
          <p:cNvSpPr txBox="1"/>
          <p:nvPr/>
        </p:nvSpPr>
        <p:spPr>
          <a:xfrm>
            <a:off x="1028703" y="1255000"/>
            <a:ext cx="16230600" cy="609590"/>
          </a:xfrm>
          <a:prstGeom prst="rect">
            <a:avLst/>
          </a:prstGeom>
        </p:spPr>
        <p:txBody>
          <a:bodyPr lIns="0" tIns="0" rIns="0" bIns="0" rtlCol="0" anchor="t">
            <a:spAutoFit/>
          </a:bodyPr>
          <a:lstStyle/>
          <a:p>
            <a:pPr algn="l">
              <a:lnSpc>
                <a:spcPts val="5200"/>
              </a:lnSpc>
              <a:spcBef>
                <a:spcPct val="0"/>
              </a:spcBef>
            </a:pPr>
            <a:r>
              <a:rPr lang="en-US" sz="3714" b="1" spc="843" dirty="0">
                <a:solidFill>
                  <a:srgbClr val="2B2C30"/>
                </a:solidFill>
                <a:latin typeface="Public Sans Bold"/>
                <a:ea typeface="Public Sans Bold"/>
                <a:cs typeface="Public Sans Bold"/>
                <a:sym typeface="Public Sans Bold"/>
              </a:rPr>
              <a:t>LITERATURE SURVEY</a:t>
            </a:r>
          </a:p>
        </p:txBody>
      </p:sp>
      <p:sp>
        <p:nvSpPr>
          <p:cNvPr id="42" name="TextBox 7">
            <a:extLst>
              <a:ext uri="{FF2B5EF4-FFF2-40B4-BE49-F238E27FC236}">
                <a16:creationId xmlns:a16="http://schemas.microsoft.com/office/drawing/2014/main" id="{1D5B1E13-367E-923F-B694-9F1825A7A46A}"/>
              </a:ext>
            </a:extLst>
          </p:cNvPr>
          <p:cNvSpPr txBox="1"/>
          <p:nvPr/>
        </p:nvSpPr>
        <p:spPr>
          <a:xfrm>
            <a:off x="13563600" y="8630746"/>
            <a:ext cx="3109571" cy="984885"/>
          </a:xfrm>
          <a:prstGeom prst="rect">
            <a:avLst/>
          </a:prstGeom>
        </p:spPr>
        <p:txBody>
          <a:bodyPr wrap="square" lIns="0" tIns="0" rIns="0" bIns="0" rtlCol="0" anchor="t">
            <a:spAutoFit/>
          </a:bodyPr>
          <a:lstStyle/>
          <a:p>
            <a:r>
              <a:rPr lang="en-US" sz="3200" dirty="0">
                <a:solidFill>
                  <a:schemeClr val="bg1">
                    <a:lumMod val="50000"/>
                  </a:schemeClr>
                </a:solidFill>
                <a:latin typeface="Playfair Display" panose="00000500000000000000" pitchFamily="2" charset="0"/>
              </a:rPr>
              <a:t>ASSET TOKENIZATION</a:t>
            </a:r>
            <a:endParaRPr lang="en-IN" sz="3200" dirty="0">
              <a:solidFill>
                <a:schemeClr val="bg1">
                  <a:lumMod val="50000"/>
                </a:schemeClr>
              </a:solidFill>
              <a:latin typeface="Playfair Display" panose="00000500000000000000" pitchFamily="2" charset="0"/>
            </a:endParaRPr>
          </a:p>
        </p:txBody>
      </p:sp>
      <p:pic>
        <p:nvPicPr>
          <p:cNvPr id="43" name="Picture 42">
            <a:extLst>
              <a:ext uri="{FF2B5EF4-FFF2-40B4-BE49-F238E27FC236}">
                <a16:creationId xmlns:a16="http://schemas.microsoft.com/office/drawing/2014/main" id="{E4746AB9-77EA-89D2-F9BB-27D200380796}"/>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44" name="Picture 43">
            <a:extLst>
              <a:ext uri="{FF2B5EF4-FFF2-40B4-BE49-F238E27FC236}">
                <a16:creationId xmlns:a16="http://schemas.microsoft.com/office/drawing/2014/main" id="{374583FE-CEA6-8168-FCCA-2CB7EA5DBE77}"/>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45" name="object 13">
            <a:extLst>
              <a:ext uri="{FF2B5EF4-FFF2-40B4-BE49-F238E27FC236}">
                <a16:creationId xmlns:a16="http://schemas.microsoft.com/office/drawing/2014/main" id="{BC04928F-72FE-F833-FF94-0E635749B101}"/>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46" name="object 16">
            <a:extLst>
              <a:ext uri="{FF2B5EF4-FFF2-40B4-BE49-F238E27FC236}">
                <a16:creationId xmlns:a16="http://schemas.microsoft.com/office/drawing/2014/main" id="{F8F89F64-9230-24A6-6ED6-CCEF3F2CB68D}"/>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6</a:t>
            </a:fld>
            <a:endParaRPr lang="en-IN" spc="-50" dirty="0"/>
          </a:p>
        </p:txBody>
      </p:sp>
      <p:graphicFrame>
        <p:nvGraphicFramePr>
          <p:cNvPr id="48" name="Table 47">
            <a:extLst>
              <a:ext uri="{FF2B5EF4-FFF2-40B4-BE49-F238E27FC236}">
                <a16:creationId xmlns:a16="http://schemas.microsoft.com/office/drawing/2014/main" id="{B6268599-85BA-0CC8-96E5-698A61749643}"/>
              </a:ext>
            </a:extLst>
          </p:cNvPr>
          <p:cNvGraphicFramePr>
            <a:graphicFrameLocks noGrp="1"/>
          </p:cNvGraphicFramePr>
          <p:nvPr>
            <p:extLst>
              <p:ext uri="{D42A27DB-BD31-4B8C-83A1-F6EECF244321}">
                <p14:modId xmlns:p14="http://schemas.microsoft.com/office/powerpoint/2010/main" val="3956025479"/>
              </p:ext>
            </p:extLst>
          </p:nvPr>
        </p:nvGraphicFramePr>
        <p:xfrm>
          <a:off x="1016406" y="3439065"/>
          <a:ext cx="16221075" cy="6457869"/>
        </p:xfrm>
        <a:graphic>
          <a:graphicData uri="http://schemas.openxmlformats.org/drawingml/2006/table">
            <a:tbl>
              <a:tblPr firstRow="1" bandRow="1">
                <a:tableStyleId>{5C22544A-7EE6-4342-B048-85BDC9FD1C3A}</a:tableStyleId>
              </a:tblPr>
              <a:tblGrid>
                <a:gridCol w="3244215">
                  <a:extLst>
                    <a:ext uri="{9D8B030D-6E8A-4147-A177-3AD203B41FA5}">
                      <a16:colId xmlns:a16="http://schemas.microsoft.com/office/drawing/2014/main" val="1042444419"/>
                    </a:ext>
                  </a:extLst>
                </a:gridCol>
                <a:gridCol w="3244215">
                  <a:extLst>
                    <a:ext uri="{9D8B030D-6E8A-4147-A177-3AD203B41FA5}">
                      <a16:colId xmlns:a16="http://schemas.microsoft.com/office/drawing/2014/main" val="901749177"/>
                    </a:ext>
                  </a:extLst>
                </a:gridCol>
                <a:gridCol w="3244215">
                  <a:extLst>
                    <a:ext uri="{9D8B030D-6E8A-4147-A177-3AD203B41FA5}">
                      <a16:colId xmlns:a16="http://schemas.microsoft.com/office/drawing/2014/main" val="353280721"/>
                    </a:ext>
                  </a:extLst>
                </a:gridCol>
                <a:gridCol w="3244215">
                  <a:extLst>
                    <a:ext uri="{9D8B030D-6E8A-4147-A177-3AD203B41FA5}">
                      <a16:colId xmlns:a16="http://schemas.microsoft.com/office/drawing/2014/main" val="1979732877"/>
                    </a:ext>
                  </a:extLst>
                </a:gridCol>
                <a:gridCol w="3244215">
                  <a:extLst>
                    <a:ext uri="{9D8B030D-6E8A-4147-A177-3AD203B41FA5}">
                      <a16:colId xmlns:a16="http://schemas.microsoft.com/office/drawing/2014/main" val="3801392100"/>
                    </a:ext>
                  </a:extLst>
                </a:gridCol>
              </a:tblGrid>
              <a:tr h="11885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NISHITH DESAI ASSOCIATES</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algn="ctr"/>
                      <a:r>
                        <a:rPr lang="en-US" sz="1800" b="1" dirty="0">
                          <a:solidFill>
                            <a:schemeClr val="bg2">
                              <a:lumMod val="25000"/>
                            </a:schemeClr>
                          </a:solidFill>
                          <a:latin typeface="Times New Roman "/>
                          <a:cs typeface="Times New Roman" panose="02020603050405020304" pitchFamily="18" charset="0"/>
                        </a:rPr>
                        <a:t>2025</a:t>
                      </a: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REAL ESTATE TOKENISATION</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COMPARATIVE LEGAL FRAMEWORK STUDY</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2">
                              <a:lumMod val="25000"/>
                            </a:schemeClr>
                          </a:solidFill>
                          <a:latin typeface="Times New Roman "/>
                          <a:cs typeface="Times New Roman" panose="02020603050405020304" pitchFamily="18" charset="0"/>
                        </a:rPr>
                        <a:t>Identifies cross-border regulatory challenges and compliance issues</a:t>
                      </a:r>
                    </a:p>
                  </a:txBody>
                  <a:tcPr anchor="ctr">
                    <a:solidFill>
                      <a:schemeClr val="bg1">
                        <a:lumMod val="65000"/>
                      </a:schemeClr>
                    </a:solidFill>
                  </a:tcPr>
                </a:tc>
                <a:extLst>
                  <a:ext uri="{0D108BD9-81ED-4DB2-BD59-A6C34878D82A}">
                    <a16:rowId xmlns:a16="http://schemas.microsoft.com/office/drawing/2014/main" val="570008556"/>
                  </a:ext>
                </a:extLst>
              </a:tr>
              <a:tr h="11885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2">
                              <a:lumMod val="25000"/>
                            </a:schemeClr>
                          </a:solidFill>
                          <a:latin typeface="Times New Roman "/>
                          <a:cs typeface="Times New Roman" panose="02020603050405020304" pitchFamily="18" charset="0"/>
                        </a:rPr>
                        <a:t>ITAI AGUR ET AL.</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algn="ctr"/>
                      <a:r>
                        <a:rPr lang="en-US" sz="1800" b="1" dirty="0">
                          <a:solidFill>
                            <a:schemeClr val="bg2">
                              <a:lumMod val="25000"/>
                            </a:schemeClr>
                          </a:solidFill>
                          <a:latin typeface="Times New Roman "/>
                          <a:cs typeface="Times New Roman" panose="02020603050405020304" pitchFamily="18" charset="0"/>
                        </a:rPr>
                        <a:t>2025</a:t>
                      </a: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TOKENIZATION AND FINANCIAL MARKET INEFFICIENCIES</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2">
                              <a:lumMod val="25000"/>
                            </a:schemeClr>
                          </a:solidFill>
                          <a:latin typeface="Times New Roman "/>
                          <a:cs typeface="Times New Roman" panose="02020603050405020304" pitchFamily="18" charset="0"/>
                        </a:rPr>
                        <a:t>THEORETICAL FRAMEWORK ON EXTERNALITIES</a:t>
                      </a: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Discusses Network Effects , Market Power , Systemic Risks</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extLst>
                  <a:ext uri="{0D108BD9-81ED-4DB2-BD59-A6C34878D82A}">
                    <a16:rowId xmlns:a16="http://schemas.microsoft.com/office/drawing/2014/main" val="128727761"/>
                  </a:ext>
                </a:extLst>
              </a:tr>
              <a:tr h="1263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WORLD ECONOMIC FORUM</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algn="ctr"/>
                      <a:r>
                        <a:rPr lang="en-US" sz="1800" b="1" dirty="0">
                          <a:solidFill>
                            <a:schemeClr val="bg2">
                              <a:lumMod val="25000"/>
                            </a:schemeClr>
                          </a:solidFill>
                          <a:latin typeface="Times New Roman "/>
                          <a:cs typeface="Times New Roman" panose="02020603050405020304" pitchFamily="18" charset="0"/>
                        </a:rPr>
                        <a:t>2025</a:t>
                      </a: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ASSET TOKENIZATION IN FINANCIAL MARKETS</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DESK RESEARCH+EXPERT INTERVIEWS+WORKSHOPS</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noProof="0">
                          <a:solidFill>
                            <a:schemeClr val="bg2">
                              <a:lumMod val="25000"/>
                            </a:schemeClr>
                          </a:solidFill>
                          <a:latin typeface="Times New Roman "/>
                          <a:ea typeface="Calibri"/>
                          <a:cs typeface="Times New Roman" panose="02020603050405020304" pitchFamily="18" charset="0"/>
                        </a:rPr>
                        <a:t>Identifies tokenization models (backed &amp; native) and explains proof of value, ownership, and transaction concepts.</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extLst>
                  <a:ext uri="{0D108BD9-81ED-4DB2-BD59-A6C34878D82A}">
                    <a16:rowId xmlns:a16="http://schemas.microsoft.com/office/drawing/2014/main" val="4036865857"/>
                  </a:ext>
                </a:extLst>
              </a:tr>
              <a:tr h="15545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URAV SONI,OLIVIER FINES,JINMING SUN</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algn="ctr"/>
                      <a:r>
                        <a:rPr lang="en-US" sz="1800" b="1">
                          <a:solidFill>
                            <a:schemeClr val="bg2">
                              <a:lumMod val="25000"/>
                            </a:schemeClr>
                          </a:solidFill>
                          <a:latin typeface="Times New Roman "/>
                          <a:cs typeface="Times New Roman" panose="02020603050405020304" pitchFamily="18" charset="0"/>
                        </a:rPr>
                        <a:t>2025</a:t>
                      </a: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AN INVESTMENT PERSPECTIVE ON TOKENIZATION</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solidFill>
                            <a:schemeClr val="bg2">
                              <a:lumMod val="25000"/>
                            </a:schemeClr>
                          </a:solidFill>
                          <a:latin typeface="Times New Roman "/>
                          <a:cs typeface="Times New Roman" panose="02020603050405020304" pitchFamily="18" charset="0"/>
                        </a:rPr>
                        <a:t>QUALITATIVE ANALYSIS+CASE STUDIES+INDUSTRY INTERVIEWS</a:t>
                      </a: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noProof="0">
                          <a:solidFill>
                            <a:schemeClr val="bg2">
                              <a:lumMod val="25000"/>
                            </a:schemeClr>
                          </a:solidFill>
                          <a:latin typeface="Times New Roman "/>
                          <a:ea typeface="Calibri"/>
                          <a:cs typeface="Times New Roman" panose="02020603050405020304" pitchFamily="18" charset="0"/>
                        </a:rPr>
                        <a:t>Improves operational efficiency, settlement speed, and transparency. Enables fractional ownership and access to private markets.</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extLst>
                  <a:ext uri="{0D108BD9-81ED-4DB2-BD59-A6C34878D82A}">
                    <a16:rowId xmlns:a16="http://schemas.microsoft.com/office/drawing/2014/main" val="3550242245"/>
                  </a:ext>
                </a:extLst>
              </a:tr>
              <a:tr h="1263086">
                <a:tc>
                  <a:txBody>
                    <a:bodyPr/>
                    <a:lstStyle/>
                    <a:p>
                      <a:pPr algn="ctr"/>
                      <a:r>
                        <a:rPr lang="en-US" sz="1800" b="1">
                          <a:solidFill>
                            <a:schemeClr val="bg2">
                              <a:lumMod val="25000"/>
                            </a:schemeClr>
                          </a:solidFill>
                          <a:latin typeface="Times New Roman "/>
                          <a:cs typeface="Times New Roman" panose="02020603050405020304" pitchFamily="18" charset="0"/>
                        </a:rPr>
                        <a:t>IFSCA</a:t>
                      </a: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algn="ctr"/>
                      <a:r>
                        <a:rPr lang="en-US" sz="1800" b="1">
                          <a:solidFill>
                            <a:schemeClr val="bg2">
                              <a:lumMod val="25000"/>
                            </a:schemeClr>
                          </a:solidFill>
                          <a:latin typeface="Times New Roman "/>
                          <a:cs typeface="Times New Roman" panose="02020603050405020304" pitchFamily="18" charset="0"/>
                        </a:rPr>
                        <a:t>2025</a:t>
                      </a: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noProof="0" dirty="0">
                          <a:solidFill>
                            <a:schemeClr val="bg2">
                              <a:lumMod val="25000"/>
                            </a:schemeClr>
                          </a:solidFill>
                          <a:latin typeface="Times New Roman "/>
                          <a:ea typeface="Calibri"/>
                          <a:cs typeface="Times New Roman" panose="02020603050405020304" pitchFamily="18" charset="0"/>
                        </a:rPr>
                        <a:t>REGULATORY APPROACH TOWARDS TOKENIZATION OF RWAS</a:t>
                      </a:r>
                      <a:endParaRPr lang="en-US" sz="1800" b="1" dirty="0">
                        <a:solidFill>
                          <a:schemeClr val="bg2">
                            <a:lumMod val="25000"/>
                          </a:schemeClr>
                        </a:solidFill>
                        <a:latin typeface="Times New Roman "/>
                        <a:cs typeface="Times New Roman" panose="02020603050405020304" pitchFamily="18" charset="0"/>
                      </a:endParaRP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noProof="0">
                          <a:solidFill>
                            <a:schemeClr val="bg2">
                              <a:lumMod val="25000"/>
                            </a:schemeClr>
                          </a:solidFill>
                          <a:latin typeface="Times New Roman "/>
                          <a:ea typeface="Calibri"/>
                          <a:cs typeface="Times New Roman" panose="02020603050405020304" pitchFamily="18" charset="0"/>
                        </a:rPr>
                        <a:t>ANALYTICAL POLICY FRAMEWORK</a:t>
                      </a:r>
                      <a:endParaRPr lang="en-US" sz="1800" b="1">
                        <a:solidFill>
                          <a:schemeClr val="bg2">
                            <a:lumMod val="25000"/>
                          </a:schemeClr>
                        </a:solidFill>
                        <a:latin typeface="Times New Roman "/>
                        <a:cs typeface="Times New Roman" panose="02020603050405020304" pitchFamily="18" charset="0"/>
                      </a:endParaRPr>
                    </a:p>
                    <a:p>
                      <a:pPr algn="ctr"/>
                      <a:endParaRPr lang="en-IN"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noProof="0" dirty="0">
                          <a:solidFill>
                            <a:schemeClr val="bg2">
                              <a:lumMod val="25000"/>
                            </a:schemeClr>
                          </a:solidFill>
                          <a:latin typeface="Times New Roman "/>
                          <a:ea typeface="Calibri"/>
                          <a:cs typeface="Times New Roman" panose="02020603050405020304" pitchFamily="18" charset="0"/>
                        </a:rPr>
                        <a:t>Highlights risk management frameworks and need for regulatory clarity in digital tokens</a:t>
                      </a:r>
                      <a:endParaRPr lang="en-US" sz="1800" b="1" dirty="0">
                        <a:solidFill>
                          <a:schemeClr val="bg2">
                            <a:lumMod val="25000"/>
                          </a:schemeClr>
                        </a:solidFill>
                        <a:latin typeface="Times New Roman "/>
                        <a:cs typeface="Times New Roman" panose="02020603050405020304" pitchFamily="18" charset="0"/>
                      </a:endParaRPr>
                    </a:p>
                  </a:txBody>
                  <a:tcPr anchor="ctr">
                    <a:solidFill>
                      <a:schemeClr val="bg1">
                        <a:lumMod val="65000"/>
                      </a:schemeClr>
                    </a:solidFill>
                  </a:tcPr>
                </a:tc>
                <a:extLst>
                  <a:ext uri="{0D108BD9-81ED-4DB2-BD59-A6C34878D82A}">
                    <a16:rowId xmlns:a16="http://schemas.microsoft.com/office/drawing/2014/main" val="1417643958"/>
                  </a:ext>
                </a:extLst>
              </a:tr>
            </a:tbl>
          </a:graphicData>
        </a:graphic>
      </p:graphicFrame>
      <p:graphicFrame>
        <p:nvGraphicFramePr>
          <p:cNvPr id="49" name="Table 48">
            <a:extLst>
              <a:ext uri="{FF2B5EF4-FFF2-40B4-BE49-F238E27FC236}">
                <a16:creationId xmlns:a16="http://schemas.microsoft.com/office/drawing/2014/main" id="{876D798A-E04A-70CD-9763-74EACDDE5623}"/>
              </a:ext>
            </a:extLst>
          </p:cNvPr>
          <p:cNvGraphicFramePr>
            <a:graphicFrameLocks noGrp="1"/>
          </p:cNvGraphicFramePr>
          <p:nvPr>
            <p:extLst>
              <p:ext uri="{D42A27DB-BD31-4B8C-83A1-F6EECF244321}">
                <p14:modId xmlns:p14="http://schemas.microsoft.com/office/powerpoint/2010/main" val="2052958381"/>
              </p:ext>
            </p:extLst>
          </p:nvPr>
        </p:nvGraphicFramePr>
        <p:xfrm>
          <a:off x="1016405" y="2464794"/>
          <a:ext cx="16221079" cy="865162"/>
        </p:xfrm>
        <a:graphic>
          <a:graphicData uri="http://schemas.openxmlformats.org/drawingml/2006/table">
            <a:tbl>
              <a:tblPr firstRow="1" bandRow="1">
                <a:tableStyleId>{5C22544A-7EE6-4342-B048-85BDC9FD1C3A}</a:tableStyleId>
              </a:tblPr>
              <a:tblGrid>
                <a:gridCol w="3244216">
                  <a:extLst>
                    <a:ext uri="{9D8B030D-6E8A-4147-A177-3AD203B41FA5}">
                      <a16:colId xmlns:a16="http://schemas.microsoft.com/office/drawing/2014/main" val="3973425685"/>
                    </a:ext>
                  </a:extLst>
                </a:gridCol>
                <a:gridCol w="3244216">
                  <a:extLst>
                    <a:ext uri="{9D8B030D-6E8A-4147-A177-3AD203B41FA5}">
                      <a16:colId xmlns:a16="http://schemas.microsoft.com/office/drawing/2014/main" val="2899276234"/>
                    </a:ext>
                  </a:extLst>
                </a:gridCol>
                <a:gridCol w="3244216">
                  <a:extLst>
                    <a:ext uri="{9D8B030D-6E8A-4147-A177-3AD203B41FA5}">
                      <a16:colId xmlns:a16="http://schemas.microsoft.com/office/drawing/2014/main" val="1135978484"/>
                    </a:ext>
                  </a:extLst>
                </a:gridCol>
                <a:gridCol w="3238571">
                  <a:extLst>
                    <a:ext uri="{9D8B030D-6E8A-4147-A177-3AD203B41FA5}">
                      <a16:colId xmlns:a16="http://schemas.microsoft.com/office/drawing/2014/main" val="2638527933"/>
                    </a:ext>
                  </a:extLst>
                </a:gridCol>
                <a:gridCol w="3249860">
                  <a:extLst>
                    <a:ext uri="{9D8B030D-6E8A-4147-A177-3AD203B41FA5}">
                      <a16:colId xmlns:a16="http://schemas.microsoft.com/office/drawing/2014/main" val="817622815"/>
                    </a:ext>
                  </a:extLst>
                </a:gridCol>
              </a:tblGrid>
              <a:tr h="865162">
                <a:tc>
                  <a:txBody>
                    <a:bodyPr/>
                    <a:lstStyle/>
                    <a:p>
                      <a:pPr algn="ctr"/>
                      <a:r>
                        <a:rPr lang="en-US" sz="2400" dirty="0">
                          <a:solidFill>
                            <a:schemeClr val="bg1"/>
                          </a:solidFill>
                          <a:latin typeface="Times New Roman" panose="02020603050405020304" pitchFamily="18" charset="0"/>
                          <a:cs typeface="Times New Roman" panose="02020603050405020304" pitchFamily="18" charset="0"/>
                        </a:rPr>
                        <a:t>AUTHORS</a:t>
                      </a:r>
                      <a:endParaRPr lang="en-IN" sz="2400" dirty="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YEAR</a:t>
                      </a:r>
                      <a:endParaRPr lang="en-IN" sz="2400" dirty="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2400" dirty="0">
                          <a:solidFill>
                            <a:schemeClr val="bg1"/>
                          </a:solidFill>
                          <a:latin typeface="Times New Roman" panose="02020603050405020304" pitchFamily="18" charset="0"/>
                          <a:cs typeface="Times New Roman" panose="02020603050405020304" pitchFamily="18" charset="0"/>
                        </a:rPr>
                        <a:t>TITLE</a:t>
                      </a:r>
                      <a:endParaRPr lang="en-IN" sz="2400" dirty="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2400" dirty="0">
                          <a:solidFill>
                            <a:schemeClr val="bg1"/>
                          </a:solidFill>
                          <a:latin typeface="Times New Roman" panose="02020603050405020304" pitchFamily="18" charset="0"/>
                          <a:cs typeface="Times New Roman" panose="02020603050405020304" pitchFamily="18" charset="0"/>
                        </a:rPr>
                        <a:t>METHODOLOGY</a:t>
                      </a:r>
                      <a:endParaRPr lang="en-IN" sz="2400" dirty="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2400" dirty="0">
                          <a:solidFill>
                            <a:schemeClr val="bg1"/>
                          </a:solidFill>
                          <a:latin typeface="Times New Roman" panose="02020603050405020304" pitchFamily="18" charset="0"/>
                          <a:cs typeface="Times New Roman" panose="02020603050405020304" pitchFamily="18" charset="0"/>
                        </a:rPr>
                        <a:t> ADV/KEY FEATURES</a:t>
                      </a:r>
                      <a:endParaRPr lang="en-IN" sz="2400" dirty="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14354529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4" name="TextBox 4"/>
          <p:cNvSpPr txBox="1"/>
          <p:nvPr/>
        </p:nvSpPr>
        <p:spPr>
          <a:xfrm>
            <a:off x="1034549" y="1310197"/>
            <a:ext cx="16230600" cy="631776"/>
          </a:xfrm>
          <a:prstGeom prst="rect">
            <a:avLst/>
          </a:prstGeom>
        </p:spPr>
        <p:txBody>
          <a:bodyPr lIns="0" tIns="0" rIns="0" bIns="0" rtlCol="0" anchor="t">
            <a:spAutoFit/>
          </a:bodyPr>
          <a:lstStyle/>
          <a:p>
            <a:pPr>
              <a:lnSpc>
                <a:spcPts val="5200"/>
              </a:lnSpc>
              <a:spcBef>
                <a:spcPct val="0"/>
              </a:spcBef>
            </a:pPr>
            <a:r>
              <a:rPr lang="en-IN" sz="4000" spc="300" dirty="0">
                <a:latin typeface="Public Sans Bold" panose="020B0604020202020204" charset="0"/>
              </a:rPr>
              <a:t>PROBLEM STATEMENT</a:t>
            </a:r>
            <a:endParaRPr lang="en-US" sz="3714" b="1" spc="300" dirty="0">
              <a:solidFill>
                <a:srgbClr val="2B2C30"/>
              </a:solidFill>
              <a:latin typeface="Public Sans Bold" panose="020B0604020202020204" charset="0"/>
              <a:ea typeface="Public Sans Bold"/>
              <a:cs typeface="Public Sans Bold"/>
              <a:sym typeface="Public Sans Bold"/>
            </a:endParaRPr>
          </a:p>
        </p:txBody>
      </p:sp>
      <p:sp>
        <p:nvSpPr>
          <p:cNvPr id="5" name="AutoShape 5"/>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8" name="TextBox 7">
            <a:extLst>
              <a:ext uri="{FF2B5EF4-FFF2-40B4-BE49-F238E27FC236}">
                <a16:creationId xmlns:a16="http://schemas.microsoft.com/office/drawing/2014/main" id="{9B5A5DB8-E165-0CD9-98CC-C414116ECBFD}"/>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9" name="Picture 8">
            <a:extLst>
              <a:ext uri="{FF2B5EF4-FFF2-40B4-BE49-F238E27FC236}">
                <a16:creationId xmlns:a16="http://schemas.microsoft.com/office/drawing/2014/main" id="{BE99837F-7052-9391-CD63-4C93C8505F39}"/>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10" name="Picture 9">
            <a:extLst>
              <a:ext uri="{FF2B5EF4-FFF2-40B4-BE49-F238E27FC236}">
                <a16:creationId xmlns:a16="http://schemas.microsoft.com/office/drawing/2014/main" id="{F5913A41-00C3-E29F-C80D-AA4F1640F450}"/>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11" name="object 13">
            <a:extLst>
              <a:ext uri="{FF2B5EF4-FFF2-40B4-BE49-F238E27FC236}">
                <a16:creationId xmlns:a16="http://schemas.microsoft.com/office/drawing/2014/main" id="{B95AA23E-45E1-CA4D-A947-5C4AB8FAD493}"/>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12" name="object 16">
            <a:extLst>
              <a:ext uri="{FF2B5EF4-FFF2-40B4-BE49-F238E27FC236}">
                <a16:creationId xmlns:a16="http://schemas.microsoft.com/office/drawing/2014/main" id="{5EA057AF-F7F2-DA93-BA1E-1493B224A1E9}"/>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7</a:t>
            </a:fld>
            <a:endParaRPr lang="en-IN" spc="-50" dirty="0"/>
          </a:p>
        </p:txBody>
      </p:sp>
      <p:sp>
        <p:nvSpPr>
          <p:cNvPr id="14" name="TextBox 13">
            <a:extLst>
              <a:ext uri="{FF2B5EF4-FFF2-40B4-BE49-F238E27FC236}">
                <a16:creationId xmlns:a16="http://schemas.microsoft.com/office/drawing/2014/main" id="{2D304DEC-A5B6-1F71-A949-51ED05E2AD54}"/>
              </a:ext>
            </a:extLst>
          </p:cNvPr>
          <p:cNvSpPr txBox="1"/>
          <p:nvPr/>
        </p:nvSpPr>
        <p:spPr>
          <a:xfrm>
            <a:off x="1028703" y="2831860"/>
            <a:ext cx="14287497" cy="7089120"/>
          </a:xfrm>
          <a:prstGeom prst="rect">
            <a:avLst/>
          </a:prstGeom>
          <a:noFill/>
        </p:spPr>
        <p:txBody>
          <a:bodyPr wrap="square">
            <a:spAutoFit/>
          </a:bodyPr>
          <a:lstStyle/>
          <a:p>
            <a:pPr marL="514350" indent="-514350" algn="just">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Traditional asset markets such as real estate and commodities require high capital investment, which restricts participation for small and medium investors.</a:t>
            </a:r>
          </a:p>
          <a:p>
            <a:pPr marL="514350" indent="-514350" algn="just">
              <a:buFont typeface="Wingdings" panose="05000000000000000000" pitchFamily="2" charset="2"/>
              <a:buChar char="v"/>
              <a:tabLst>
                <a:tab pos="299085" algn="l"/>
              </a:tabLst>
            </a:pPr>
            <a:endParaRPr lang="en-US" sz="2800" spc="-10" dirty="0">
              <a:solidFill>
                <a:schemeClr val="bg2">
                  <a:lumMod val="25000"/>
                </a:schemeClr>
              </a:solidFill>
              <a:latin typeface="Times New Roman "/>
              <a:cs typeface="Arial" panose="020B0604020202020204" pitchFamily="34" charset="0"/>
            </a:endParaRPr>
          </a:p>
          <a:p>
            <a:pPr marL="514350" indent="-514350" algn="just">
              <a:spcBef>
                <a:spcPts val="100"/>
              </a:spcBef>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Existing systems for asset ownership involve complex legal and administrative processes, making investment slow, costly, and inaccessible to a wider audience.</a:t>
            </a:r>
          </a:p>
          <a:p>
            <a:pPr marL="514350" indent="-514350" algn="just">
              <a:spcBef>
                <a:spcPts val="100"/>
              </a:spcBef>
              <a:buFont typeface="Wingdings" panose="05000000000000000000" pitchFamily="2" charset="2"/>
              <a:buChar char="v"/>
              <a:tabLst>
                <a:tab pos="299085" algn="l"/>
              </a:tabLst>
            </a:pPr>
            <a:endParaRPr lang="en-US" sz="2800" dirty="0">
              <a:solidFill>
                <a:schemeClr val="bg2">
                  <a:lumMod val="25000"/>
                </a:schemeClr>
              </a:solidFill>
              <a:latin typeface="Times New Roman "/>
              <a:cs typeface="Arial" panose="020B0604020202020204" pitchFamily="34" charset="0"/>
            </a:endParaRPr>
          </a:p>
          <a:p>
            <a:pPr marL="514350" indent="-514350" algn="just">
              <a:spcBef>
                <a:spcPts val="100"/>
              </a:spcBef>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Many high-value assets are inherently illiquid, making it difficult for owners and investors to quickly buy, sell, or trade partial ownership.</a:t>
            </a:r>
          </a:p>
          <a:p>
            <a:pPr marL="514350" indent="-514350" algn="just">
              <a:spcBef>
                <a:spcPts val="100"/>
              </a:spcBef>
              <a:buFont typeface="Wingdings" panose="05000000000000000000" pitchFamily="2" charset="2"/>
              <a:buChar char="v"/>
              <a:tabLst>
                <a:tab pos="299085" algn="l"/>
              </a:tabLst>
            </a:pPr>
            <a:endParaRPr lang="en-US" sz="2800" dirty="0">
              <a:solidFill>
                <a:schemeClr val="bg2">
                  <a:lumMod val="25000"/>
                </a:schemeClr>
              </a:solidFill>
              <a:latin typeface="Times New Roman "/>
              <a:cs typeface="Arial" panose="020B0604020202020204" pitchFamily="34" charset="0"/>
            </a:endParaRPr>
          </a:p>
          <a:p>
            <a:pPr marL="514350" indent="-514350" algn="just">
              <a:spcBef>
                <a:spcPts val="100"/>
              </a:spcBef>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Current asset management relies heavily on centralized intermediaries, leading to issues of trust, lack of transparency, and increased dependency on third parties.</a:t>
            </a:r>
          </a:p>
          <a:p>
            <a:pPr marL="514350" indent="-514350" algn="just">
              <a:spcBef>
                <a:spcPts val="100"/>
              </a:spcBef>
              <a:buFont typeface="Wingdings" panose="05000000000000000000" pitchFamily="2" charset="2"/>
              <a:buChar char="v"/>
              <a:tabLst>
                <a:tab pos="299085" algn="l"/>
              </a:tabLst>
            </a:pPr>
            <a:endParaRPr lang="en-US" sz="2800" dirty="0">
              <a:solidFill>
                <a:schemeClr val="bg2">
                  <a:lumMod val="25000"/>
                </a:schemeClr>
              </a:solidFill>
              <a:latin typeface="Times New Roman "/>
              <a:cs typeface="Arial" panose="020B0604020202020204" pitchFamily="34" charset="0"/>
            </a:endParaRPr>
          </a:p>
          <a:p>
            <a:pPr marL="514350" indent="-514350" algn="just">
              <a:spcBef>
                <a:spcPts val="100"/>
              </a:spcBef>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Conventional record-keeping mechanisms for asset ownership are vulnerable to manipulation, lack immutability, and do not provide a tamper-proof audit trail.</a:t>
            </a:r>
            <a:endParaRPr lang="en-US" sz="2800" dirty="0">
              <a:solidFill>
                <a:schemeClr val="bg2">
                  <a:lumMod val="25000"/>
                </a:schemeClr>
              </a:solidFill>
              <a:latin typeface="Times New Roman "/>
              <a:cs typeface="Arial" panose="020B0604020202020204" pitchFamily="34" charset="0"/>
            </a:endParaRPr>
          </a:p>
          <a:p>
            <a:pPr marL="12065" marR="200025" algn="just">
              <a:spcBef>
                <a:spcPts val="100"/>
              </a:spcBef>
              <a:tabLst>
                <a:tab pos="299085" algn="l"/>
              </a:tabLst>
            </a:pPr>
            <a:br>
              <a:rPr lang="en-US" sz="2800" dirty="0">
                <a:solidFill>
                  <a:schemeClr val="bg2">
                    <a:lumMod val="25000"/>
                  </a:schemeClr>
                </a:solidFill>
                <a:latin typeface="Times New Roman "/>
                <a:cs typeface="Arial" panose="020B0604020202020204" pitchFamily="34" charset="0"/>
              </a:rPr>
            </a:br>
            <a:endParaRPr lang="en-US" sz="2800" dirty="0">
              <a:solidFill>
                <a:schemeClr val="bg2">
                  <a:lumMod val="25000"/>
                </a:schemeClr>
              </a:solidFill>
              <a:latin typeface="Times New Roman "/>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1295738B-D1ED-6E7E-89BC-401CBEB54BB4}"/>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4F8E5C7-72FE-C278-D627-2C0C1681AE50}"/>
              </a:ext>
            </a:extLst>
          </p:cNvPr>
          <p:cNvSpPr txBox="1"/>
          <p:nvPr/>
        </p:nvSpPr>
        <p:spPr>
          <a:xfrm>
            <a:off x="1034549" y="1310197"/>
            <a:ext cx="16230600" cy="631776"/>
          </a:xfrm>
          <a:prstGeom prst="rect">
            <a:avLst/>
          </a:prstGeom>
        </p:spPr>
        <p:txBody>
          <a:bodyPr lIns="0" tIns="0" rIns="0" bIns="0" rtlCol="0" anchor="t">
            <a:spAutoFit/>
          </a:bodyPr>
          <a:lstStyle/>
          <a:p>
            <a:pPr>
              <a:lnSpc>
                <a:spcPts val="5200"/>
              </a:lnSpc>
              <a:spcBef>
                <a:spcPct val="0"/>
              </a:spcBef>
            </a:pPr>
            <a:r>
              <a:rPr lang="en-IN" sz="4000" spc="300" dirty="0">
                <a:latin typeface="Public Sans Bold" panose="020B0604020202020204" charset="0"/>
              </a:rPr>
              <a:t>PROBLEM STATEMENTS (2)</a:t>
            </a:r>
            <a:endParaRPr lang="en-US" sz="3714" b="1" spc="300" dirty="0">
              <a:solidFill>
                <a:srgbClr val="2B2C30"/>
              </a:solidFill>
              <a:latin typeface="Public Sans Bold" panose="020B0604020202020204" charset="0"/>
              <a:ea typeface="Public Sans Bold"/>
              <a:cs typeface="Public Sans Bold"/>
              <a:sym typeface="Public Sans Bold"/>
            </a:endParaRPr>
          </a:p>
        </p:txBody>
      </p:sp>
      <p:sp>
        <p:nvSpPr>
          <p:cNvPr id="5" name="AutoShape 5">
            <a:extLst>
              <a:ext uri="{FF2B5EF4-FFF2-40B4-BE49-F238E27FC236}">
                <a16:creationId xmlns:a16="http://schemas.microsoft.com/office/drawing/2014/main" id="{26AAD9A7-3C67-88F6-9ED0-C8391EB15C41}"/>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8" name="TextBox 7">
            <a:extLst>
              <a:ext uri="{FF2B5EF4-FFF2-40B4-BE49-F238E27FC236}">
                <a16:creationId xmlns:a16="http://schemas.microsoft.com/office/drawing/2014/main" id="{A6D8B6F7-F25A-33AA-9A62-C04D03A85C3F}"/>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9" name="Picture 8">
            <a:extLst>
              <a:ext uri="{FF2B5EF4-FFF2-40B4-BE49-F238E27FC236}">
                <a16:creationId xmlns:a16="http://schemas.microsoft.com/office/drawing/2014/main" id="{05BC0858-E3A3-5701-9F22-D95FE96A37EB}"/>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10" name="Picture 9">
            <a:extLst>
              <a:ext uri="{FF2B5EF4-FFF2-40B4-BE49-F238E27FC236}">
                <a16:creationId xmlns:a16="http://schemas.microsoft.com/office/drawing/2014/main" id="{6D211DBF-75B6-0A5D-61CB-C8C04B6778EA}"/>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11" name="object 13">
            <a:extLst>
              <a:ext uri="{FF2B5EF4-FFF2-40B4-BE49-F238E27FC236}">
                <a16:creationId xmlns:a16="http://schemas.microsoft.com/office/drawing/2014/main" id="{1F292863-C7D8-E3E0-09B7-9A85F6FB433B}"/>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12" name="object 16">
            <a:extLst>
              <a:ext uri="{FF2B5EF4-FFF2-40B4-BE49-F238E27FC236}">
                <a16:creationId xmlns:a16="http://schemas.microsoft.com/office/drawing/2014/main" id="{0DEB9B1C-BEF6-BC26-ACCB-CCDBBEA35670}"/>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8</a:t>
            </a:fld>
            <a:endParaRPr lang="en-IN" spc="-50" dirty="0"/>
          </a:p>
        </p:txBody>
      </p:sp>
      <p:sp>
        <p:nvSpPr>
          <p:cNvPr id="14" name="TextBox 13">
            <a:extLst>
              <a:ext uri="{FF2B5EF4-FFF2-40B4-BE49-F238E27FC236}">
                <a16:creationId xmlns:a16="http://schemas.microsoft.com/office/drawing/2014/main" id="{9FD0C333-F937-CC60-F994-624FC178B577}"/>
              </a:ext>
            </a:extLst>
          </p:cNvPr>
          <p:cNvSpPr txBox="1"/>
          <p:nvPr/>
        </p:nvSpPr>
        <p:spPr>
          <a:xfrm>
            <a:off x="1028703" y="2831860"/>
            <a:ext cx="13754097" cy="4401205"/>
          </a:xfrm>
          <a:prstGeom prst="rect">
            <a:avLst/>
          </a:prstGeom>
          <a:noFill/>
        </p:spPr>
        <p:txBody>
          <a:bodyPr wrap="square">
            <a:spAutoFit/>
          </a:bodyPr>
          <a:lstStyle/>
          <a:p>
            <a:pPr marL="342900" indent="-342900" algn="just">
              <a:buFont typeface="Wingdings" panose="05000000000000000000" pitchFamily="2" charset="2"/>
              <a:buChar char="v"/>
              <a:tabLst>
                <a:tab pos="299085" algn="l"/>
              </a:tabLst>
            </a:pPr>
            <a:r>
              <a:rPr lang="en" sz="2800" spc="-10" dirty="0">
                <a:solidFill>
                  <a:schemeClr val="bg2">
                    <a:lumMod val="25000"/>
                  </a:schemeClr>
                </a:solidFill>
                <a:latin typeface="Times New Roman "/>
                <a:ea typeface="Calibri"/>
                <a:cs typeface="Arial" panose="020B0604020202020204" pitchFamily="34" charset="0"/>
              </a:rPr>
              <a:t>There is no widely adopted, user-friendly platform that leverages blockchain and smart contracts to enable secure fractional ownership and transparent management of real-world assets.</a:t>
            </a: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tabLst>
                <a:tab pos="299085" algn="l"/>
              </a:tabLst>
            </a:pPr>
            <a:endParaRPr lang="en" sz="2800" spc="-10" dirty="0">
              <a:solidFill>
                <a:schemeClr val="bg2">
                  <a:lumMod val="25000"/>
                </a:schemeClr>
              </a:solidFill>
              <a:latin typeface="Times New Roman "/>
              <a:ea typeface="Calibri"/>
              <a:cs typeface="Arial" panose="020B0604020202020204" pitchFamily="34" charset="0"/>
            </a:endParaRPr>
          </a:p>
          <a:p>
            <a:pPr marL="342900" indent="-342900" algn="just">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Small investors lack access to robust technological infrastructure that can</a:t>
            </a:r>
            <a:endParaRPr lang="en" sz="2800" spc="-10" dirty="0">
              <a:solidFill>
                <a:schemeClr val="bg2">
                  <a:lumMod val="25000"/>
                </a:schemeClr>
              </a:solidFill>
              <a:latin typeface="Times New Roman "/>
              <a:ea typeface="Calibri"/>
              <a:cs typeface="Arial" panose="020B0604020202020204" pitchFamily="34" charset="0"/>
            </a:endParaRPr>
          </a:p>
          <a:p>
            <a:pPr algn="just">
              <a:tabLst>
                <a:tab pos="299085" algn="l"/>
              </a:tabLst>
            </a:pPr>
            <a:r>
              <a:rPr lang="en" sz="2800" spc="-10" dirty="0">
                <a:solidFill>
                  <a:schemeClr val="bg2">
                    <a:lumMod val="25000"/>
                  </a:schemeClr>
                </a:solidFill>
                <a:latin typeface="Times New Roman "/>
                <a:cs typeface="Arial" panose="020B0604020202020204" pitchFamily="34" charset="0"/>
              </a:rPr>
              <a:t>	simplify participation in asset markets while ensuring security and trust.</a:t>
            </a:r>
            <a:endParaRPr lang="en" sz="2800" spc="-10" dirty="0">
              <a:solidFill>
                <a:schemeClr val="bg2">
                  <a:lumMod val="25000"/>
                </a:schemeClr>
              </a:solidFill>
              <a:latin typeface="Times New Roman "/>
              <a:ea typeface="Calibri"/>
              <a:cs typeface="Arial" panose="020B0604020202020204" pitchFamily="34" charset="0"/>
            </a:endParaRPr>
          </a:p>
          <a:p>
            <a:pPr marL="342900" indent="-342900" algn="just">
              <a:buFont typeface="Wingdings" panose="05000000000000000000" pitchFamily="2" charset="2"/>
              <a:buChar char="v"/>
              <a:tabLst>
                <a:tab pos="299085" algn="l"/>
              </a:tabLst>
            </a:pPr>
            <a:endParaRPr lang="en" sz="2800" spc="-1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tabLst>
                <a:tab pos="299085" algn="l"/>
              </a:tabLst>
            </a:pPr>
            <a:r>
              <a:rPr lang="en" sz="2800" spc="-10" dirty="0">
                <a:solidFill>
                  <a:schemeClr val="bg2">
                    <a:lumMod val="25000"/>
                  </a:schemeClr>
                </a:solidFill>
                <a:latin typeface="Times New Roman "/>
                <a:cs typeface="Arial" panose="020B0604020202020204" pitchFamily="34" charset="0"/>
              </a:rPr>
              <a:t>There is limited practical experimentation and prototyping of blockchain-based asset tokenization platforms to evaluate their real-world feasibility, scalability, and performance.</a:t>
            </a:r>
            <a:endParaRPr lang="en"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tabLst>
                <a:tab pos="299085" algn="l"/>
              </a:tabLst>
            </a:pPr>
            <a:endParaRPr lang="en" sz="2800" spc="-10" dirty="0">
              <a:solidFill>
                <a:schemeClr val="bg2">
                  <a:lumMod val="25000"/>
                </a:schemeClr>
              </a:solidFill>
              <a:latin typeface="Times New Roman "/>
              <a:cs typeface="Arial" panose="020B0604020202020204" pitchFamily="34" charset="0"/>
            </a:endParaRPr>
          </a:p>
        </p:txBody>
      </p:sp>
    </p:spTree>
    <p:extLst>
      <p:ext uri="{BB962C8B-B14F-4D97-AF65-F5344CB8AC3E}">
        <p14:creationId xmlns:p14="http://schemas.microsoft.com/office/powerpoint/2010/main" val="137602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32" name="TextBox 7">
            <a:extLst>
              <a:ext uri="{FF2B5EF4-FFF2-40B4-BE49-F238E27FC236}">
                <a16:creationId xmlns:a16="http://schemas.microsoft.com/office/drawing/2014/main" id="{E332B0D2-34F9-F0EB-828B-38AE7565D45D}"/>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29583C7D-87AD-B47C-F8A4-BF6BC1D7A11B}"/>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4E003DE4-9B39-8805-146D-450EE22D4C45}"/>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F8B4BEFA-95FA-7545-576A-8A6C20E184F5}"/>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517A269F-B934-C07F-90D0-159B4D3CB020}"/>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9</a:t>
            </a:fld>
            <a:endParaRPr lang="en-IN" spc="-50" dirty="0"/>
          </a:p>
        </p:txBody>
      </p:sp>
      <p:sp>
        <p:nvSpPr>
          <p:cNvPr id="37" name="TextBox 4">
            <a:extLst>
              <a:ext uri="{FF2B5EF4-FFF2-40B4-BE49-F238E27FC236}">
                <a16:creationId xmlns:a16="http://schemas.microsoft.com/office/drawing/2014/main" id="{AD8EE08A-06C2-611C-FE47-314AC157A9EE}"/>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OBJECTIVES</a:t>
            </a:r>
          </a:p>
        </p:txBody>
      </p:sp>
      <p:sp>
        <p:nvSpPr>
          <p:cNvPr id="38" name="AutoShape 5">
            <a:extLst>
              <a:ext uri="{FF2B5EF4-FFF2-40B4-BE49-F238E27FC236}">
                <a16:creationId xmlns:a16="http://schemas.microsoft.com/office/drawing/2014/main" id="{1F914055-8FE8-2403-7EF7-F9500002371C}"/>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40" name="TextBox 39">
            <a:extLst>
              <a:ext uri="{FF2B5EF4-FFF2-40B4-BE49-F238E27FC236}">
                <a16:creationId xmlns:a16="http://schemas.microsoft.com/office/drawing/2014/main" id="{166F0836-C9BF-D890-1985-7F7AF918B7F7}"/>
              </a:ext>
            </a:extLst>
          </p:cNvPr>
          <p:cNvSpPr txBox="1"/>
          <p:nvPr/>
        </p:nvSpPr>
        <p:spPr>
          <a:xfrm>
            <a:off x="1028703" y="2479520"/>
            <a:ext cx="14668497" cy="6555641"/>
          </a:xfrm>
          <a:prstGeom prst="rect">
            <a:avLst/>
          </a:prstGeom>
          <a:noFill/>
        </p:spPr>
        <p:txBody>
          <a:bodyPr wrap="square">
            <a:spAutoFit/>
          </a:bodyPr>
          <a:lstStyle/>
          <a:p>
            <a:pPr algn="just"/>
            <a:r>
              <a:rPr lang="en-US" sz="2800" dirty="0">
                <a:solidFill>
                  <a:schemeClr val="bg2">
                    <a:lumMod val="25000"/>
                  </a:schemeClr>
                </a:solidFill>
                <a:latin typeface="Times New Roman "/>
                <a:cs typeface="Arial" panose="020B0604020202020204" pitchFamily="34" charset="0"/>
              </a:rPr>
              <a:t>The primary objectives of this project are:</a:t>
            </a:r>
          </a:p>
          <a:p>
            <a:pPr algn="just"/>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To design a blockchain-based system that enables fractional ownership of physical assets.</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To implement smart contracts that securely manage token issuance, transfers, and ownership records.</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To build a web-based interface for asset listing, token purchase, and transaction tracking.</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To ensure transparency and tamper-proof record maintenance using distributed ledger technology.</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To analyze the feasibility and scalability of asset tokenization in real-world applications.</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ea typeface="Calibri"/>
                <a:cs typeface="Calibri"/>
              </a:rPr>
              <a:t>Blockchain Integration The platform will be deployed on a public blockchain test network such as Ethereum test net to validate functionality.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E35452A1-A7F6-8396-3B3B-843CEAAA8917}"/>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405DC0C9-C603-4C29-BB60-011646733D22}"/>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DEC31CAE-E9D1-C8FD-B689-88913BE48817}"/>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96CB91AA-D259-1B75-E3B1-CAA0C652211C}"/>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BB898EBF-233B-5EEF-18F5-BA19CAD2281E}"/>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3BE77438-6E7C-5B8E-A179-054F40216FB3}"/>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10</a:t>
            </a:fld>
            <a:endParaRPr lang="en-IN" spc="-50" dirty="0"/>
          </a:p>
        </p:txBody>
      </p:sp>
      <p:sp>
        <p:nvSpPr>
          <p:cNvPr id="37" name="TextBox 4">
            <a:extLst>
              <a:ext uri="{FF2B5EF4-FFF2-40B4-BE49-F238E27FC236}">
                <a16:creationId xmlns:a16="http://schemas.microsoft.com/office/drawing/2014/main" id="{D87CE0E1-3282-7B2F-1CB5-081594A2EA6D}"/>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METHODOLOGY (1)</a:t>
            </a:r>
          </a:p>
        </p:txBody>
      </p:sp>
      <p:sp>
        <p:nvSpPr>
          <p:cNvPr id="38" name="AutoShape 5">
            <a:extLst>
              <a:ext uri="{FF2B5EF4-FFF2-40B4-BE49-F238E27FC236}">
                <a16:creationId xmlns:a16="http://schemas.microsoft.com/office/drawing/2014/main" id="{7AB9DFC3-8AAE-3D65-E085-F547B4FCFBD0}"/>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3" name="TextBox 2">
            <a:extLst>
              <a:ext uri="{FF2B5EF4-FFF2-40B4-BE49-F238E27FC236}">
                <a16:creationId xmlns:a16="http://schemas.microsoft.com/office/drawing/2014/main" id="{9A594D74-1C38-6CBA-8D69-E50559098B5D}"/>
              </a:ext>
            </a:extLst>
          </p:cNvPr>
          <p:cNvSpPr txBox="1"/>
          <p:nvPr/>
        </p:nvSpPr>
        <p:spPr>
          <a:xfrm>
            <a:off x="1028703" y="2652324"/>
            <a:ext cx="14668497" cy="6986528"/>
          </a:xfrm>
          <a:prstGeom prst="rect">
            <a:avLst/>
          </a:prstGeom>
          <a:noFill/>
        </p:spPr>
        <p:txBody>
          <a:bodyPr wrap="square">
            <a:spAutoFit/>
          </a:bodyPr>
          <a:lstStyle/>
          <a:p>
            <a:pPr algn="just"/>
            <a:r>
              <a:rPr lang="en-US" sz="2800" dirty="0">
                <a:solidFill>
                  <a:schemeClr val="bg2">
                    <a:lumMod val="25000"/>
                  </a:schemeClr>
                </a:solidFill>
                <a:latin typeface="Times New Roman "/>
                <a:cs typeface="Arial" panose="020B0604020202020204" pitchFamily="34" charset="0"/>
              </a:rPr>
              <a:t>The development of the project will follow these stages: </a:t>
            </a:r>
          </a:p>
          <a:p>
            <a:pPr algn="just"/>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Requirement Analysis Understanding the limitations of traditional asset ownership systems 	and identifying the need for fractional investment models. </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System Design Designing the architecture consisting of: Frontend application for user interaction Backend services for data management Blockchain network for token transactions Smart contracts for asset representation </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cs typeface="Arial" panose="020B0604020202020204" pitchFamily="34" charset="0"/>
              </a:rPr>
              <a:t>Smart Contract Development Smart contracts will be developed using Solidity. These contracts will: Mint tokens representing assets Handle ownership transfers Record transactions securely .</a:t>
            </a:r>
            <a:br>
              <a:rPr lang="en-US" sz="2800" dirty="0">
                <a:solidFill>
                  <a:schemeClr val="bg2">
                    <a:lumMod val="25000"/>
                  </a:schemeClr>
                </a:solidFill>
                <a:latin typeface="Times New Roman "/>
                <a:cs typeface="Arial" panose="020B0604020202020204" pitchFamily="34" charset="0"/>
              </a:rPr>
            </a:br>
            <a:endParaRPr lang="en-US" sz="2800" dirty="0">
              <a:solidFill>
                <a:schemeClr val="bg2">
                  <a:lumMod val="25000"/>
                </a:schemeClr>
              </a:solidFill>
              <a:latin typeface="Times New Roman "/>
              <a:cs typeface="Arial" panose="020B0604020202020204" pitchFamily="34" charset="0"/>
            </a:endParaRPr>
          </a:p>
          <a:p>
            <a:pPr marL="342900" indent="-342900" algn="just">
              <a:buFont typeface="Wingdings" panose="05000000000000000000" pitchFamily="2" charset="2"/>
              <a:buChar char="v"/>
            </a:pPr>
            <a:r>
              <a:rPr lang="en-US" sz="2800" dirty="0">
                <a:solidFill>
                  <a:schemeClr val="bg2">
                    <a:lumMod val="25000"/>
                  </a:schemeClr>
                </a:solidFill>
                <a:latin typeface="Times New Roman "/>
                <a:ea typeface="Calibri"/>
                <a:cs typeface="Calibri"/>
              </a:rPr>
              <a:t>Frontend &amp; Backend Development Frontend built using React.js for user-friendly interaction Backend using Node.js and Express.js Database integration (MongoDB) for storing off-chain metadata .</a:t>
            </a:r>
          </a:p>
          <a:p>
            <a:pPr marL="342900" indent="-342900" algn="just">
              <a:buFont typeface="Wingdings" panose="05000000000000000000" pitchFamily="2" charset="2"/>
              <a:buChar char="v"/>
            </a:pPr>
            <a:endParaRPr lang="en-US" sz="2800" dirty="0">
              <a:solidFill>
                <a:schemeClr val="bg2">
                  <a:lumMod val="25000"/>
                </a:schemeClr>
              </a:solidFill>
              <a:latin typeface="Times New Roman "/>
              <a:cs typeface="Arial" panose="020B0604020202020204" pitchFamily="34" charset="0"/>
            </a:endParaRPr>
          </a:p>
        </p:txBody>
      </p:sp>
    </p:spTree>
    <p:extLst>
      <p:ext uri="{BB962C8B-B14F-4D97-AF65-F5344CB8AC3E}">
        <p14:creationId xmlns:p14="http://schemas.microsoft.com/office/powerpoint/2010/main" val="2689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E676B1E2-C31B-137B-4BF4-2054E5F72A75}"/>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02482EED-DCEE-5FC9-FEAA-001BAF7118D6}"/>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DFDA3A98-6DAA-E709-3805-AD4C70B22BF0}"/>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585943E0-F940-305B-0963-83CBB09B0CC0}"/>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34BCC322-9F36-2626-174F-8F1AD599C1DF}"/>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8D077F35-7062-D5DE-125E-BB60ED58E415}"/>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11</a:t>
            </a:fld>
            <a:endParaRPr lang="en-IN" spc="-50" dirty="0"/>
          </a:p>
        </p:txBody>
      </p:sp>
      <p:sp>
        <p:nvSpPr>
          <p:cNvPr id="37" name="TextBox 4">
            <a:extLst>
              <a:ext uri="{FF2B5EF4-FFF2-40B4-BE49-F238E27FC236}">
                <a16:creationId xmlns:a16="http://schemas.microsoft.com/office/drawing/2014/main" id="{962926BB-6C32-9615-6794-5C4592EFC121}"/>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METHODOLOGY (2)</a:t>
            </a:r>
          </a:p>
        </p:txBody>
      </p:sp>
      <p:sp>
        <p:nvSpPr>
          <p:cNvPr id="38" name="AutoShape 5">
            <a:extLst>
              <a:ext uri="{FF2B5EF4-FFF2-40B4-BE49-F238E27FC236}">
                <a16:creationId xmlns:a16="http://schemas.microsoft.com/office/drawing/2014/main" id="{BF190989-0C02-6B77-7A6C-DFB2E8E995E5}"/>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3" name="TextBox 2">
            <a:extLst>
              <a:ext uri="{FF2B5EF4-FFF2-40B4-BE49-F238E27FC236}">
                <a16:creationId xmlns:a16="http://schemas.microsoft.com/office/drawing/2014/main" id="{12C5A3DE-8EED-8978-D823-B420B8303B8A}"/>
              </a:ext>
            </a:extLst>
          </p:cNvPr>
          <p:cNvSpPr txBox="1"/>
          <p:nvPr/>
        </p:nvSpPr>
        <p:spPr>
          <a:xfrm>
            <a:off x="1028703" y="2705100"/>
            <a:ext cx="13449297" cy="8279190"/>
          </a:xfrm>
          <a:prstGeom prst="rect">
            <a:avLst/>
          </a:prstGeom>
          <a:noFill/>
        </p:spPr>
        <p:txBody>
          <a:bodyPr wrap="square" numCol="2" spcCol="1080000">
            <a:spAutoFit/>
          </a:bodyPr>
          <a:lstStyle/>
          <a:p>
            <a:pPr marL="342900" indent="-342900">
              <a:buFont typeface="Wingdings" panose="05000000000000000000" pitchFamily="2" charset="2"/>
              <a:buChar char="v"/>
            </a:pPr>
            <a:r>
              <a:rPr lang="en-US" sz="2800" dirty="0">
                <a:solidFill>
                  <a:schemeClr val="bg2">
                    <a:lumMod val="25000"/>
                  </a:schemeClr>
                </a:solidFill>
                <a:latin typeface="Times New Roman "/>
                <a:ea typeface="Calibri"/>
                <a:cs typeface="Calibri"/>
              </a:rPr>
              <a:t>Testing and Validation </a:t>
            </a:r>
          </a:p>
          <a:p>
            <a:pPr lvl="1"/>
            <a:endParaRPr lang="en-US" sz="2800" dirty="0">
              <a:solidFill>
                <a:schemeClr val="bg2">
                  <a:lumMod val="25000"/>
                </a:schemeClr>
              </a:solidFill>
              <a:latin typeface="Times New Roman "/>
              <a:ea typeface="Calibri"/>
              <a:cs typeface="Calibri"/>
            </a:endParaRPr>
          </a:p>
          <a:p>
            <a:pPr lvl="1"/>
            <a:r>
              <a:rPr lang="en-US" sz="2800" dirty="0">
                <a:solidFill>
                  <a:schemeClr val="bg2">
                    <a:lumMod val="25000"/>
                  </a:schemeClr>
                </a:solidFill>
                <a:latin typeface="Times New Roman "/>
                <a:ea typeface="Calibri"/>
                <a:cs typeface="Calibri"/>
              </a:rPr>
              <a:t>Functional testing: 	</a:t>
            </a:r>
          </a:p>
          <a:p>
            <a:pPr marL="800100" lvl="2" indent="-342900">
              <a:buFont typeface="Arial" panose="020B0604020202020204" pitchFamily="34" charset="0"/>
              <a:buChar char="•"/>
            </a:pPr>
            <a:r>
              <a:rPr lang="en-US" sz="2800" dirty="0">
                <a:solidFill>
                  <a:schemeClr val="bg2">
                    <a:lumMod val="25000"/>
                  </a:schemeClr>
                </a:solidFill>
                <a:latin typeface="Times New Roman "/>
              </a:rPr>
              <a:t>Verify asset listing and retrieval </a:t>
            </a:r>
          </a:p>
          <a:p>
            <a:pPr marL="800100" lvl="1" indent="-342900">
              <a:buFont typeface="Arial" panose="020B0604020202020204" pitchFamily="34" charset="0"/>
              <a:buChar char="•"/>
            </a:pPr>
            <a:r>
              <a:rPr lang="en-US" sz="2800" dirty="0">
                <a:solidFill>
                  <a:schemeClr val="bg2">
                    <a:lumMod val="25000"/>
                  </a:schemeClr>
                </a:solidFill>
                <a:latin typeface="Times New Roman "/>
              </a:rPr>
              <a:t>Validate token purchase workflow </a:t>
            </a:r>
          </a:p>
          <a:p>
            <a:pPr marL="800100" lvl="1" indent="-342900">
              <a:buFont typeface="Arial" panose="020B0604020202020204" pitchFamily="34" charset="0"/>
              <a:buChar char="•"/>
            </a:pPr>
            <a:r>
              <a:rPr lang="en-US" sz="2800" dirty="0">
                <a:solidFill>
                  <a:schemeClr val="bg2">
                    <a:lumMod val="25000"/>
                  </a:schemeClr>
                </a:solidFill>
                <a:latin typeface="Times New Roman "/>
              </a:rPr>
              <a:t>Check user authentication (login/signup) </a:t>
            </a:r>
          </a:p>
          <a:p>
            <a:pPr marL="800100" lvl="1" indent="-342900">
              <a:buFont typeface="Arial" panose="020B0604020202020204" pitchFamily="34" charset="0"/>
              <a:buChar char="•"/>
            </a:pPr>
            <a:r>
              <a:rPr lang="en-US" sz="2800" dirty="0">
                <a:solidFill>
                  <a:schemeClr val="bg2">
                    <a:lumMod val="25000"/>
                  </a:schemeClr>
                </a:solidFill>
                <a:latin typeface="Times New Roman "/>
              </a:rPr>
              <a:t>Ensure correct ownership update after transactions </a:t>
            </a:r>
          </a:p>
          <a:p>
            <a:endParaRPr lang="en-US" sz="2800" dirty="0">
              <a:solidFill>
                <a:schemeClr val="bg2">
                  <a:lumMod val="25000"/>
                </a:schemeClr>
              </a:solidFill>
              <a:latin typeface="Times New Roman "/>
            </a:endParaRPr>
          </a:p>
          <a:p>
            <a:r>
              <a:rPr lang="en-US" sz="2800" dirty="0">
                <a:solidFill>
                  <a:schemeClr val="bg2">
                    <a:lumMod val="25000"/>
                  </a:schemeClr>
                </a:solidFill>
                <a:latin typeface="Times New Roman "/>
                <a:ea typeface="Calibri"/>
                <a:cs typeface="Calibri"/>
              </a:rPr>
              <a:t>      Security Contract Testing : </a:t>
            </a:r>
          </a:p>
          <a:p>
            <a:pPr marL="800100" lvl="1" indent="-342900">
              <a:buFont typeface="Arial" panose="020B0604020202020204" pitchFamily="34" charset="0"/>
              <a:buChar char="•"/>
            </a:pPr>
            <a:r>
              <a:rPr lang="en-US" sz="2800" dirty="0">
                <a:solidFill>
                  <a:schemeClr val="bg2">
                    <a:lumMod val="25000"/>
                  </a:schemeClr>
                </a:solidFill>
                <a:latin typeface="Times New Roman "/>
              </a:rPr>
              <a:t>Token minting accuracy </a:t>
            </a:r>
          </a:p>
          <a:p>
            <a:pPr marL="800100" lvl="1" indent="-342900">
              <a:buFont typeface="Arial" panose="020B0604020202020204" pitchFamily="34" charset="0"/>
              <a:buChar char="•"/>
            </a:pPr>
            <a:r>
              <a:rPr lang="en-US" sz="2800" dirty="0">
                <a:solidFill>
                  <a:schemeClr val="bg2">
                    <a:lumMod val="25000"/>
                  </a:schemeClr>
                </a:solidFill>
                <a:latin typeface="Times New Roman "/>
              </a:rPr>
              <a:t>Ownership transfer correctness </a:t>
            </a:r>
          </a:p>
          <a:p>
            <a:pPr marL="800100" lvl="1" indent="-342900">
              <a:buFont typeface="Arial" panose="020B0604020202020204" pitchFamily="34" charset="0"/>
              <a:buChar char="•"/>
            </a:pPr>
            <a:r>
              <a:rPr lang="en-US" sz="2800" dirty="0">
                <a:solidFill>
                  <a:schemeClr val="bg2">
                    <a:lumMod val="25000"/>
                  </a:schemeClr>
                </a:solidFill>
                <a:latin typeface="Times New Roman "/>
              </a:rPr>
              <a:t>Validation of input conditions (require statements) </a:t>
            </a:r>
          </a:p>
          <a:p>
            <a:pPr marL="800100" lvl="1" indent="-342900">
              <a:buFont typeface="Arial" panose="020B0604020202020204" pitchFamily="34" charset="0"/>
              <a:buChar char="•"/>
            </a:pPr>
            <a:r>
              <a:rPr lang="en-US" sz="2800" dirty="0">
                <a:solidFill>
                  <a:schemeClr val="bg2">
                    <a:lumMod val="25000"/>
                  </a:schemeClr>
                </a:solidFill>
                <a:latin typeface="Times New Roman "/>
              </a:rPr>
              <a:t>Prevention of invalid or duplicate transactions </a:t>
            </a:r>
          </a:p>
          <a:p>
            <a:endParaRPr lang="en-US" sz="2800" dirty="0">
              <a:solidFill>
                <a:schemeClr val="bg2">
                  <a:lumMod val="25000"/>
                </a:schemeClr>
              </a:solidFill>
              <a:latin typeface="Times New Roman "/>
            </a:endParaRPr>
          </a:p>
          <a:p>
            <a:pPr marL="342900" indent="-342900">
              <a:buFont typeface="Arial" panose="020B0604020202020204" pitchFamily="34" charset="0"/>
              <a:buChar char="•"/>
            </a:pPr>
            <a:endParaRPr lang="en-US" sz="2800" dirty="0">
              <a:solidFill>
                <a:schemeClr val="bg2">
                  <a:lumMod val="25000"/>
                </a:schemeClr>
              </a:solidFill>
              <a:latin typeface="Times New Roman "/>
            </a:endParaRPr>
          </a:p>
          <a:p>
            <a:pPr marL="342900" indent="-342900">
              <a:buFont typeface="Arial" panose="020B0604020202020204" pitchFamily="34" charset="0"/>
              <a:buChar char="•"/>
            </a:pPr>
            <a:endParaRPr lang="en-US" sz="2800" dirty="0">
              <a:solidFill>
                <a:schemeClr val="bg2">
                  <a:lumMod val="25000"/>
                </a:schemeClr>
              </a:solidFill>
              <a:latin typeface="Times New Roman "/>
            </a:endParaRPr>
          </a:p>
          <a:p>
            <a:pPr marL="342900" indent="-342900">
              <a:buFont typeface="Arial" panose="020B0604020202020204" pitchFamily="34" charset="0"/>
              <a:buChar char="•"/>
            </a:pPr>
            <a:endParaRPr lang="en-US" sz="2800" dirty="0">
              <a:solidFill>
                <a:schemeClr val="bg2">
                  <a:lumMod val="25000"/>
                </a:schemeClr>
              </a:solidFill>
              <a:latin typeface="Times New Roman "/>
            </a:endParaRPr>
          </a:p>
          <a:p>
            <a:r>
              <a:rPr lang="en-US" sz="2800" dirty="0">
                <a:solidFill>
                  <a:schemeClr val="bg2">
                    <a:lumMod val="25000"/>
                  </a:schemeClr>
                </a:solidFill>
                <a:latin typeface="Times New Roman "/>
              </a:rPr>
              <a:t>Performance Testing : </a:t>
            </a:r>
            <a:endParaRPr lang="en-US" altLang="en-US" sz="2800" dirty="0">
              <a:solidFill>
                <a:schemeClr val="bg2">
                  <a:lumMod val="25000"/>
                </a:schemeClr>
              </a:solidFill>
              <a:latin typeface="Times New Roman "/>
            </a:endParaRPr>
          </a:p>
          <a:p>
            <a:pPr marL="342900" lvl="4" indent="-342900" eaLnBrk="0" fontAlgn="base" hangingPunct="0">
              <a:spcBef>
                <a:spcPct val="0"/>
              </a:spcBef>
              <a:spcAft>
                <a:spcPct val="0"/>
              </a:spcAft>
              <a:buFont typeface="Arial" panose="020B0604020202020204" pitchFamily="34" charset="0"/>
              <a:buChar char="•"/>
            </a:pPr>
            <a:r>
              <a:rPr lang="en-US" altLang="en-US" sz="2800" dirty="0">
                <a:solidFill>
                  <a:schemeClr val="bg2">
                    <a:lumMod val="25000"/>
                  </a:schemeClr>
                </a:solidFill>
                <a:latin typeface="Times New Roman "/>
              </a:rPr>
              <a:t>API response time </a:t>
            </a:r>
          </a:p>
          <a:p>
            <a:pPr marL="342900" lvl="0" indent="-342900" eaLnBrk="0" fontAlgn="base" hangingPunct="0">
              <a:spcBef>
                <a:spcPct val="0"/>
              </a:spcBef>
              <a:spcAft>
                <a:spcPct val="0"/>
              </a:spcAft>
              <a:buFont typeface="Arial" panose="020B0604020202020204" pitchFamily="34" charset="0"/>
              <a:buChar char="•"/>
            </a:pPr>
            <a:r>
              <a:rPr lang="en-US" altLang="en-US" sz="2800" dirty="0">
                <a:solidFill>
                  <a:schemeClr val="bg2">
                    <a:lumMod val="25000"/>
                  </a:schemeClr>
                </a:solidFill>
                <a:latin typeface="Times New Roman "/>
              </a:rPr>
              <a:t>System behavior under multiple users </a:t>
            </a:r>
          </a:p>
          <a:p>
            <a:pPr marL="342900" lvl="0" indent="-342900" eaLnBrk="0" fontAlgn="base" hangingPunct="0">
              <a:spcBef>
                <a:spcPct val="0"/>
              </a:spcBef>
              <a:spcAft>
                <a:spcPct val="0"/>
              </a:spcAft>
              <a:buFont typeface="Arial" panose="020B0604020202020204" pitchFamily="34" charset="0"/>
              <a:buChar char="•"/>
            </a:pPr>
            <a:r>
              <a:rPr lang="en-US" altLang="en-US" sz="2800" dirty="0">
                <a:solidFill>
                  <a:schemeClr val="bg2">
                    <a:lumMod val="25000"/>
                  </a:schemeClr>
                </a:solidFill>
                <a:latin typeface="Times New Roman "/>
              </a:rPr>
              <a:t>Database query performance </a:t>
            </a:r>
          </a:p>
          <a:p>
            <a:pPr marL="342900" lvl="0" indent="-342900" eaLnBrk="0" fontAlgn="base" hangingPunct="0">
              <a:spcBef>
                <a:spcPct val="0"/>
              </a:spcBef>
              <a:spcAft>
                <a:spcPct val="0"/>
              </a:spcAft>
              <a:buFont typeface="Arial" panose="020B0604020202020204" pitchFamily="34" charset="0"/>
              <a:buChar char="•"/>
            </a:pPr>
            <a:r>
              <a:rPr lang="en-US" altLang="en-US" sz="2800" dirty="0">
                <a:solidFill>
                  <a:schemeClr val="bg2">
                    <a:lumMod val="25000"/>
                  </a:schemeClr>
                </a:solidFill>
                <a:latin typeface="Times New Roman "/>
              </a:rPr>
              <a:t>Transaction processing delay </a:t>
            </a:r>
          </a:p>
          <a:p>
            <a:pPr marL="342900" lvl="0" indent="-342900" eaLnBrk="0" fontAlgn="base" hangingPunct="0">
              <a:spcBef>
                <a:spcPct val="0"/>
              </a:spcBef>
              <a:spcAft>
                <a:spcPct val="0"/>
              </a:spcAft>
              <a:buFont typeface="Arial" panose="020B0604020202020204" pitchFamily="34" charset="0"/>
              <a:buChar char="•"/>
            </a:pPr>
            <a:endParaRPr lang="en-US" altLang="en-US" sz="2800" dirty="0">
              <a:solidFill>
                <a:schemeClr val="bg2">
                  <a:lumMod val="25000"/>
                </a:schemeClr>
              </a:solidFill>
              <a:latin typeface="Times New Roman "/>
            </a:endParaRPr>
          </a:p>
          <a:p>
            <a:r>
              <a:rPr lang="en-US" sz="2800" dirty="0">
                <a:solidFill>
                  <a:schemeClr val="bg2">
                    <a:lumMod val="25000"/>
                  </a:schemeClr>
                </a:solidFill>
                <a:latin typeface="Times New Roman "/>
              </a:rPr>
              <a:t>Security Testing :</a:t>
            </a:r>
          </a:p>
          <a:p>
            <a:pPr marL="342900" indent="-342900">
              <a:buFont typeface="Arial" panose="020B0604020202020204" pitchFamily="34" charset="0"/>
              <a:buChar char="•"/>
            </a:pPr>
            <a:r>
              <a:rPr lang="en-US" sz="2800" dirty="0">
                <a:solidFill>
                  <a:schemeClr val="bg2">
                    <a:lumMod val="25000"/>
                  </a:schemeClr>
                </a:solidFill>
                <a:latin typeface="Times New Roman "/>
              </a:rPr>
              <a:t>Input validation (prevent invalid data) </a:t>
            </a:r>
          </a:p>
          <a:p>
            <a:pPr marL="342900" indent="-342900">
              <a:buFont typeface="Arial" panose="020B0604020202020204" pitchFamily="34" charset="0"/>
              <a:buChar char="•"/>
            </a:pPr>
            <a:r>
              <a:rPr lang="en-US" sz="2800" dirty="0">
                <a:solidFill>
                  <a:schemeClr val="bg2">
                    <a:lumMod val="25000"/>
                  </a:schemeClr>
                </a:solidFill>
                <a:latin typeface="Times New Roman "/>
              </a:rPr>
              <a:t>Protection against unauthorized access </a:t>
            </a:r>
          </a:p>
          <a:p>
            <a:pPr marL="342900" indent="-342900">
              <a:buFont typeface="Arial" panose="020B0604020202020204" pitchFamily="34" charset="0"/>
              <a:buChar char="•"/>
            </a:pPr>
            <a:r>
              <a:rPr lang="en-US" sz="2800" dirty="0">
                <a:solidFill>
                  <a:schemeClr val="bg2">
                    <a:lumMod val="25000"/>
                  </a:schemeClr>
                </a:solidFill>
                <a:latin typeface="Times New Roman "/>
              </a:rPr>
              <a:t>Smart contract vulnerability checks </a:t>
            </a:r>
          </a:p>
          <a:p>
            <a:pPr marL="342900" indent="-342900">
              <a:buFont typeface="Arial" panose="020B0604020202020204" pitchFamily="34" charset="0"/>
              <a:buChar char="•"/>
            </a:pPr>
            <a:r>
              <a:rPr lang="en-US" sz="2800" dirty="0">
                <a:solidFill>
                  <a:schemeClr val="bg2">
                    <a:lumMod val="25000"/>
                  </a:schemeClr>
                </a:solidFill>
                <a:latin typeface="Times New Roman "/>
              </a:rPr>
              <a:t>Wallet transaction security </a:t>
            </a:r>
          </a:p>
          <a:p>
            <a:pPr lvl="0" eaLnBrk="0" fontAlgn="base" hangingPunct="0">
              <a:spcBef>
                <a:spcPct val="0"/>
              </a:spcBef>
              <a:spcAft>
                <a:spcPct val="0"/>
              </a:spcAft>
            </a:pPr>
            <a:endParaRPr lang="en-US" altLang="en-US" sz="2800" dirty="0">
              <a:solidFill>
                <a:schemeClr val="bg2">
                  <a:lumMod val="25000"/>
                </a:schemeClr>
              </a:solidFill>
              <a:latin typeface="Times New Roman "/>
            </a:endParaRPr>
          </a:p>
          <a:p>
            <a:pPr lvl="0" eaLnBrk="0" fontAlgn="base" hangingPunct="0">
              <a:spcBef>
                <a:spcPct val="0"/>
              </a:spcBef>
              <a:spcAft>
                <a:spcPct val="0"/>
              </a:spcAft>
            </a:pPr>
            <a:endParaRPr lang="en-US" altLang="en-US" sz="2800" dirty="0">
              <a:solidFill>
                <a:schemeClr val="bg2">
                  <a:lumMod val="25000"/>
                </a:schemeClr>
              </a:solidFill>
              <a:latin typeface="Times New Roman "/>
            </a:endParaRPr>
          </a:p>
        </p:txBody>
      </p:sp>
    </p:spTree>
    <p:extLst>
      <p:ext uri="{BB962C8B-B14F-4D97-AF65-F5344CB8AC3E}">
        <p14:creationId xmlns:p14="http://schemas.microsoft.com/office/powerpoint/2010/main" val="2723429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71CE42B1-57C3-FF2B-053E-F64A9B3EF1D3}"/>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3C92C5B6-6EC5-C4B9-E7C2-249516C9186B}"/>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6BB78C18-7CC1-268B-42C0-8EEDF0A9B4DA}"/>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2A81AE4F-3985-80FA-650B-041885E81A20}"/>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6C433039-A204-E70F-BE66-1A7F57B3D345}"/>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2A16E0C6-8B33-7063-A6D0-7AE8E6AA0D72}"/>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12</a:t>
            </a:fld>
            <a:endParaRPr lang="en-IN" spc="-50" dirty="0"/>
          </a:p>
        </p:txBody>
      </p:sp>
      <p:sp>
        <p:nvSpPr>
          <p:cNvPr id="37" name="TextBox 4">
            <a:extLst>
              <a:ext uri="{FF2B5EF4-FFF2-40B4-BE49-F238E27FC236}">
                <a16:creationId xmlns:a16="http://schemas.microsoft.com/office/drawing/2014/main" id="{5B0857C1-E117-50DD-FC18-69D9075A3C28}"/>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METHODOLOGY (3)</a:t>
            </a:r>
          </a:p>
        </p:txBody>
      </p:sp>
      <p:sp>
        <p:nvSpPr>
          <p:cNvPr id="38" name="AutoShape 5">
            <a:extLst>
              <a:ext uri="{FF2B5EF4-FFF2-40B4-BE49-F238E27FC236}">
                <a16:creationId xmlns:a16="http://schemas.microsoft.com/office/drawing/2014/main" id="{F7EB5E7A-18AA-396B-6FBC-80DF2F5995EF}"/>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3" name="TextBox 2">
            <a:extLst>
              <a:ext uri="{FF2B5EF4-FFF2-40B4-BE49-F238E27FC236}">
                <a16:creationId xmlns:a16="http://schemas.microsoft.com/office/drawing/2014/main" id="{86329049-086A-5C78-1048-5FDC3BFEAC59}"/>
              </a:ext>
            </a:extLst>
          </p:cNvPr>
          <p:cNvSpPr txBox="1"/>
          <p:nvPr/>
        </p:nvSpPr>
        <p:spPr>
          <a:xfrm>
            <a:off x="1028703" y="2705100"/>
            <a:ext cx="13449297" cy="3970318"/>
          </a:xfrm>
          <a:prstGeom prst="rect">
            <a:avLst/>
          </a:prstGeom>
          <a:noFill/>
        </p:spPr>
        <p:txBody>
          <a:bodyPr wrap="square" numCol="1" spcCol="1080000">
            <a:spAutoFit/>
          </a:bodyPr>
          <a:lstStyle/>
          <a:p>
            <a:r>
              <a:rPr lang="en-US" sz="2800" dirty="0">
                <a:solidFill>
                  <a:schemeClr val="bg2">
                    <a:lumMod val="25000"/>
                  </a:schemeClr>
                </a:solidFill>
                <a:latin typeface="Times New Roman "/>
              </a:rPr>
              <a:t>Integration Testing : </a:t>
            </a:r>
          </a:p>
          <a:p>
            <a:pPr marL="342900" indent="-342900">
              <a:buFont typeface="Arial" panose="020B0604020202020204" pitchFamily="34" charset="0"/>
              <a:buChar char="•"/>
            </a:pPr>
            <a:r>
              <a:rPr lang="en-IN" sz="2800" dirty="0">
                <a:solidFill>
                  <a:schemeClr val="bg2">
                    <a:lumMod val="25000"/>
                  </a:schemeClr>
                </a:solidFill>
                <a:latin typeface="Times New Roman "/>
              </a:rPr>
              <a:t>Frontend - Backend communication </a:t>
            </a:r>
          </a:p>
          <a:p>
            <a:pPr marL="342900" indent="-342900">
              <a:buFont typeface="Arial" panose="020B0604020202020204" pitchFamily="34" charset="0"/>
              <a:buChar char="•"/>
            </a:pPr>
            <a:r>
              <a:rPr lang="en-IN" sz="2800" dirty="0">
                <a:solidFill>
                  <a:schemeClr val="bg2">
                    <a:lumMod val="25000"/>
                  </a:schemeClr>
                </a:solidFill>
                <a:latin typeface="Times New Roman "/>
              </a:rPr>
              <a:t>Backend - Blockchain interaction </a:t>
            </a:r>
          </a:p>
          <a:p>
            <a:pPr marL="342900" indent="-342900">
              <a:buFont typeface="Arial" panose="020B0604020202020204" pitchFamily="34" charset="0"/>
              <a:buChar char="•"/>
            </a:pPr>
            <a:r>
              <a:rPr lang="en-IN" sz="2800" dirty="0">
                <a:solidFill>
                  <a:schemeClr val="bg2">
                    <a:lumMod val="25000"/>
                  </a:schemeClr>
                </a:solidFill>
                <a:latin typeface="Times New Roman "/>
              </a:rPr>
              <a:t>MetaMask - Smart contract execution </a:t>
            </a:r>
          </a:p>
          <a:p>
            <a:endParaRPr lang="en-US" sz="2800" dirty="0">
              <a:solidFill>
                <a:schemeClr val="bg2">
                  <a:lumMod val="25000"/>
                </a:schemeClr>
              </a:solidFill>
              <a:latin typeface="Times New Roman "/>
            </a:endParaRPr>
          </a:p>
          <a:p>
            <a:r>
              <a:rPr lang="en-US" sz="2800" dirty="0">
                <a:solidFill>
                  <a:schemeClr val="bg2">
                    <a:lumMod val="25000"/>
                  </a:schemeClr>
                </a:solidFill>
                <a:latin typeface="Times New Roman "/>
              </a:rPr>
              <a:t>Usability Testing : </a:t>
            </a:r>
          </a:p>
          <a:p>
            <a:pPr marL="342900" indent="-342900">
              <a:buFont typeface="Arial" panose="020B0604020202020204" pitchFamily="34" charset="0"/>
              <a:buChar char="•"/>
            </a:pPr>
            <a:r>
              <a:rPr lang="en-US" sz="2800" dirty="0">
                <a:solidFill>
                  <a:schemeClr val="bg2">
                    <a:lumMod val="25000"/>
                  </a:schemeClr>
                </a:solidFill>
                <a:latin typeface="Times New Roman "/>
              </a:rPr>
              <a:t>Ease of navigation </a:t>
            </a:r>
          </a:p>
          <a:p>
            <a:pPr marL="342900" indent="-342900">
              <a:buFont typeface="Arial" panose="020B0604020202020204" pitchFamily="34" charset="0"/>
              <a:buChar char="•"/>
            </a:pPr>
            <a:r>
              <a:rPr lang="en-US" sz="2800" dirty="0">
                <a:solidFill>
                  <a:schemeClr val="bg2">
                    <a:lumMod val="25000"/>
                  </a:schemeClr>
                </a:solidFill>
                <a:latin typeface="Times New Roman "/>
              </a:rPr>
              <a:t>User interface responsiveness </a:t>
            </a:r>
          </a:p>
          <a:p>
            <a:pPr marL="342900" indent="-342900">
              <a:buFont typeface="Arial" panose="020B0604020202020204" pitchFamily="34" charset="0"/>
              <a:buChar char="•"/>
            </a:pPr>
            <a:r>
              <a:rPr lang="en-US" sz="2800" dirty="0">
                <a:solidFill>
                  <a:schemeClr val="bg2">
                    <a:lumMod val="25000"/>
                  </a:schemeClr>
                </a:solidFill>
                <a:latin typeface="Times New Roman "/>
              </a:rPr>
              <a:t>Clarity of transaction feedback </a:t>
            </a:r>
          </a:p>
        </p:txBody>
      </p:sp>
    </p:spTree>
    <p:extLst>
      <p:ext uri="{BB962C8B-B14F-4D97-AF65-F5344CB8AC3E}">
        <p14:creationId xmlns:p14="http://schemas.microsoft.com/office/powerpoint/2010/main" val="2820024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8A4F0644-CE07-C712-A9CE-6E0852054AB1}"/>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C725F65D-F19A-EB2C-D4A5-3F52ACA75844}"/>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81332CEB-DC37-BDCA-A1CA-68303985E07C}"/>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FDC59C80-A4EA-4C29-35C3-4837ED4EA2D3}"/>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F3003BE7-98A6-4663-0742-37A1F2931FFA}"/>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617C8C1B-DDB9-3384-DCEF-FC230B2147F1}"/>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13</a:t>
            </a:fld>
            <a:endParaRPr lang="en-IN" spc="-50" dirty="0"/>
          </a:p>
        </p:txBody>
      </p:sp>
      <p:sp>
        <p:nvSpPr>
          <p:cNvPr id="37" name="TextBox 4">
            <a:extLst>
              <a:ext uri="{FF2B5EF4-FFF2-40B4-BE49-F238E27FC236}">
                <a16:creationId xmlns:a16="http://schemas.microsoft.com/office/drawing/2014/main" id="{7ECE9905-438C-1BC9-6820-023F1B15299B}"/>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ARCHITECTURE DIAGRAM</a:t>
            </a:r>
          </a:p>
        </p:txBody>
      </p:sp>
      <p:sp>
        <p:nvSpPr>
          <p:cNvPr id="38" name="AutoShape 5">
            <a:extLst>
              <a:ext uri="{FF2B5EF4-FFF2-40B4-BE49-F238E27FC236}">
                <a16:creationId xmlns:a16="http://schemas.microsoft.com/office/drawing/2014/main" id="{19FF83E5-74F2-558F-B839-582D89A917E8}"/>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pic>
        <p:nvPicPr>
          <p:cNvPr id="2" name="Picture 1">
            <a:extLst>
              <a:ext uri="{FF2B5EF4-FFF2-40B4-BE49-F238E27FC236}">
                <a16:creationId xmlns:a16="http://schemas.microsoft.com/office/drawing/2014/main" id="{362655E7-10A0-4916-6C70-E56D21B50E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703" y="2789304"/>
            <a:ext cx="10450468" cy="6966979"/>
          </a:xfrm>
          <a:prstGeom prst="rect">
            <a:avLst/>
          </a:prstGeom>
        </p:spPr>
      </p:pic>
      <p:sp>
        <p:nvSpPr>
          <p:cNvPr id="8" name="TextBox 7">
            <a:extLst>
              <a:ext uri="{FF2B5EF4-FFF2-40B4-BE49-F238E27FC236}">
                <a16:creationId xmlns:a16="http://schemas.microsoft.com/office/drawing/2014/main" id="{D0CD24C7-EB26-7B6B-2F64-5261D7B1703A}"/>
              </a:ext>
            </a:extLst>
          </p:cNvPr>
          <p:cNvSpPr txBox="1"/>
          <p:nvPr/>
        </p:nvSpPr>
        <p:spPr>
          <a:xfrm>
            <a:off x="12370619" y="2789304"/>
            <a:ext cx="4888678" cy="2308324"/>
          </a:xfrm>
          <a:prstGeom prst="rect">
            <a:avLst/>
          </a:prstGeom>
          <a:noFill/>
        </p:spPr>
        <p:txBody>
          <a:bodyPr wrap="square">
            <a:spAutoFit/>
          </a:bodyPr>
          <a:lstStyle/>
          <a:p>
            <a:pPr algn="just"/>
            <a:r>
              <a:rPr lang="en-US" dirty="0">
                <a:solidFill>
                  <a:schemeClr val="bg2">
                    <a:lumMod val="25000"/>
                  </a:schemeClr>
                </a:solidFill>
                <a:latin typeface="Times New Roman "/>
              </a:rPr>
              <a:t>This architecture enables asset tokenization using a React frontend, Node.js backend, MongoDB, and Ethereum blockchain. Users interact via dashboards, while smart contracts manage tokens and ownership. Backend handles APIs and stores data, ensuring secure transactions, scalability, and seamless integration between off-chain and on-chain systems.</a:t>
            </a:r>
            <a:endParaRPr lang="en-IN" dirty="0">
              <a:solidFill>
                <a:schemeClr val="bg2">
                  <a:lumMod val="25000"/>
                </a:schemeClr>
              </a:solidFill>
              <a:latin typeface="Times New Roman "/>
            </a:endParaRPr>
          </a:p>
        </p:txBody>
      </p:sp>
      <p:sp>
        <p:nvSpPr>
          <p:cNvPr id="10" name="TextBox 9">
            <a:extLst>
              <a:ext uri="{FF2B5EF4-FFF2-40B4-BE49-F238E27FC236}">
                <a16:creationId xmlns:a16="http://schemas.microsoft.com/office/drawing/2014/main" id="{80915966-DE62-8736-4731-C9CE22427008}"/>
              </a:ext>
            </a:extLst>
          </p:cNvPr>
          <p:cNvSpPr txBox="1"/>
          <p:nvPr/>
        </p:nvSpPr>
        <p:spPr>
          <a:xfrm>
            <a:off x="12392433" y="5184462"/>
            <a:ext cx="4866864" cy="2031325"/>
          </a:xfrm>
          <a:prstGeom prst="rect">
            <a:avLst/>
          </a:prstGeom>
          <a:noFill/>
        </p:spPr>
        <p:txBody>
          <a:bodyPr wrap="square">
            <a:spAutoFit/>
          </a:bodyPr>
          <a:lstStyle/>
          <a:p>
            <a:pPr algn="just">
              <a:buNone/>
            </a:pPr>
            <a:r>
              <a:rPr lang="en-US" dirty="0">
                <a:solidFill>
                  <a:schemeClr val="bg2">
                    <a:lumMod val="25000"/>
                  </a:schemeClr>
                </a:solidFill>
                <a:latin typeface="Times New Roman "/>
              </a:rPr>
              <a:t>The system connects a web interface, backend services, database, and blockchain to digitize asset ownership. Users can explore assets, purchase tokens, and track holdings. Smart contracts enforce rules, while the backend manages logic and data, ensuring transparency, efficiency, and reliable transaction processing.</a:t>
            </a:r>
          </a:p>
        </p:txBody>
      </p:sp>
      <p:sp>
        <p:nvSpPr>
          <p:cNvPr id="12" name="TextBox 11">
            <a:extLst>
              <a:ext uri="{FF2B5EF4-FFF2-40B4-BE49-F238E27FC236}">
                <a16:creationId xmlns:a16="http://schemas.microsoft.com/office/drawing/2014/main" id="{9A227FC7-44E4-8552-10FF-E44A3F2303C7}"/>
              </a:ext>
            </a:extLst>
          </p:cNvPr>
          <p:cNvSpPr txBox="1"/>
          <p:nvPr/>
        </p:nvSpPr>
        <p:spPr>
          <a:xfrm>
            <a:off x="12392433" y="7302621"/>
            <a:ext cx="4845050" cy="1200329"/>
          </a:xfrm>
          <a:prstGeom prst="rect">
            <a:avLst/>
          </a:prstGeom>
          <a:noFill/>
        </p:spPr>
        <p:txBody>
          <a:bodyPr wrap="square">
            <a:spAutoFit/>
          </a:bodyPr>
          <a:lstStyle/>
          <a:p>
            <a:pPr algn="just">
              <a:buNone/>
            </a:pPr>
            <a:r>
              <a:rPr lang="en-US" dirty="0">
                <a:solidFill>
                  <a:schemeClr val="bg2">
                    <a:lumMod val="25000"/>
                  </a:schemeClr>
                </a:solidFill>
                <a:latin typeface="Times New Roman "/>
              </a:rPr>
              <a:t>This model links frontend, backend, and blockchain to tokenize assets, enabling secure ownership transfers, efficient data handling, and transparent transaction tracking.</a:t>
            </a:r>
          </a:p>
        </p:txBody>
      </p:sp>
      <p:cxnSp>
        <p:nvCxnSpPr>
          <p:cNvPr id="14" name="Straight Connector 13">
            <a:extLst>
              <a:ext uri="{FF2B5EF4-FFF2-40B4-BE49-F238E27FC236}">
                <a16:creationId xmlns:a16="http://schemas.microsoft.com/office/drawing/2014/main" id="{BD8D4694-4E50-11E1-F869-3CBB2F42227C}"/>
              </a:ext>
            </a:extLst>
          </p:cNvPr>
          <p:cNvCxnSpPr>
            <a:cxnSpLocks/>
          </p:cNvCxnSpPr>
          <p:nvPr/>
        </p:nvCxnSpPr>
        <p:spPr>
          <a:xfrm>
            <a:off x="11963400" y="2789304"/>
            <a:ext cx="0" cy="696697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920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FECC1B93-2BCD-2872-A6A2-02A8C61FFDEE}"/>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34A4097A-FBF0-C302-3FFC-A6F88150065F}"/>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70C72136-BF67-C0E2-2573-F1AAED2ECE63}"/>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3F3CED3D-43C7-A560-7482-FF6C63F0A43F}"/>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58C8A80A-18BD-7818-2EDA-2C33CC79A851}"/>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3DB43FC9-CCCD-B930-17BD-CF330677FC74}"/>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14</a:t>
            </a:fld>
            <a:endParaRPr lang="en-IN" spc="-50" dirty="0"/>
          </a:p>
        </p:txBody>
      </p:sp>
      <p:sp>
        <p:nvSpPr>
          <p:cNvPr id="37" name="TextBox 4">
            <a:extLst>
              <a:ext uri="{FF2B5EF4-FFF2-40B4-BE49-F238E27FC236}">
                <a16:creationId xmlns:a16="http://schemas.microsoft.com/office/drawing/2014/main" id="{E7C57E51-047C-A459-E1EB-6CB0F59D3885}"/>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SOFTWARE/HARDWARE REQUIREMENTS</a:t>
            </a:r>
          </a:p>
        </p:txBody>
      </p:sp>
      <p:sp>
        <p:nvSpPr>
          <p:cNvPr id="38" name="AutoShape 5">
            <a:extLst>
              <a:ext uri="{FF2B5EF4-FFF2-40B4-BE49-F238E27FC236}">
                <a16:creationId xmlns:a16="http://schemas.microsoft.com/office/drawing/2014/main" id="{8FB0A691-8203-4D1B-7C7B-AA9A94ACDD16}"/>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4" name="TextBox 3">
            <a:extLst>
              <a:ext uri="{FF2B5EF4-FFF2-40B4-BE49-F238E27FC236}">
                <a16:creationId xmlns:a16="http://schemas.microsoft.com/office/drawing/2014/main" id="{B30651A4-2ED3-7F21-E0E4-0025AF6EF7D7}"/>
              </a:ext>
            </a:extLst>
          </p:cNvPr>
          <p:cNvSpPr txBox="1"/>
          <p:nvPr/>
        </p:nvSpPr>
        <p:spPr>
          <a:xfrm>
            <a:off x="1016406" y="2769755"/>
            <a:ext cx="9144000" cy="6986528"/>
          </a:xfrm>
          <a:prstGeom prst="rect">
            <a:avLst/>
          </a:prstGeom>
          <a:noFill/>
        </p:spPr>
        <p:txBody>
          <a:bodyPr wrap="square">
            <a:spAutoFit/>
          </a:bodyPr>
          <a:lstStyle/>
          <a:p>
            <a:pPr algn="l"/>
            <a:r>
              <a:rPr lang="en-US" sz="2800" b="1" u="sng" dirty="0">
                <a:solidFill>
                  <a:schemeClr val="bg2">
                    <a:lumMod val="25000"/>
                  </a:schemeClr>
                </a:solidFill>
                <a:latin typeface="Times New Roman "/>
              </a:rPr>
              <a:t>SOFTWARE REQUIREMENTS:</a:t>
            </a:r>
            <a:r>
              <a:rPr lang="en-US" sz="2800" b="1" dirty="0">
                <a:solidFill>
                  <a:schemeClr val="bg2">
                    <a:lumMod val="25000"/>
                  </a:schemeClr>
                </a:solidFill>
                <a:latin typeface="Times New Roman "/>
              </a:rPr>
              <a:t> </a:t>
            </a:r>
          </a:p>
          <a:p>
            <a:pPr marL="342900" indent="-342900" algn="l">
              <a:buFont typeface="Arial" panose="020B0604020202020204" pitchFamily="34" charset="0"/>
              <a:buChar char="•"/>
            </a:pPr>
            <a:r>
              <a:rPr lang="en-US" sz="2800" dirty="0">
                <a:solidFill>
                  <a:schemeClr val="bg2">
                    <a:lumMod val="25000"/>
                  </a:schemeClr>
                </a:solidFill>
                <a:latin typeface="Times New Roman "/>
              </a:rPr>
              <a:t>Operating System: Windows / Linux </a:t>
            </a:r>
          </a:p>
          <a:p>
            <a:pPr marL="342900" indent="-342900" algn="l">
              <a:buFont typeface="Arial" panose="020B0604020202020204" pitchFamily="34" charset="0"/>
              <a:buChar char="•"/>
            </a:pPr>
            <a:r>
              <a:rPr lang="en-US" sz="2800" dirty="0">
                <a:solidFill>
                  <a:schemeClr val="bg2">
                    <a:lumMod val="25000"/>
                  </a:schemeClr>
                </a:solidFill>
                <a:latin typeface="Times New Roman "/>
              </a:rPr>
              <a:t>Programming Languages: Solidity, JavaScript </a:t>
            </a:r>
          </a:p>
          <a:p>
            <a:pPr marL="342900" indent="-342900" algn="l">
              <a:buFont typeface="Arial" panose="020B0604020202020204" pitchFamily="34" charset="0"/>
              <a:buChar char="•"/>
            </a:pPr>
            <a:r>
              <a:rPr lang="en-US" sz="2800" dirty="0">
                <a:solidFill>
                  <a:schemeClr val="bg2">
                    <a:lumMod val="25000"/>
                  </a:schemeClr>
                </a:solidFill>
                <a:latin typeface="Times New Roman "/>
              </a:rPr>
              <a:t>Frontend Framework: React.js </a:t>
            </a:r>
          </a:p>
          <a:p>
            <a:pPr marL="342900" indent="-342900" algn="l">
              <a:buFont typeface="Arial" panose="020B0604020202020204" pitchFamily="34" charset="0"/>
              <a:buChar char="•"/>
            </a:pPr>
            <a:r>
              <a:rPr lang="en-US" sz="2800" dirty="0">
                <a:solidFill>
                  <a:schemeClr val="bg2">
                    <a:lumMod val="25000"/>
                  </a:schemeClr>
                </a:solidFill>
                <a:latin typeface="Times New Roman "/>
              </a:rPr>
              <a:t>Backend Framework: Node.js, Express.js </a:t>
            </a:r>
          </a:p>
          <a:p>
            <a:pPr marL="342900" indent="-342900" algn="l">
              <a:buFont typeface="Arial" panose="020B0604020202020204" pitchFamily="34" charset="0"/>
              <a:buChar char="•"/>
            </a:pPr>
            <a:r>
              <a:rPr lang="en-US" sz="2800" dirty="0">
                <a:solidFill>
                  <a:schemeClr val="bg2">
                    <a:lumMod val="25000"/>
                  </a:schemeClr>
                </a:solidFill>
                <a:latin typeface="Times New Roman "/>
              </a:rPr>
              <a:t>Database: MongoDB </a:t>
            </a:r>
          </a:p>
          <a:p>
            <a:pPr marL="342900" indent="-342900" algn="l">
              <a:buFont typeface="Arial" panose="020B0604020202020204" pitchFamily="34" charset="0"/>
              <a:buChar char="•"/>
            </a:pPr>
            <a:r>
              <a:rPr lang="en-US" sz="2800" dirty="0">
                <a:solidFill>
                  <a:schemeClr val="bg2">
                    <a:lumMod val="25000"/>
                  </a:schemeClr>
                </a:solidFill>
                <a:latin typeface="Times New Roman "/>
              </a:rPr>
              <a:t>Blockchain Platform: Ethereum (Test Network) Development</a:t>
            </a:r>
          </a:p>
          <a:p>
            <a:pPr marL="342900" indent="-342900" algn="l">
              <a:buFont typeface="Arial" panose="020B0604020202020204" pitchFamily="34" charset="0"/>
              <a:buChar char="•"/>
            </a:pPr>
            <a:r>
              <a:rPr lang="en-US" sz="2800" dirty="0">
                <a:solidFill>
                  <a:schemeClr val="bg2">
                    <a:lumMod val="25000"/>
                  </a:schemeClr>
                </a:solidFill>
                <a:latin typeface="Times New Roman "/>
              </a:rPr>
              <a:t>Tools: Remix IDE / Hardhat MetaMask Wallet VS Code Ganache (for local blockchain testing) </a:t>
            </a:r>
          </a:p>
          <a:p>
            <a:pPr algn="l"/>
            <a:br>
              <a:rPr lang="en-US" sz="2800" dirty="0">
                <a:solidFill>
                  <a:schemeClr val="bg2">
                    <a:lumMod val="25000"/>
                  </a:schemeClr>
                </a:solidFill>
                <a:latin typeface="Times New Roman "/>
              </a:rPr>
            </a:br>
            <a:r>
              <a:rPr lang="en-US" sz="2800" b="1" u="sng" dirty="0">
                <a:solidFill>
                  <a:schemeClr val="bg2">
                    <a:lumMod val="25000"/>
                  </a:schemeClr>
                </a:solidFill>
                <a:latin typeface="Times New Roman "/>
              </a:rPr>
              <a:t>HARDWARE REQUIREMENTS:</a:t>
            </a:r>
            <a:r>
              <a:rPr lang="en-US" sz="2800" b="1" dirty="0">
                <a:solidFill>
                  <a:schemeClr val="bg2">
                    <a:lumMod val="25000"/>
                  </a:schemeClr>
                </a:solidFill>
                <a:latin typeface="Times New Roman "/>
              </a:rPr>
              <a:t> </a:t>
            </a:r>
          </a:p>
          <a:p>
            <a:pPr marL="342900" indent="-342900" algn="l">
              <a:buFont typeface="Arial" panose="020B0604020202020204" pitchFamily="34" charset="0"/>
              <a:buChar char="•"/>
            </a:pPr>
            <a:r>
              <a:rPr lang="en-US" sz="2800" dirty="0">
                <a:solidFill>
                  <a:schemeClr val="bg2">
                    <a:lumMod val="25000"/>
                  </a:schemeClr>
                </a:solidFill>
                <a:latin typeface="Times New Roman "/>
              </a:rPr>
              <a:t>Processor: Intel i5 or above </a:t>
            </a:r>
          </a:p>
          <a:p>
            <a:pPr marL="342900" indent="-342900" algn="l">
              <a:buFont typeface="Arial" panose="020B0604020202020204" pitchFamily="34" charset="0"/>
              <a:buChar char="•"/>
            </a:pPr>
            <a:r>
              <a:rPr lang="en-US" sz="2800" dirty="0">
                <a:solidFill>
                  <a:schemeClr val="bg2">
                    <a:lumMod val="25000"/>
                  </a:schemeClr>
                </a:solidFill>
                <a:latin typeface="Times New Roman "/>
              </a:rPr>
              <a:t>RAM: Minimum 8 GB Storage: 256 GB SSD or higher Stable Internet Connection.</a:t>
            </a:r>
          </a:p>
          <a:p>
            <a:pPr algn="l"/>
            <a:endParaRPr lang="en-US" sz="2800" dirty="0">
              <a:solidFill>
                <a:schemeClr val="bg2">
                  <a:lumMod val="25000"/>
                </a:schemeClr>
              </a:solidFill>
              <a:latin typeface="Times New Roman "/>
            </a:endParaRPr>
          </a:p>
        </p:txBody>
      </p:sp>
    </p:spTree>
    <p:extLst>
      <p:ext uri="{BB962C8B-B14F-4D97-AF65-F5344CB8AC3E}">
        <p14:creationId xmlns:p14="http://schemas.microsoft.com/office/powerpoint/2010/main" val="1000058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D8B12AAA-3878-99DC-87CE-9850414A2336}"/>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A9253CBA-D179-FD60-1067-3A61D22ECC7E}"/>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A9ECE4D7-6318-1720-0DF3-4BF3CF2A99B1}"/>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5DAFFE22-2BA2-71D7-04CF-4E7F1B48A215}"/>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F66D2A10-8B20-1AF3-76DD-5F4FC1F95560}"/>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3CE346CF-9A95-AAC2-07D9-F68F306F3D39}"/>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15</a:t>
            </a:fld>
            <a:endParaRPr lang="en-IN" spc="-50" dirty="0"/>
          </a:p>
        </p:txBody>
      </p:sp>
      <p:sp>
        <p:nvSpPr>
          <p:cNvPr id="37" name="TextBox 4">
            <a:extLst>
              <a:ext uri="{FF2B5EF4-FFF2-40B4-BE49-F238E27FC236}">
                <a16:creationId xmlns:a16="http://schemas.microsoft.com/office/drawing/2014/main" id="{6D535D42-D75E-169D-7D2E-D93C0AD39EC4}"/>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DATA-FLOW DIAGRAM</a:t>
            </a:r>
          </a:p>
        </p:txBody>
      </p:sp>
      <p:sp>
        <p:nvSpPr>
          <p:cNvPr id="38" name="AutoShape 5">
            <a:extLst>
              <a:ext uri="{FF2B5EF4-FFF2-40B4-BE49-F238E27FC236}">
                <a16:creationId xmlns:a16="http://schemas.microsoft.com/office/drawing/2014/main" id="{217B830D-9A87-3AB3-486D-90AD1173150E}"/>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sp>
        <p:nvSpPr>
          <p:cNvPr id="8" name="TextBox 7">
            <a:extLst>
              <a:ext uri="{FF2B5EF4-FFF2-40B4-BE49-F238E27FC236}">
                <a16:creationId xmlns:a16="http://schemas.microsoft.com/office/drawing/2014/main" id="{378CED7B-7BA8-B4DD-C5DE-21C6B0FA61A4}"/>
              </a:ext>
            </a:extLst>
          </p:cNvPr>
          <p:cNvSpPr txBox="1"/>
          <p:nvPr/>
        </p:nvSpPr>
        <p:spPr>
          <a:xfrm>
            <a:off x="12370619" y="2789304"/>
            <a:ext cx="4888678" cy="2031325"/>
          </a:xfrm>
          <a:prstGeom prst="rect">
            <a:avLst/>
          </a:prstGeom>
          <a:noFill/>
        </p:spPr>
        <p:txBody>
          <a:bodyPr wrap="square">
            <a:spAutoFit/>
          </a:bodyPr>
          <a:lstStyle/>
          <a:p>
            <a:pPr algn="just"/>
            <a:r>
              <a:rPr lang="en-US" dirty="0">
                <a:solidFill>
                  <a:schemeClr val="bg2">
                    <a:lumMod val="25000"/>
                  </a:schemeClr>
                </a:solidFill>
                <a:latin typeface="Times New Roman "/>
              </a:rPr>
              <a:t>This data flow diagram shows how users and admins interact with the asset tokenization platform. It outlines processes like authentication, asset management, token purchases, and ownership tracking, integrating UI, backend server, MongoDB, MetaMask wallet, and Ethereum blockchain for secure and transparent operations.</a:t>
            </a:r>
            <a:endParaRPr lang="en-IN" dirty="0">
              <a:solidFill>
                <a:schemeClr val="bg2">
                  <a:lumMod val="25000"/>
                </a:schemeClr>
              </a:solidFill>
              <a:latin typeface="Times New Roman "/>
            </a:endParaRPr>
          </a:p>
        </p:txBody>
      </p:sp>
      <p:sp>
        <p:nvSpPr>
          <p:cNvPr id="10" name="TextBox 9">
            <a:extLst>
              <a:ext uri="{FF2B5EF4-FFF2-40B4-BE49-F238E27FC236}">
                <a16:creationId xmlns:a16="http://schemas.microsoft.com/office/drawing/2014/main" id="{8B602E51-3FCF-75AA-DD39-2A1DED14177C}"/>
              </a:ext>
            </a:extLst>
          </p:cNvPr>
          <p:cNvSpPr txBox="1"/>
          <p:nvPr/>
        </p:nvSpPr>
        <p:spPr>
          <a:xfrm>
            <a:off x="12404730" y="4948425"/>
            <a:ext cx="4866864" cy="2308324"/>
          </a:xfrm>
          <a:prstGeom prst="rect">
            <a:avLst/>
          </a:prstGeom>
          <a:noFill/>
        </p:spPr>
        <p:txBody>
          <a:bodyPr wrap="square">
            <a:spAutoFit/>
          </a:bodyPr>
          <a:lstStyle/>
          <a:p>
            <a:r>
              <a:rPr lang="en-US" dirty="0">
                <a:solidFill>
                  <a:schemeClr val="bg2">
                    <a:lumMod val="25000"/>
                  </a:schemeClr>
                </a:solidFill>
                <a:latin typeface="Times New Roman "/>
              </a:rPr>
              <a:t>The diagram illustrates how data moves between users, admin, and the platform during asset tokenization. It covers actions like viewing assets, managing assets, purchasing tokens, and validating ownership, while connecting frontend interfaces, backend processing, database storage, and blockchain transactions for reliable system functionality.</a:t>
            </a:r>
          </a:p>
        </p:txBody>
      </p:sp>
      <p:sp>
        <p:nvSpPr>
          <p:cNvPr id="12" name="TextBox 11">
            <a:extLst>
              <a:ext uri="{FF2B5EF4-FFF2-40B4-BE49-F238E27FC236}">
                <a16:creationId xmlns:a16="http://schemas.microsoft.com/office/drawing/2014/main" id="{A11EF114-EC42-F95F-4E6C-45DD3056F8DC}"/>
              </a:ext>
            </a:extLst>
          </p:cNvPr>
          <p:cNvSpPr txBox="1"/>
          <p:nvPr/>
        </p:nvSpPr>
        <p:spPr>
          <a:xfrm>
            <a:off x="12392433" y="7302621"/>
            <a:ext cx="4845050" cy="1200329"/>
          </a:xfrm>
          <a:prstGeom prst="rect">
            <a:avLst/>
          </a:prstGeom>
          <a:noFill/>
        </p:spPr>
        <p:txBody>
          <a:bodyPr wrap="square">
            <a:spAutoFit/>
          </a:bodyPr>
          <a:lstStyle/>
          <a:p>
            <a:pPr algn="just">
              <a:buNone/>
            </a:pPr>
            <a:r>
              <a:rPr lang="en-US" dirty="0">
                <a:solidFill>
                  <a:schemeClr val="bg2">
                    <a:lumMod val="25000"/>
                  </a:schemeClr>
                </a:solidFill>
                <a:latin typeface="Times New Roman "/>
              </a:rPr>
              <a:t>It illustrates interactions across UI, backend services, and blockchain, ensuring smooth processing of asset operations, secure transactions, and ownership tracking.</a:t>
            </a:r>
          </a:p>
        </p:txBody>
      </p:sp>
      <p:cxnSp>
        <p:nvCxnSpPr>
          <p:cNvPr id="14" name="Straight Connector 13">
            <a:extLst>
              <a:ext uri="{FF2B5EF4-FFF2-40B4-BE49-F238E27FC236}">
                <a16:creationId xmlns:a16="http://schemas.microsoft.com/office/drawing/2014/main" id="{D3E0F876-AB49-115C-3D72-756BEDB594F1}"/>
              </a:ext>
            </a:extLst>
          </p:cNvPr>
          <p:cNvCxnSpPr>
            <a:cxnSpLocks/>
          </p:cNvCxnSpPr>
          <p:nvPr/>
        </p:nvCxnSpPr>
        <p:spPr>
          <a:xfrm>
            <a:off x="11963400" y="2789304"/>
            <a:ext cx="0" cy="696697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736526A-FA46-758F-8E6E-197E089D8C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406" y="2758461"/>
            <a:ext cx="10449000" cy="6966000"/>
          </a:xfrm>
          <a:prstGeom prst="rect">
            <a:avLst/>
          </a:prstGeom>
        </p:spPr>
      </p:pic>
    </p:spTree>
    <p:extLst>
      <p:ext uri="{BB962C8B-B14F-4D97-AF65-F5344CB8AC3E}">
        <p14:creationId xmlns:p14="http://schemas.microsoft.com/office/powerpoint/2010/main" val="4283972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a:extLst>
            <a:ext uri="{FF2B5EF4-FFF2-40B4-BE49-F238E27FC236}">
              <a16:creationId xmlns:a16="http://schemas.microsoft.com/office/drawing/2014/main" id="{AFF4E5BC-A458-6868-32B8-8CFB069A3FAA}"/>
            </a:ext>
          </a:extLst>
        </p:cNvPr>
        <p:cNvGrpSpPr/>
        <p:nvPr/>
      </p:nvGrpSpPr>
      <p:grpSpPr>
        <a:xfrm>
          <a:off x="0" y="0"/>
          <a:ext cx="0" cy="0"/>
          <a:chOff x="0" y="0"/>
          <a:chExt cx="0" cy="0"/>
        </a:xfrm>
      </p:grpSpPr>
      <p:sp>
        <p:nvSpPr>
          <p:cNvPr id="32" name="TextBox 7">
            <a:extLst>
              <a:ext uri="{FF2B5EF4-FFF2-40B4-BE49-F238E27FC236}">
                <a16:creationId xmlns:a16="http://schemas.microsoft.com/office/drawing/2014/main" id="{6670B3CA-F563-4728-4D35-6CD07C09C28B}"/>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33" name="Picture 32">
            <a:extLst>
              <a:ext uri="{FF2B5EF4-FFF2-40B4-BE49-F238E27FC236}">
                <a16:creationId xmlns:a16="http://schemas.microsoft.com/office/drawing/2014/main" id="{ED780A4E-FCC0-4036-3C62-A40FE7DE324C}"/>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34" name="Picture 33">
            <a:extLst>
              <a:ext uri="{FF2B5EF4-FFF2-40B4-BE49-F238E27FC236}">
                <a16:creationId xmlns:a16="http://schemas.microsoft.com/office/drawing/2014/main" id="{776E242A-6657-24CA-F528-88DBFC1B7DC7}"/>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35" name="object 13">
            <a:extLst>
              <a:ext uri="{FF2B5EF4-FFF2-40B4-BE49-F238E27FC236}">
                <a16:creationId xmlns:a16="http://schemas.microsoft.com/office/drawing/2014/main" id="{24FC4061-8EDD-8711-F8EB-C3CC7801E4D4}"/>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36" name="object 16">
            <a:extLst>
              <a:ext uri="{FF2B5EF4-FFF2-40B4-BE49-F238E27FC236}">
                <a16:creationId xmlns:a16="http://schemas.microsoft.com/office/drawing/2014/main" id="{23C4D3E6-679D-95BE-6D56-AA2DA9979EFE}"/>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16</a:t>
            </a:fld>
            <a:endParaRPr lang="en-IN" spc="-50" dirty="0"/>
          </a:p>
        </p:txBody>
      </p:sp>
      <p:sp>
        <p:nvSpPr>
          <p:cNvPr id="37" name="TextBox 4">
            <a:extLst>
              <a:ext uri="{FF2B5EF4-FFF2-40B4-BE49-F238E27FC236}">
                <a16:creationId xmlns:a16="http://schemas.microsoft.com/office/drawing/2014/main" id="{C9C5EC86-9E56-725F-60BD-D79727780B7F}"/>
              </a:ext>
            </a:extLst>
          </p:cNvPr>
          <p:cNvSpPr txBox="1"/>
          <p:nvPr/>
        </p:nvSpPr>
        <p:spPr>
          <a:xfrm>
            <a:off x="1034549" y="1310197"/>
            <a:ext cx="16230600" cy="615553"/>
          </a:xfrm>
          <a:prstGeom prst="rect">
            <a:avLst/>
          </a:prstGeom>
        </p:spPr>
        <p:txBody>
          <a:bodyPr lIns="0" tIns="0" rIns="0" bIns="0" rtlCol="0" anchor="t">
            <a:spAutoFit/>
          </a:bodyPr>
          <a:lstStyle/>
          <a:p>
            <a:pPr marL="12700">
              <a:spcBef>
                <a:spcPts val="100"/>
              </a:spcBef>
            </a:pPr>
            <a:r>
              <a:rPr lang="en-IN" sz="4000" spc="600" dirty="0">
                <a:latin typeface="Public Sans Bold" panose="020B0604020202020204" charset="0"/>
              </a:rPr>
              <a:t>USER-DASHBOARD UI</a:t>
            </a:r>
          </a:p>
        </p:txBody>
      </p:sp>
      <p:sp>
        <p:nvSpPr>
          <p:cNvPr id="38" name="AutoShape 5">
            <a:extLst>
              <a:ext uri="{FF2B5EF4-FFF2-40B4-BE49-F238E27FC236}">
                <a16:creationId xmlns:a16="http://schemas.microsoft.com/office/drawing/2014/main" id="{A7A79F82-709C-23BE-0E3C-3789F3A42787}"/>
              </a:ext>
            </a:extLst>
          </p:cNvPr>
          <p:cNvSpPr/>
          <p:nvPr/>
        </p:nvSpPr>
        <p:spPr>
          <a:xfrm flipV="1">
            <a:off x="1028703" y="2148061"/>
            <a:ext cx="16230594" cy="38509"/>
          </a:xfrm>
          <a:prstGeom prst="line">
            <a:avLst/>
          </a:prstGeom>
          <a:ln w="9525" cap="flat">
            <a:solidFill>
              <a:srgbClr val="2B2C30"/>
            </a:solidFill>
            <a:prstDash val="solid"/>
            <a:headEnd type="none" w="sm" len="sm"/>
            <a:tailEnd type="none" w="sm" len="sm"/>
          </a:ln>
        </p:spPr>
      </p:sp>
      <p:pic>
        <p:nvPicPr>
          <p:cNvPr id="6" name="Picture 5">
            <a:extLst>
              <a:ext uri="{FF2B5EF4-FFF2-40B4-BE49-F238E27FC236}">
                <a16:creationId xmlns:a16="http://schemas.microsoft.com/office/drawing/2014/main" id="{152F29DB-D45E-BF6D-0E5D-3893E5F9B327}"/>
              </a:ext>
            </a:extLst>
          </p:cNvPr>
          <p:cNvPicPr>
            <a:picLocks noChangeAspect="1"/>
          </p:cNvPicPr>
          <p:nvPr/>
        </p:nvPicPr>
        <p:blipFill>
          <a:blip r:embed="rId4"/>
          <a:stretch>
            <a:fillRect/>
          </a:stretch>
        </p:blipFill>
        <p:spPr>
          <a:xfrm>
            <a:off x="1752600" y="2665960"/>
            <a:ext cx="11145600" cy="6966000"/>
          </a:xfrm>
          <a:prstGeom prst="rect">
            <a:avLst/>
          </a:prstGeom>
        </p:spPr>
      </p:pic>
      <p:cxnSp>
        <p:nvCxnSpPr>
          <p:cNvPr id="20" name="Straight Arrow Connector 19">
            <a:extLst>
              <a:ext uri="{FF2B5EF4-FFF2-40B4-BE49-F238E27FC236}">
                <a16:creationId xmlns:a16="http://schemas.microsoft.com/office/drawing/2014/main" id="{8DAEB160-80EA-93B9-E696-490002808533}"/>
              </a:ext>
            </a:extLst>
          </p:cNvPr>
          <p:cNvCxnSpPr>
            <a:cxnSpLocks/>
          </p:cNvCxnSpPr>
          <p:nvPr/>
        </p:nvCxnSpPr>
        <p:spPr>
          <a:xfrm>
            <a:off x="1295400" y="4686300"/>
            <a:ext cx="1656000" cy="0"/>
          </a:xfrm>
          <a:prstGeom prst="straightConnector1">
            <a:avLst/>
          </a:prstGeom>
          <a:ln w="19050">
            <a:solidFill>
              <a:srgbClr val="6633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ADCFAB-B9DD-F6CF-4CB7-AB06164959EF}"/>
              </a:ext>
            </a:extLst>
          </p:cNvPr>
          <p:cNvCxnSpPr>
            <a:cxnSpLocks/>
          </p:cNvCxnSpPr>
          <p:nvPr/>
        </p:nvCxnSpPr>
        <p:spPr>
          <a:xfrm>
            <a:off x="1295400" y="4686300"/>
            <a:ext cx="0" cy="106680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F44C369A-AB43-E08C-80FC-36C58B0AE36E}"/>
              </a:ext>
            </a:extLst>
          </p:cNvPr>
          <p:cNvSpPr/>
          <p:nvPr/>
        </p:nvSpPr>
        <p:spPr>
          <a:xfrm>
            <a:off x="381000" y="5753100"/>
            <a:ext cx="1904982" cy="761999"/>
          </a:xfrm>
          <a:prstGeom prst="roundRect">
            <a:avLst/>
          </a:prstGeom>
          <a:solidFill>
            <a:schemeClr val="bg1">
              <a:lumMod val="65000"/>
              <a:alpha val="5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lumMod val="25000"/>
                  </a:schemeClr>
                </a:solidFill>
                <a:latin typeface="Times New Roman "/>
              </a:rPr>
              <a:t>Unique </a:t>
            </a:r>
          </a:p>
          <a:p>
            <a:pPr algn="ctr"/>
            <a:r>
              <a:rPr lang="en-US" sz="2000" b="1" dirty="0">
                <a:solidFill>
                  <a:schemeClr val="bg2">
                    <a:lumMod val="25000"/>
                  </a:schemeClr>
                </a:solidFill>
                <a:latin typeface="Times New Roman "/>
              </a:rPr>
              <a:t>Wallet ID:</a:t>
            </a:r>
            <a:endParaRPr lang="en-IN" sz="2000" b="1" dirty="0">
              <a:solidFill>
                <a:schemeClr val="bg2">
                  <a:lumMod val="25000"/>
                </a:schemeClr>
              </a:solidFill>
              <a:latin typeface="Times New Roman "/>
            </a:endParaRPr>
          </a:p>
        </p:txBody>
      </p:sp>
      <p:cxnSp>
        <p:nvCxnSpPr>
          <p:cNvPr id="26" name="Straight Arrow Connector 25">
            <a:extLst>
              <a:ext uri="{FF2B5EF4-FFF2-40B4-BE49-F238E27FC236}">
                <a16:creationId xmlns:a16="http://schemas.microsoft.com/office/drawing/2014/main" id="{A351C3A6-0836-3636-B18A-59FE9CBBA619}"/>
              </a:ext>
            </a:extLst>
          </p:cNvPr>
          <p:cNvCxnSpPr>
            <a:cxnSpLocks/>
          </p:cNvCxnSpPr>
          <p:nvPr/>
        </p:nvCxnSpPr>
        <p:spPr>
          <a:xfrm>
            <a:off x="1216205" y="8877300"/>
            <a:ext cx="1656000" cy="0"/>
          </a:xfrm>
          <a:prstGeom prst="straightConnector1">
            <a:avLst/>
          </a:prstGeom>
          <a:ln w="19050">
            <a:solidFill>
              <a:srgbClr val="6633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ED91647-7F21-DA36-45B2-580E845226A5}"/>
              </a:ext>
            </a:extLst>
          </p:cNvPr>
          <p:cNvCxnSpPr>
            <a:cxnSpLocks/>
          </p:cNvCxnSpPr>
          <p:nvPr/>
        </p:nvCxnSpPr>
        <p:spPr>
          <a:xfrm>
            <a:off x="1216205" y="7810500"/>
            <a:ext cx="0" cy="106680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C6E27445-6952-A252-B434-C30355ED5C07}"/>
              </a:ext>
            </a:extLst>
          </p:cNvPr>
          <p:cNvSpPr/>
          <p:nvPr/>
        </p:nvSpPr>
        <p:spPr>
          <a:xfrm>
            <a:off x="381000" y="7048501"/>
            <a:ext cx="1904982" cy="761999"/>
          </a:xfrm>
          <a:prstGeom prst="roundRect">
            <a:avLst/>
          </a:prstGeom>
          <a:solidFill>
            <a:schemeClr val="bg1">
              <a:lumMod val="65000"/>
              <a:alpha val="5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lumMod val="25000"/>
                  </a:schemeClr>
                </a:solidFill>
                <a:latin typeface="Times New Roman "/>
              </a:rPr>
              <a:t>Portfolio</a:t>
            </a:r>
          </a:p>
          <a:p>
            <a:pPr algn="ctr"/>
            <a:r>
              <a:rPr lang="en-US" sz="2000" b="1" dirty="0">
                <a:solidFill>
                  <a:schemeClr val="bg2">
                    <a:lumMod val="25000"/>
                  </a:schemeClr>
                </a:solidFill>
                <a:latin typeface="Times New Roman "/>
              </a:rPr>
              <a:t>Chart:</a:t>
            </a:r>
            <a:endParaRPr lang="en-IN" sz="2000" b="1" dirty="0">
              <a:solidFill>
                <a:schemeClr val="bg2">
                  <a:lumMod val="25000"/>
                </a:schemeClr>
              </a:solidFill>
              <a:latin typeface="Times New Roman "/>
            </a:endParaRPr>
          </a:p>
        </p:txBody>
      </p:sp>
      <p:cxnSp>
        <p:nvCxnSpPr>
          <p:cNvPr id="29" name="Straight Arrow Connector 28">
            <a:extLst>
              <a:ext uri="{FF2B5EF4-FFF2-40B4-BE49-F238E27FC236}">
                <a16:creationId xmlns:a16="http://schemas.microsoft.com/office/drawing/2014/main" id="{E34FCBD9-D8C9-F62A-9AFB-65EB6BD172C9}"/>
              </a:ext>
            </a:extLst>
          </p:cNvPr>
          <p:cNvCxnSpPr>
            <a:cxnSpLocks/>
          </p:cNvCxnSpPr>
          <p:nvPr/>
        </p:nvCxnSpPr>
        <p:spPr>
          <a:xfrm flipH="1">
            <a:off x="11658600" y="4691743"/>
            <a:ext cx="2209800" cy="0"/>
          </a:xfrm>
          <a:prstGeom prst="straightConnector1">
            <a:avLst/>
          </a:prstGeom>
          <a:ln w="19050">
            <a:solidFill>
              <a:srgbClr val="663300"/>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Rounded Corners 38">
            <a:extLst>
              <a:ext uri="{FF2B5EF4-FFF2-40B4-BE49-F238E27FC236}">
                <a16:creationId xmlns:a16="http://schemas.microsoft.com/office/drawing/2014/main" id="{1B0C5EDE-BFD4-A03B-E054-A6FC4835D022}"/>
              </a:ext>
            </a:extLst>
          </p:cNvPr>
          <p:cNvSpPr/>
          <p:nvPr/>
        </p:nvSpPr>
        <p:spPr>
          <a:xfrm>
            <a:off x="13887229" y="4305300"/>
            <a:ext cx="1904982" cy="761999"/>
          </a:xfrm>
          <a:prstGeom prst="roundRect">
            <a:avLst/>
          </a:prstGeom>
          <a:solidFill>
            <a:schemeClr val="bg1">
              <a:lumMod val="65000"/>
              <a:alpha val="5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lumMod val="25000"/>
                  </a:schemeClr>
                </a:solidFill>
                <a:latin typeface="Times New Roman "/>
              </a:rPr>
              <a:t>Wallet</a:t>
            </a:r>
          </a:p>
          <a:p>
            <a:pPr algn="ctr"/>
            <a:r>
              <a:rPr lang="en-US" sz="2000" b="1" dirty="0">
                <a:solidFill>
                  <a:schemeClr val="bg2">
                    <a:lumMod val="25000"/>
                  </a:schemeClr>
                </a:solidFill>
                <a:latin typeface="Times New Roman "/>
              </a:rPr>
              <a:t>Balance</a:t>
            </a:r>
            <a:endParaRPr lang="en-IN" sz="2000" b="1" dirty="0">
              <a:solidFill>
                <a:schemeClr val="bg2">
                  <a:lumMod val="25000"/>
                </a:schemeClr>
              </a:solidFill>
              <a:latin typeface="Times New Roman "/>
            </a:endParaRPr>
          </a:p>
        </p:txBody>
      </p:sp>
      <p:cxnSp>
        <p:nvCxnSpPr>
          <p:cNvPr id="43" name="Straight Arrow Connector 42">
            <a:extLst>
              <a:ext uri="{FF2B5EF4-FFF2-40B4-BE49-F238E27FC236}">
                <a16:creationId xmlns:a16="http://schemas.microsoft.com/office/drawing/2014/main" id="{F4235E71-219C-DA91-18BE-AD458F37AE7A}"/>
              </a:ext>
            </a:extLst>
          </p:cNvPr>
          <p:cNvCxnSpPr>
            <a:cxnSpLocks/>
          </p:cNvCxnSpPr>
          <p:nvPr/>
        </p:nvCxnSpPr>
        <p:spPr>
          <a:xfrm flipV="1">
            <a:off x="7696200" y="6205202"/>
            <a:ext cx="0" cy="624460"/>
          </a:xfrm>
          <a:prstGeom prst="straightConnector1">
            <a:avLst/>
          </a:prstGeom>
          <a:ln w="19050">
            <a:solidFill>
              <a:srgbClr val="6633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A6D44C7-D00C-4A25-8E2C-BA382290BE17}"/>
              </a:ext>
            </a:extLst>
          </p:cNvPr>
          <p:cNvCxnSpPr>
            <a:cxnSpLocks/>
          </p:cNvCxnSpPr>
          <p:nvPr/>
        </p:nvCxnSpPr>
        <p:spPr>
          <a:xfrm>
            <a:off x="7696200" y="6829662"/>
            <a:ext cx="6191029" cy="0"/>
          </a:xfrm>
          <a:prstGeom prst="line">
            <a:avLst/>
          </a:prstGeom>
          <a:ln w="19050">
            <a:solidFill>
              <a:srgbClr val="663300"/>
            </a:solidFill>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615D05FC-A043-2ADD-CBD4-BE13CF3D8D1C}"/>
              </a:ext>
            </a:extLst>
          </p:cNvPr>
          <p:cNvSpPr/>
          <p:nvPr/>
        </p:nvSpPr>
        <p:spPr>
          <a:xfrm>
            <a:off x="13887229" y="6487382"/>
            <a:ext cx="1904982" cy="761999"/>
          </a:xfrm>
          <a:prstGeom prst="roundRect">
            <a:avLst/>
          </a:prstGeom>
          <a:solidFill>
            <a:schemeClr val="bg1">
              <a:lumMod val="65000"/>
              <a:alpha val="50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lumMod val="25000"/>
                  </a:schemeClr>
                </a:solidFill>
                <a:latin typeface="Times New Roman "/>
              </a:rPr>
              <a:t>Total Tokens</a:t>
            </a:r>
          </a:p>
          <a:p>
            <a:pPr algn="ctr"/>
            <a:r>
              <a:rPr lang="en-US" sz="2000" b="1" dirty="0">
                <a:solidFill>
                  <a:schemeClr val="bg2">
                    <a:lumMod val="25000"/>
                  </a:schemeClr>
                </a:solidFill>
                <a:latin typeface="Times New Roman "/>
              </a:rPr>
              <a:t>Purchased</a:t>
            </a:r>
            <a:endParaRPr lang="en-IN" sz="2000" b="1" dirty="0">
              <a:solidFill>
                <a:schemeClr val="bg2">
                  <a:lumMod val="25000"/>
                </a:schemeClr>
              </a:solidFill>
              <a:latin typeface="Times New Roman "/>
            </a:endParaRPr>
          </a:p>
        </p:txBody>
      </p:sp>
    </p:spTree>
    <p:extLst>
      <p:ext uri="{BB962C8B-B14F-4D97-AF65-F5344CB8AC3E}">
        <p14:creationId xmlns:p14="http://schemas.microsoft.com/office/powerpoint/2010/main" val="1714182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706" y="4514765"/>
            <a:ext cx="16230594" cy="38509"/>
          </a:xfrm>
          <a:prstGeom prst="line">
            <a:avLst/>
          </a:prstGeom>
          <a:ln w="9525" cap="flat">
            <a:solidFill>
              <a:srgbClr val="2B2C30"/>
            </a:solidFill>
            <a:prstDash val="solid"/>
            <a:headEnd type="none" w="sm" len="sm"/>
            <a:tailEnd type="none" w="sm" len="sm"/>
          </a:ln>
        </p:spPr>
      </p:sp>
      <p:sp>
        <p:nvSpPr>
          <p:cNvPr id="5" name="TextBox 5"/>
          <p:cNvSpPr txBox="1"/>
          <p:nvPr/>
        </p:nvSpPr>
        <p:spPr>
          <a:xfrm>
            <a:off x="850974" y="2332416"/>
            <a:ext cx="16408332" cy="2084083"/>
          </a:xfrm>
          <a:prstGeom prst="rect">
            <a:avLst/>
          </a:prstGeom>
        </p:spPr>
        <p:txBody>
          <a:bodyPr lIns="0" tIns="0" rIns="0" bIns="0" rtlCol="0" anchor="t">
            <a:spAutoFit/>
          </a:bodyPr>
          <a:lstStyle/>
          <a:p>
            <a:pPr algn="l">
              <a:lnSpc>
                <a:spcPts val="15250"/>
              </a:lnSpc>
            </a:pPr>
            <a:r>
              <a:rPr lang="en-US" sz="16758" spc="83">
                <a:solidFill>
                  <a:srgbClr val="2B2C30"/>
                </a:solidFill>
                <a:latin typeface="Playfair Display"/>
                <a:ea typeface="Playfair Display"/>
                <a:cs typeface="Playfair Display"/>
                <a:sym typeface="Playfair Display"/>
              </a:rPr>
              <a:t>Thank you!</a:t>
            </a:r>
          </a:p>
        </p:txBody>
      </p:sp>
      <p:sp>
        <p:nvSpPr>
          <p:cNvPr id="8" name="TextBox 7">
            <a:extLst>
              <a:ext uri="{FF2B5EF4-FFF2-40B4-BE49-F238E27FC236}">
                <a16:creationId xmlns:a16="http://schemas.microsoft.com/office/drawing/2014/main" id="{084A831A-2C59-6F19-B4B6-42362B76F1F7}"/>
              </a:ext>
            </a:extLst>
          </p:cNvPr>
          <p:cNvSpPr txBox="1"/>
          <p:nvPr/>
        </p:nvSpPr>
        <p:spPr>
          <a:xfrm>
            <a:off x="13563600" y="8630746"/>
            <a:ext cx="3109571" cy="738664"/>
          </a:xfrm>
          <a:prstGeom prst="rect">
            <a:avLst/>
          </a:prstGeom>
        </p:spPr>
        <p:txBody>
          <a:bodyPr wrap="square" lIns="0" tIns="0" rIns="0" bIns="0" rtlCol="0" anchor="t">
            <a:spAutoFit/>
          </a:bodyPr>
          <a:lstStyle/>
          <a:p>
            <a:r>
              <a:rPr lang="en-US" sz="2400" dirty="0">
                <a:solidFill>
                  <a:schemeClr val="bg1">
                    <a:lumMod val="50000"/>
                  </a:schemeClr>
                </a:solidFill>
                <a:latin typeface="Playfair Display" panose="00000500000000000000" pitchFamily="2" charset="0"/>
              </a:rPr>
              <a:t>ASSET TOKENIZATION</a:t>
            </a:r>
            <a:endParaRPr lang="en-IN" sz="2400" dirty="0">
              <a:solidFill>
                <a:schemeClr val="bg1">
                  <a:lumMod val="50000"/>
                </a:schemeClr>
              </a:solidFill>
              <a:latin typeface="Playfair Display" panose="00000500000000000000" pitchFamily="2" charset="0"/>
            </a:endParaRPr>
          </a:p>
        </p:txBody>
      </p:sp>
      <p:pic>
        <p:nvPicPr>
          <p:cNvPr id="9" name="Picture 8">
            <a:extLst>
              <a:ext uri="{FF2B5EF4-FFF2-40B4-BE49-F238E27FC236}">
                <a16:creationId xmlns:a16="http://schemas.microsoft.com/office/drawing/2014/main" id="{33ABD218-AA8D-2553-014E-035B03BF35DD}"/>
              </a:ext>
            </a:extLst>
          </p:cNvPr>
          <p:cNvPicPr>
            <a:picLocks noChangeAspect="1"/>
          </p:cNvPicPr>
          <p:nvPr/>
        </p:nvPicPr>
        <p:blipFill>
          <a:blip r:embed="rId2"/>
          <a:stretch>
            <a:fillRect/>
          </a:stretch>
        </p:blipFill>
        <p:spPr>
          <a:xfrm>
            <a:off x="116294" y="114300"/>
            <a:ext cx="1800225" cy="990600"/>
          </a:xfrm>
          <a:prstGeom prst="rect">
            <a:avLst/>
          </a:prstGeom>
        </p:spPr>
      </p:pic>
      <p:pic>
        <p:nvPicPr>
          <p:cNvPr id="10" name="Picture 9">
            <a:extLst>
              <a:ext uri="{FF2B5EF4-FFF2-40B4-BE49-F238E27FC236}">
                <a16:creationId xmlns:a16="http://schemas.microsoft.com/office/drawing/2014/main" id="{E0A3197E-E259-4D72-0C11-E63CEFCC5A32}"/>
              </a:ext>
            </a:extLst>
          </p:cNvPr>
          <p:cNvPicPr>
            <a:picLocks noChangeAspect="1"/>
          </p:cNvPicPr>
          <p:nvPr/>
        </p:nvPicPr>
        <p:blipFill>
          <a:blip r:embed="rId3"/>
          <a:stretch>
            <a:fillRect/>
          </a:stretch>
        </p:blipFill>
        <p:spPr>
          <a:xfrm>
            <a:off x="17237483" y="153600"/>
            <a:ext cx="900000" cy="912000"/>
          </a:xfrm>
          <a:prstGeom prst="rect">
            <a:avLst/>
          </a:prstGeom>
          <a:effectLst>
            <a:softEdge rad="76200"/>
          </a:effectLst>
        </p:spPr>
      </p:pic>
      <p:sp>
        <p:nvSpPr>
          <p:cNvPr id="11" name="object 13">
            <a:extLst>
              <a:ext uri="{FF2B5EF4-FFF2-40B4-BE49-F238E27FC236}">
                <a16:creationId xmlns:a16="http://schemas.microsoft.com/office/drawing/2014/main" id="{8BE23B63-8A27-8B18-11A8-13D730D4BE2C}"/>
              </a:ext>
            </a:extLst>
          </p:cNvPr>
          <p:cNvSpPr txBox="1"/>
          <p:nvPr/>
        </p:nvSpPr>
        <p:spPr>
          <a:xfrm>
            <a:off x="4947285" y="387744"/>
            <a:ext cx="8393430" cy="443711"/>
          </a:xfrm>
          <a:prstGeom prst="rect">
            <a:avLst/>
          </a:prstGeom>
        </p:spPr>
        <p:txBody>
          <a:bodyPr vert="horz" wrap="square" lIns="0" tIns="12700" rIns="0" bIns="0" rtlCol="0">
            <a:spAutoFit/>
          </a:bodyPr>
          <a:lstStyle/>
          <a:p>
            <a:pPr marL="12700">
              <a:lnSpc>
                <a:spcPct val="100000"/>
              </a:lnSpc>
              <a:spcBef>
                <a:spcPts val="100"/>
              </a:spcBef>
            </a:pPr>
            <a:r>
              <a:rPr sz="2800" spc="-30" dirty="0">
                <a:solidFill>
                  <a:schemeClr val="bg2">
                    <a:lumMod val="50000"/>
                  </a:schemeClr>
                </a:solidFill>
                <a:latin typeface="Calibri"/>
                <a:cs typeface="Calibri"/>
              </a:rPr>
              <a:t>DEPARTMENT</a:t>
            </a:r>
            <a:r>
              <a:rPr sz="2800" spc="-85" dirty="0">
                <a:solidFill>
                  <a:schemeClr val="bg2">
                    <a:lumMod val="50000"/>
                  </a:schemeClr>
                </a:solidFill>
                <a:latin typeface="Calibri"/>
                <a:cs typeface="Calibri"/>
              </a:rPr>
              <a:t> </a:t>
            </a:r>
            <a:r>
              <a:rPr sz="2800" dirty="0">
                <a:solidFill>
                  <a:schemeClr val="bg2">
                    <a:lumMod val="50000"/>
                  </a:schemeClr>
                </a:solidFill>
                <a:latin typeface="Calibri"/>
                <a:cs typeface="Calibri"/>
              </a:rPr>
              <a:t>OF</a:t>
            </a:r>
            <a:r>
              <a:rPr sz="2800" spc="-40" dirty="0">
                <a:solidFill>
                  <a:schemeClr val="bg2">
                    <a:lumMod val="50000"/>
                  </a:schemeClr>
                </a:solidFill>
                <a:latin typeface="Calibri"/>
                <a:cs typeface="Calibri"/>
              </a:rPr>
              <a:t> </a:t>
            </a:r>
            <a:r>
              <a:rPr sz="2800" dirty="0">
                <a:solidFill>
                  <a:schemeClr val="bg2">
                    <a:lumMod val="50000"/>
                  </a:schemeClr>
                </a:solidFill>
                <a:latin typeface="Calibri"/>
                <a:cs typeface="Calibri"/>
              </a:rPr>
              <a:t>COMPUTER</a:t>
            </a:r>
            <a:r>
              <a:rPr sz="2800" spc="-60" dirty="0">
                <a:solidFill>
                  <a:schemeClr val="bg2">
                    <a:lumMod val="50000"/>
                  </a:schemeClr>
                </a:solidFill>
                <a:latin typeface="Calibri"/>
                <a:cs typeface="Calibri"/>
              </a:rPr>
              <a:t> </a:t>
            </a:r>
            <a:r>
              <a:rPr sz="2800" dirty="0">
                <a:solidFill>
                  <a:schemeClr val="bg2">
                    <a:lumMod val="50000"/>
                  </a:schemeClr>
                </a:solidFill>
                <a:latin typeface="Calibri"/>
                <a:cs typeface="Calibri"/>
              </a:rPr>
              <a:t>SCIENCE</a:t>
            </a:r>
            <a:r>
              <a:rPr sz="2800" spc="-80" dirty="0">
                <a:solidFill>
                  <a:schemeClr val="bg2">
                    <a:lumMod val="50000"/>
                  </a:schemeClr>
                </a:solidFill>
                <a:latin typeface="Calibri"/>
                <a:cs typeface="Calibri"/>
              </a:rPr>
              <a:t> </a:t>
            </a:r>
            <a:r>
              <a:rPr sz="2800" dirty="0">
                <a:solidFill>
                  <a:schemeClr val="bg2">
                    <a:lumMod val="50000"/>
                  </a:schemeClr>
                </a:solidFill>
                <a:latin typeface="Calibri"/>
                <a:cs typeface="Calibri"/>
              </a:rPr>
              <a:t>AND</a:t>
            </a:r>
            <a:r>
              <a:rPr sz="2800" spc="-55" dirty="0">
                <a:solidFill>
                  <a:schemeClr val="bg2">
                    <a:lumMod val="50000"/>
                  </a:schemeClr>
                </a:solidFill>
                <a:latin typeface="Calibri"/>
                <a:cs typeface="Calibri"/>
              </a:rPr>
              <a:t> </a:t>
            </a:r>
            <a:r>
              <a:rPr sz="2800" spc="-10" dirty="0">
                <a:solidFill>
                  <a:schemeClr val="bg2">
                    <a:lumMod val="50000"/>
                  </a:schemeClr>
                </a:solidFill>
                <a:latin typeface="Calibri"/>
                <a:cs typeface="Calibri"/>
              </a:rPr>
              <a:t>ENGINEERING</a:t>
            </a:r>
            <a:endParaRPr sz="2800" dirty="0">
              <a:solidFill>
                <a:schemeClr val="bg2">
                  <a:lumMod val="50000"/>
                </a:schemeClr>
              </a:solidFill>
              <a:latin typeface="Calibri"/>
              <a:cs typeface="Calibri"/>
            </a:endParaRPr>
          </a:p>
        </p:txBody>
      </p:sp>
      <p:sp>
        <p:nvSpPr>
          <p:cNvPr id="12" name="object 16">
            <a:extLst>
              <a:ext uri="{FF2B5EF4-FFF2-40B4-BE49-F238E27FC236}">
                <a16:creationId xmlns:a16="http://schemas.microsoft.com/office/drawing/2014/main" id="{AF350E46-0BA1-1A00-D2FB-561179A6C41D}"/>
              </a:ext>
            </a:extLst>
          </p:cNvPr>
          <p:cNvSpPr txBox="1">
            <a:spLocks/>
          </p:cNvSpPr>
          <p:nvPr/>
        </p:nvSpPr>
        <p:spPr>
          <a:xfrm>
            <a:off x="17687483" y="9615631"/>
            <a:ext cx="541910" cy="281304"/>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4465">
              <a:lnSpc>
                <a:spcPts val="2090"/>
              </a:lnSpc>
            </a:pPr>
            <a:fld id="{81D60167-4931-47E6-BA6A-407CBD079E47}" type="slidenum">
              <a:rPr lang="en-IN" spc="-50" smtClean="0"/>
              <a:pPr marL="164465">
                <a:lnSpc>
                  <a:spcPts val="2090"/>
                </a:lnSpc>
              </a:pPr>
              <a:t>17</a:t>
            </a:fld>
            <a:endParaRPr lang="en-IN" spc="-50" dirty="0"/>
          </a:p>
        </p:txBody>
      </p:sp>
      <p:sp>
        <p:nvSpPr>
          <p:cNvPr id="13" name="TextBox 6">
            <a:extLst>
              <a:ext uri="{FF2B5EF4-FFF2-40B4-BE49-F238E27FC236}">
                <a16:creationId xmlns:a16="http://schemas.microsoft.com/office/drawing/2014/main" id="{775E2100-1F04-4C7C-50A9-71333BD60CAF}"/>
              </a:ext>
            </a:extLst>
          </p:cNvPr>
          <p:cNvSpPr txBox="1"/>
          <p:nvPr/>
        </p:nvSpPr>
        <p:spPr>
          <a:xfrm>
            <a:off x="850974" y="6045423"/>
            <a:ext cx="7862435" cy="2585323"/>
          </a:xfrm>
          <a:prstGeom prst="rect">
            <a:avLst/>
          </a:prstGeom>
        </p:spPr>
        <p:txBody>
          <a:bodyPr lIns="0" tIns="0" rIns="0" bIns="0" rtlCol="0" anchor="t">
            <a:spAutoFit/>
          </a:bodyPr>
          <a:lstStyle/>
          <a:p>
            <a:r>
              <a:rPr lang="en-US" sz="2400" dirty="0">
                <a:solidFill>
                  <a:schemeClr val="bg2">
                    <a:lumMod val="25000"/>
                  </a:schemeClr>
                </a:solidFill>
                <a:latin typeface="Public Sans "/>
              </a:rPr>
              <a:t>BY</a:t>
            </a:r>
          </a:p>
          <a:p>
            <a:r>
              <a:rPr lang="en-US" sz="2400" dirty="0">
                <a:solidFill>
                  <a:schemeClr val="bg2">
                    <a:lumMod val="25000"/>
                  </a:schemeClr>
                </a:solidFill>
                <a:latin typeface="Public Sans "/>
              </a:rPr>
              <a:t>Omkar Bharath Pukale - (1AM23CS127)</a:t>
            </a:r>
          </a:p>
          <a:p>
            <a:r>
              <a:rPr lang="en-US" sz="2400" dirty="0">
                <a:solidFill>
                  <a:schemeClr val="bg2">
                    <a:lumMod val="25000"/>
                  </a:schemeClr>
                </a:solidFill>
                <a:latin typeface="Public Sans "/>
                <a:ea typeface="Calibri"/>
                <a:cs typeface="Calibri"/>
              </a:rPr>
              <a:t>Sahil Kumar Mishra - (1AM23CS176)</a:t>
            </a:r>
          </a:p>
          <a:p>
            <a:r>
              <a:rPr lang="en-US" sz="2400" dirty="0">
                <a:solidFill>
                  <a:schemeClr val="bg2">
                    <a:lumMod val="25000"/>
                  </a:schemeClr>
                </a:solidFill>
                <a:latin typeface="Public Sans "/>
                <a:ea typeface="Calibri"/>
                <a:cs typeface="Calibri"/>
              </a:rPr>
              <a:t>Sandesh G.C - (1AM23CS183)</a:t>
            </a:r>
          </a:p>
          <a:p>
            <a:r>
              <a:rPr lang="en-US" sz="2400" dirty="0">
                <a:solidFill>
                  <a:schemeClr val="bg2">
                    <a:lumMod val="25000"/>
                  </a:schemeClr>
                </a:solidFill>
                <a:latin typeface="Public Sans "/>
                <a:ea typeface="Calibri"/>
                <a:cs typeface="Calibri"/>
              </a:rPr>
              <a:t>Sanjitha A - (1AM23CS186)</a:t>
            </a:r>
          </a:p>
          <a:p>
            <a:endParaRPr lang="en-US" sz="2400" dirty="0">
              <a:solidFill>
                <a:schemeClr val="bg2">
                  <a:lumMod val="25000"/>
                </a:schemeClr>
              </a:solidFill>
              <a:latin typeface="Public Sans "/>
            </a:endParaRPr>
          </a:p>
          <a:p>
            <a:endParaRPr lang="en-US" sz="2400" dirty="0">
              <a:solidFill>
                <a:schemeClr val="bg2">
                  <a:lumMod val="25000"/>
                </a:schemeClr>
              </a:solidFill>
              <a:latin typeface="Public Sans "/>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550</TotalTime>
  <Words>1737</Words>
  <Application>Microsoft Office PowerPoint</Application>
  <PresentationFormat>Custom</PresentationFormat>
  <Paragraphs>246</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Public Sans</vt:lpstr>
      <vt:lpstr>Public Sans Bold</vt:lpstr>
      <vt:lpstr>Times New Roman</vt:lpstr>
      <vt:lpstr>Public Sans </vt:lpstr>
      <vt:lpstr>Calibri</vt:lpstr>
      <vt:lpstr>Times New Roman </vt:lpstr>
      <vt:lpstr>Wingdings</vt:lpstr>
      <vt:lpstr>Playfair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OMKAR BHARATH PUKALE</dc:creator>
  <cp:lastModifiedBy>Omkar Bharath Pukale</cp:lastModifiedBy>
  <cp:revision>5</cp:revision>
  <dcterms:created xsi:type="dcterms:W3CDTF">2006-08-16T00:00:00Z</dcterms:created>
  <dcterms:modified xsi:type="dcterms:W3CDTF">2026-05-05T08:36:56Z</dcterms:modified>
  <dc:identifier>DAHH38SB_rE</dc:identifier>
</cp:coreProperties>
</file>