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6" r:id="rId3"/>
    <p:sldId id="277" r:id="rId4"/>
    <p:sldId id="258" r:id="rId5"/>
    <p:sldId id="278" r:id="rId6"/>
    <p:sldId id="259" r:id="rId7"/>
    <p:sldId id="260" r:id="rId8"/>
    <p:sldId id="279" r:id="rId9"/>
    <p:sldId id="280" r:id="rId10"/>
    <p:sldId id="261" r:id="rId11"/>
    <p:sldId id="262" r:id="rId12"/>
    <p:sldId id="263" r:id="rId13"/>
    <p:sldId id="289" r:id="rId14"/>
    <p:sldId id="264" r:id="rId15"/>
    <p:sldId id="265" r:id="rId16"/>
    <p:sldId id="281" r:id="rId17"/>
    <p:sldId id="282" r:id="rId18"/>
    <p:sldId id="266" r:id="rId19"/>
    <p:sldId id="283" r:id="rId20"/>
    <p:sldId id="284" r:id="rId21"/>
    <p:sldId id="267" r:id="rId22"/>
    <p:sldId id="268" r:id="rId23"/>
    <p:sldId id="269" r:id="rId24"/>
    <p:sldId id="285" r:id="rId25"/>
    <p:sldId id="286" r:id="rId26"/>
    <p:sldId id="270" r:id="rId27"/>
    <p:sldId id="290" r:id="rId28"/>
    <p:sldId id="271" r:id="rId29"/>
    <p:sldId id="272" r:id="rId30"/>
    <p:sldId id="291" r:id="rId31"/>
    <p:sldId id="273" r:id="rId32"/>
    <p:sldId id="287" r:id="rId33"/>
    <p:sldId id="274" r:id="rId34"/>
    <p:sldId id="288" r:id="rId35"/>
    <p:sldId id="275"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2" autoAdjust="0"/>
    <p:restoredTop sz="94660"/>
  </p:normalViewPr>
  <p:slideViewPr>
    <p:cSldViewPr snapToGrid="0" snapToObjects="1">
      <p:cViewPr varScale="1">
        <p:scale>
          <a:sx n="78" d="100"/>
          <a:sy n="78" d="100"/>
        </p:scale>
        <p:origin x="72" y="47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mc_left_logo.png"/>
          <p:cNvPicPr>
            <a:picLocks noChangeAspect="1"/>
          </p:cNvPicPr>
          <p:nvPr/>
        </p:nvPicPr>
        <p:blipFill>
          <a:blip r:embed="rId2"/>
          <a:stretch>
            <a:fillRect/>
          </a:stretch>
        </p:blipFill>
        <p:spPr>
          <a:xfrm>
            <a:off x="457200" y="137160"/>
            <a:ext cx="868680" cy="997373"/>
          </a:xfrm>
          <a:prstGeom prst="rect">
            <a:avLst/>
          </a:prstGeom>
        </p:spPr>
      </p:pic>
      <p:pic>
        <p:nvPicPr>
          <p:cNvPr id="3" name="Picture 2" descr="amc_right_logo.png"/>
          <p:cNvPicPr>
            <a:picLocks noChangeAspect="1"/>
          </p:cNvPicPr>
          <p:nvPr/>
        </p:nvPicPr>
        <p:blipFill>
          <a:blip r:embed="rId3"/>
          <a:stretch>
            <a:fillRect/>
          </a:stretch>
        </p:blipFill>
        <p:spPr>
          <a:xfrm>
            <a:off x="11018520" y="137160"/>
            <a:ext cx="868680" cy="961753"/>
          </a:xfrm>
          <a:prstGeom prst="rect">
            <a:avLst/>
          </a:prstGeom>
        </p:spPr>
      </p:pic>
      <p:sp>
        <p:nvSpPr>
          <p:cNvPr id="4" name="TextBox 3"/>
          <p:cNvSpPr txBox="1"/>
          <p:nvPr/>
        </p:nvSpPr>
        <p:spPr>
          <a:xfrm>
            <a:off x="1643063" y="200829"/>
            <a:ext cx="8643937" cy="1015663"/>
          </a:xfrm>
          <a:prstGeom prst="rect">
            <a:avLst/>
          </a:prstGeom>
          <a:noFill/>
        </p:spPr>
        <p:txBody>
          <a:bodyPr wrap="square" anchor="ctr">
            <a:spAutoFit/>
          </a:bodyPr>
          <a:lstStyle/>
          <a:p>
            <a:pPr algn="ctr"/>
            <a:r>
              <a:rPr lang="en-US" sz="3000" b="1" dirty="0">
                <a:solidFill>
                  <a:srgbClr val="141414"/>
                </a:solidFill>
                <a:latin typeface="Times New Roman"/>
              </a:rPr>
              <a:t>Asset Tokenization-Decentralized platform for Real-World Asset Tokenization Using Blockchain</a:t>
            </a:r>
            <a:endParaRPr sz="3000" b="1" i="0" dirty="0">
              <a:solidFill>
                <a:srgbClr val="141414"/>
              </a:solidFill>
              <a:latin typeface="Times New Roman"/>
            </a:endParaRPr>
          </a:p>
        </p:txBody>
      </p:sp>
      <p:sp>
        <p:nvSpPr>
          <p:cNvPr id="5" name="TextBox 4"/>
          <p:cNvSpPr txBox="1"/>
          <p:nvPr/>
        </p:nvSpPr>
        <p:spPr>
          <a:xfrm>
            <a:off x="3017520" y="2331720"/>
            <a:ext cx="6172200" cy="365760"/>
          </a:xfrm>
          <a:prstGeom prst="rect">
            <a:avLst/>
          </a:prstGeom>
          <a:noFill/>
        </p:spPr>
        <p:txBody>
          <a:bodyPr wrap="none" anchor="ctr">
            <a:spAutoFit/>
          </a:bodyPr>
          <a:lstStyle/>
          <a:p>
            <a:pPr algn="ctr"/>
            <a:r>
              <a:rPr sz="2200" b="1" i="0">
                <a:solidFill>
                  <a:srgbClr val="141414"/>
                </a:solidFill>
                <a:latin typeface="Times New Roman"/>
              </a:rPr>
              <a:t>AMC Engineering College</a:t>
            </a:r>
          </a:p>
        </p:txBody>
      </p:sp>
      <p:sp>
        <p:nvSpPr>
          <p:cNvPr id="6" name="TextBox 5"/>
          <p:cNvSpPr txBox="1"/>
          <p:nvPr/>
        </p:nvSpPr>
        <p:spPr>
          <a:xfrm>
            <a:off x="2651760" y="2697480"/>
            <a:ext cx="6903720" cy="365760"/>
          </a:xfrm>
          <a:prstGeom prst="rect">
            <a:avLst/>
          </a:prstGeom>
          <a:noFill/>
        </p:spPr>
        <p:txBody>
          <a:bodyPr wrap="none" anchor="ctr">
            <a:spAutoFit/>
          </a:bodyPr>
          <a:lstStyle/>
          <a:p>
            <a:pPr algn="ctr"/>
            <a:r>
              <a:rPr sz="1900" b="1" i="1">
                <a:solidFill>
                  <a:srgbClr val="141414"/>
                </a:solidFill>
                <a:latin typeface="Times New Roman"/>
              </a:rPr>
              <a:t>Under Visvesvaraya Technological University, Belagavi</a:t>
            </a:r>
          </a:p>
        </p:txBody>
      </p:sp>
      <p:sp>
        <p:nvSpPr>
          <p:cNvPr id="7" name="TextBox 6"/>
          <p:cNvSpPr txBox="1"/>
          <p:nvPr/>
        </p:nvSpPr>
        <p:spPr>
          <a:xfrm>
            <a:off x="3657600" y="3429000"/>
            <a:ext cx="4846320" cy="365760"/>
          </a:xfrm>
          <a:prstGeom prst="rect">
            <a:avLst/>
          </a:prstGeom>
          <a:noFill/>
        </p:spPr>
        <p:txBody>
          <a:bodyPr wrap="none" anchor="ctr">
            <a:spAutoFit/>
          </a:bodyPr>
          <a:lstStyle/>
          <a:p>
            <a:pPr algn="ctr"/>
            <a:r>
              <a:rPr sz="2000" b="0" i="0">
                <a:solidFill>
                  <a:srgbClr val="141414"/>
                </a:solidFill>
                <a:latin typeface="Times New Roman"/>
              </a:rPr>
              <a:t>Major Project Phase – II – BCS786</a:t>
            </a:r>
          </a:p>
        </p:txBody>
      </p:sp>
      <p:sp>
        <p:nvSpPr>
          <p:cNvPr id="8" name="TextBox 7"/>
          <p:cNvSpPr txBox="1"/>
          <p:nvPr/>
        </p:nvSpPr>
        <p:spPr>
          <a:xfrm>
            <a:off x="2057400" y="4343400"/>
            <a:ext cx="2468880" cy="365760"/>
          </a:xfrm>
          <a:prstGeom prst="rect">
            <a:avLst/>
          </a:prstGeom>
          <a:noFill/>
        </p:spPr>
        <p:txBody>
          <a:bodyPr wrap="none" anchor="ctr">
            <a:spAutoFit/>
          </a:bodyPr>
          <a:lstStyle/>
          <a:p>
            <a:pPr algn="l"/>
            <a:r>
              <a:rPr sz="2200" b="1" i="0">
                <a:solidFill>
                  <a:srgbClr val="141414"/>
                </a:solidFill>
                <a:latin typeface="Times New Roman"/>
              </a:rPr>
              <a:t>Presented By</a:t>
            </a:r>
          </a:p>
        </p:txBody>
      </p:sp>
      <p:sp>
        <p:nvSpPr>
          <p:cNvPr id="9" name="TextBox 8"/>
          <p:cNvSpPr txBox="1"/>
          <p:nvPr/>
        </p:nvSpPr>
        <p:spPr>
          <a:xfrm>
            <a:off x="2034540" y="4666505"/>
            <a:ext cx="4206241" cy="1554272"/>
          </a:xfrm>
          <a:prstGeom prst="rect">
            <a:avLst/>
          </a:prstGeom>
          <a:noFill/>
        </p:spPr>
        <p:txBody>
          <a:bodyPr wrap="square" anchor="ctr">
            <a:spAutoFit/>
          </a:bodyPr>
          <a:lstStyle/>
          <a:p>
            <a:pPr algn="l"/>
            <a:r>
              <a:rPr lang="en-US" sz="1900" dirty="0">
                <a:solidFill>
                  <a:srgbClr val="141414"/>
                </a:solidFill>
                <a:latin typeface="Times New Roman"/>
              </a:rPr>
              <a:t>Omkar Bharath </a:t>
            </a:r>
            <a:r>
              <a:rPr lang="en-US" sz="1900" dirty="0" err="1">
                <a:solidFill>
                  <a:srgbClr val="141414"/>
                </a:solidFill>
                <a:latin typeface="Times New Roman"/>
              </a:rPr>
              <a:t>Pukale</a:t>
            </a:r>
            <a:r>
              <a:rPr lang="en-US" sz="1900" dirty="0">
                <a:solidFill>
                  <a:srgbClr val="141414"/>
                </a:solidFill>
                <a:latin typeface="Times New Roman"/>
              </a:rPr>
              <a:t>(1AM23CS127)</a:t>
            </a:r>
          </a:p>
          <a:p>
            <a:pPr algn="l"/>
            <a:r>
              <a:rPr lang="en-US" sz="1900" dirty="0">
                <a:solidFill>
                  <a:srgbClr val="141414"/>
                </a:solidFill>
                <a:latin typeface="Times New Roman"/>
              </a:rPr>
              <a:t>Sahil Kumar Mishra(1AM23CS176)</a:t>
            </a:r>
          </a:p>
          <a:p>
            <a:pPr algn="l"/>
            <a:r>
              <a:rPr lang="en-US" sz="1900" dirty="0">
                <a:solidFill>
                  <a:srgbClr val="141414"/>
                </a:solidFill>
                <a:latin typeface="Times New Roman"/>
              </a:rPr>
              <a:t>Sandesh G.C(1AM23CS183)</a:t>
            </a:r>
          </a:p>
          <a:p>
            <a:pPr algn="l"/>
            <a:r>
              <a:rPr lang="en-US" sz="1900" dirty="0">
                <a:solidFill>
                  <a:srgbClr val="141414"/>
                </a:solidFill>
                <a:latin typeface="Times New Roman"/>
              </a:rPr>
              <a:t>Sanjitha A(1AM23CS186)</a:t>
            </a:r>
          </a:p>
          <a:p>
            <a:pPr algn="l"/>
            <a:endParaRPr sz="1900" b="0" i="0" dirty="0">
              <a:solidFill>
                <a:srgbClr val="141414"/>
              </a:solidFill>
              <a:latin typeface="Times New Roman"/>
            </a:endParaRPr>
          </a:p>
        </p:txBody>
      </p:sp>
      <p:sp>
        <p:nvSpPr>
          <p:cNvPr id="10" name="TextBox 9"/>
          <p:cNvSpPr txBox="1"/>
          <p:nvPr/>
        </p:nvSpPr>
        <p:spPr>
          <a:xfrm>
            <a:off x="7772400" y="4410149"/>
            <a:ext cx="3022815" cy="969496"/>
          </a:xfrm>
          <a:prstGeom prst="rect">
            <a:avLst/>
          </a:prstGeom>
          <a:noFill/>
        </p:spPr>
        <p:txBody>
          <a:bodyPr wrap="none" anchor="ctr">
            <a:spAutoFit/>
          </a:bodyPr>
          <a:lstStyle/>
          <a:p>
            <a:pPr algn="l"/>
            <a:r>
              <a:rPr sz="1900" b="0" i="0" dirty="0">
                <a:solidFill>
                  <a:srgbClr val="141414"/>
                </a:solidFill>
                <a:latin typeface="Times New Roman"/>
              </a:rPr>
              <a:t>Under the guidance of
</a:t>
            </a:r>
            <a:r>
              <a:rPr lang="en-US" sz="1900" b="0" i="0" dirty="0" err="1">
                <a:solidFill>
                  <a:srgbClr val="141414"/>
                </a:solidFill>
                <a:latin typeface="Times New Roman"/>
              </a:rPr>
              <a:t>Prof.Premkumar</a:t>
            </a:r>
            <a:r>
              <a:rPr lang="en-US" sz="1900" b="0" i="0" dirty="0">
                <a:solidFill>
                  <a:srgbClr val="141414"/>
                </a:solidFill>
                <a:latin typeface="Times New Roman"/>
              </a:rPr>
              <a:t> M K</a:t>
            </a:r>
            <a:r>
              <a:rPr sz="1900" b="0" i="0" dirty="0">
                <a:solidFill>
                  <a:srgbClr val="141414"/>
                </a:solidFill>
                <a:latin typeface="Times New Roman"/>
              </a:rPr>
              <a:t>
Assistant Professor, AMCEC</a:t>
            </a:r>
          </a:p>
        </p:txBody>
      </p:sp>
      <p:sp>
        <p:nvSpPr>
          <p:cNvPr id="11" name="TextBox 10"/>
          <p:cNvSpPr txBox="1"/>
          <p:nvPr/>
        </p:nvSpPr>
        <p:spPr>
          <a:xfrm>
            <a:off x="5074920" y="6080760"/>
            <a:ext cx="2011680" cy="274320"/>
          </a:xfrm>
          <a:prstGeom prst="rect">
            <a:avLst/>
          </a:prstGeom>
          <a:noFill/>
        </p:spPr>
        <p:txBody>
          <a:bodyPr wrap="none" anchor="ctr">
            <a:spAutoFit/>
          </a:bodyPr>
          <a:lstStyle/>
          <a:p>
            <a:pPr algn="ctr"/>
            <a:r>
              <a:rPr sz="1500" b="0" i="0" dirty="0">
                <a:solidFill>
                  <a:srgbClr val="5A5A5A"/>
                </a:solidFill>
                <a:latin typeface="Times New Roman"/>
              </a:rPr>
              <a:t>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2. Project Overview</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2</a:t>
            </a:r>
          </a:p>
        </p:txBody>
      </p:sp>
      <p:sp>
        <p:nvSpPr>
          <p:cNvPr id="8" name="TextBox 7"/>
          <p:cNvSpPr txBox="1"/>
          <p:nvPr/>
        </p:nvSpPr>
        <p:spPr>
          <a:xfrm>
            <a:off x="914400" y="1325880"/>
            <a:ext cx="10332720" cy="6063198"/>
          </a:xfrm>
          <a:prstGeom prst="rect">
            <a:avLst/>
          </a:prstGeom>
          <a:noFill/>
        </p:spPr>
        <p:txBody>
          <a:bodyPr wrap="square">
            <a:spAutoFit/>
          </a:bodyPr>
          <a:lstStyle/>
          <a:p>
            <a:pPr>
              <a:spcAft>
                <a:spcPts val="1200"/>
              </a:spcAft>
              <a:defRPr sz="2200">
                <a:solidFill>
                  <a:srgbClr val="141414"/>
                </a:solidFill>
                <a:latin typeface="Times New Roman"/>
              </a:defRPr>
            </a:pPr>
            <a:r>
              <a:rPr lang="en-US" b="1" u="sng" dirty="0"/>
              <a:t>Project Introduction and problem overview</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Asset Tokenization is the process of representing ownership rights of real-world assets as digital tokens on a blockchain</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Our project focuses on Real-World Asset(RWA) tokenization, particularly assets such as real estate and other high-value/illiquid assets, where traditional ownership and investment can involve high capital requirements and complex processes.</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Many  assets are difficult to trade in small portions and also ownership records depend heavily on intermediaries, which often restricts access for smaller investors and slows down transactions.</a:t>
            </a:r>
          </a:p>
          <a:p>
            <a:pPr>
              <a:spcAft>
                <a:spcPts val="1200"/>
              </a:spcAft>
              <a:defRPr sz="2200">
                <a:solidFill>
                  <a:srgbClr val="141414"/>
                </a:solidFill>
                <a:latin typeface="Times New Roman"/>
              </a:defRPr>
            </a:pPr>
            <a:r>
              <a:rPr lang="en-US" b="1" u="sng" dirty="0"/>
              <a:t>Why is this Problem Relevant?</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High-value assets are often difficult to access for small investors.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Traditional ownership involves intermediaries and complex procedures.</a:t>
            </a:r>
          </a:p>
          <a:p>
            <a:pPr marL="342900" indent="-342900">
              <a:spcAft>
                <a:spcPts val="1200"/>
              </a:spcAft>
              <a:buFont typeface="Arial" panose="020B0604020202020204" pitchFamily="34" charset="0"/>
              <a:buChar char="•"/>
              <a:defRPr sz="2200">
                <a:solidFill>
                  <a:srgbClr val="141414"/>
                </a:solidFill>
                <a:latin typeface="Times New Roman"/>
              </a:defRPr>
            </a:pPr>
            <a:endParaRPr lang="en-US" dirty="0"/>
          </a:p>
          <a:p>
            <a:pPr>
              <a:spcAft>
                <a:spcPts val="1200"/>
              </a:spcAft>
              <a:defRPr sz="2200">
                <a:solidFill>
                  <a:srgbClr val="141414"/>
                </a:solidFill>
                <a:latin typeface="Times New Roman"/>
              </a:defRPr>
            </a:pPr>
            <a:endParaRPr dirty="0"/>
          </a:p>
        </p:txBody>
      </p:sp>
    </p:spTree>
    <p:extLst>
      <p:ext uri="{BB962C8B-B14F-4D97-AF65-F5344CB8AC3E}">
        <p14:creationId xmlns:p14="http://schemas.microsoft.com/office/powerpoint/2010/main" val="2425467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2. Project Overview</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2</a:t>
            </a:r>
          </a:p>
        </p:txBody>
      </p:sp>
      <p:sp>
        <p:nvSpPr>
          <p:cNvPr id="8" name="TextBox 7"/>
          <p:cNvSpPr txBox="1"/>
          <p:nvPr/>
        </p:nvSpPr>
        <p:spPr>
          <a:xfrm>
            <a:off x="914400" y="1325880"/>
            <a:ext cx="10332720" cy="5539978"/>
          </a:xfrm>
          <a:prstGeom prst="rect">
            <a:avLst/>
          </a:prstGeom>
          <a:noFill/>
        </p:spPr>
        <p:txBody>
          <a:bodyPr wrap="square">
            <a:spAutoFit/>
          </a:bodyPr>
          <a:lstStyle/>
          <a:p>
            <a:pPr marL="342900" indent="-342900">
              <a:spcAft>
                <a:spcPts val="1200"/>
              </a:spcAft>
              <a:buFont typeface="Arial" panose="020B0604020202020204" pitchFamily="34" charset="0"/>
              <a:buChar char="•"/>
              <a:defRPr sz="2200">
                <a:solidFill>
                  <a:srgbClr val="141414"/>
                </a:solidFill>
                <a:latin typeface="Times New Roman"/>
              </a:defRPr>
            </a:pPr>
            <a:r>
              <a:rPr lang="en-US" dirty="0"/>
              <a:t>Many assets have low liquidity, making partial ownership difficult to transfer.</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Conventional records do not provide the same level of transparent, tamper-resistant transaction tracking.</a:t>
            </a:r>
          </a:p>
          <a:p>
            <a:pPr>
              <a:spcAft>
                <a:spcPts val="1200"/>
              </a:spcAft>
              <a:defRPr sz="2200">
                <a:solidFill>
                  <a:srgbClr val="141414"/>
                </a:solidFill>
                <a:latin typeface="Times New Roman"/>
              </a:defRPr>
            </a:pPr>
            <a:r>
              <a:rPr lang="en-US" b="1" u="sng" dirty="0"/>
              <a:t>Proposed Solution</a:t>
            </a:r>
          </a:p>
          <a:p>
            <a:pPr>
              <a:spcAft>
                <a:spcPts val="1200"/>
              </a:spcAft>
              <a:defRPr sz="2200">
                <a:solidFill>
                  <a:srgbClr val="141414"/>
                </a:solidFill>
                <a:latin typeface="Times New Roman"/>
              </a:defRPr>
            </a:pPr>
            <a:r>
              <a:rPr lang="en-US" dirty="0"/>
              <a:t>We propose a blockchain-based platform that:</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Represents an asset through digital tokens, enables fractional participation instead of requiring ownership of the entire asset.</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Uses smart contracts to manage token creation, transfers and ownership records.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Provides a dashboard for asset management, token purchases and ownership tracking.</a:t>
            </a:r>
          </a:p>
          <a:p>
            <a:pPr>
              <a:spcAft>
                <a:spcPts val="1200"/>
              </a:spcAft>
              <a:defRPr sz="2200">
                <a:solidFill>
                  <a:srgbClr val="141414"/>
                </a:solidFill>
                <a:latin typeface="Times New Roman"/>
              </a:defRPr>
            </a:pPr>
            <a:r>
              <a:rPr lang="en-US" b="1" u="sng" dirty="0"/>
              <a:t>Expected Users or beneficiaries of the system</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Investors, asset administrators, asset owners/businesses, asset developers, auditors.</a:t>
            </a:r>
          </a:p>
          <a:p>
            <a:pPr>
              <a:spcAft>
                <a:spcPts val="1200"/>
              </a:spcAft>
              <a:defRPr sz="2200">
                <a:solidFill>
                  <a:srgbClr val="141414"/>
                </a:solidFill>
                <a:latin typeface="Times New Roman"/>
              </a:defRPr>
            </a:pPr>
            <a:endParaRPr dirty="0"/>
          </a:p>
        </p:txBody>
      </p:sp>
    </p:spTree>
    <p:extLst>
      <p:ext uri="{BB962C8B-B14F-4D97-AF65-F5344CB8AC3E}">
        <p14:creationId xmlns:p14="http://schemas.microsoft.com/office/powerpoint/2010/main" val="2266860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3. Problem Statement</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3</a:t>
            </a:r>
          </a:p>
        </p:txBody>
      </p:sp>
      <p:sp>
        <p:nvSpPr>
          <p:cNvPr id="8" name="TextBox 7"/>
          <p:cNvSpPr txBox="1"/>
          <p:nvPr/>
        </p:nvSpPr>
        <p:spPr>
          <a:xfrm>
            <a:off x="914400" y="1325880"/>
            <a:ext cx="10332720" cy="5262979"/>
          </a:xfrm>
          <a:prstGeom prst="rect">
            <a:avLst/>
          </a:prstGeom>
          <a:noFill/>
        </p:spPr>
        <p:txBody>
          <a:bodyPr wrap="square">
            <a:spAutoFit/>
          </a:bodyPr>
          <a:lstStyle/>
          <a:p>
            <a:pPr algn="just">
              <a:spcAft>
                <a:spcPts val="1200"/>
              </a:spcAft>
              <a:defRPr sz="2200">
                <a:solidFill>
                  <a:srgbClr val="141414"/>
                </a:solidFill>
                <a:latin typeface="Times New Roman"/>
              </a:defRPr>
            </a:pPr>
            <a:r>
              <a:rPr dirty="0"/>
              <a:t>• </a:t>
            </a:r>
            <a:r>
              <a:rPr lang="en-US" dirty="0"/>
              <a:t>  Traditional asset markets such as real estate and commodities require high capital   investment, which restricts participation for small and medium investors.</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Buying or selling assets like property or gold takes days to weeks because of manual verification, paperwork, and settlement. Deals are delayed and the process is error-prone.</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Investors outside the asset's country or region often cannot buy it at all, because of local regulations and the lack of a common digital platform. This keeps the investor pool small.</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Existing ownership systems involve complex legal and administrative processes, making investment slow, costly, and inaccessible to a wider audience.</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Many high-value assets are illiquid, making it difficult for owners and investors to quickly buy, sell, or trade partial ownership.</a:t>
            </a:r>
          </a:p>
          <a:p>
            <a:pPr marL="342900" indent="-342900">
              <a:spcAft>
                <a:spcPts val="1200"/>
              </a:spcAft>
              <a:buFont typeface="Arial" panose="020B0604020202020204" pitchFamily="34" charset="0"/>
              <a:buChar char="•"/>
              <a:defRPr sz="2200">
                <a:solidFill>
                  <a:srgbClr val="141414"/>
                </a:solidFill>
                <a:latin typeface="Times New Roman"/>
              </a:defRPr>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3. Problem Statement</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3</a:t>
            </a:r>
          </a:p>
        </p:txBody>
      </p:sp>
      <p:sp>
        <p:nvSpPr>
          <p:cNvPr id="8" name="TextBox 7"/>
          <p:cNvSpPr txBox="1"/>
          <p:nvPr/>
        </p:nvSpPr>
        <p:spPr>
          <a:xfrm>
            <a:off x="914400" y="1325880"/>
            <a:ext cx="10332720" cy="3939540"/>
          </a:xfrm>
          <a:prstGeom prst="rect">
            <a:avLst/>
          </a:prstGeom>
          <a:noFill/>
        </p:spPr>
        <p:txBody>
          <a:bodyPr wrap="square">
            <a:spAutoFit/>
          </a:bodyPr>
          <a:lstStyle/>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Current asset management relies on centralized intermediaries, causing trust issues, lack of transparency, and dependency on third parties.</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Conventional ownership records are vulnerable to manipulation, lack immutability, and provide no tamper-proof audit trail.</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There is no widely adopted, user-friendly platform that uses blockchain and smart contracts for secure fractional ownership of real-world assets, and few working prototypes exist to test feasibility, scalability, and performance.</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The desired outcome is a working prototype on an Ethereum test network that splits each asset into 1,000+ tokens, confirms purchases within 60 seconds, and records 100% of transactions on-chain with zero invalid or duplicate transfers.</a:t>
            </a:r>
            <a:endParaRPr dirty="0"/>
          </a:p>
        </p:txBody>
      </p:sp>
    </p:spTree>
    <p:extLst>
      <p:ext uri="{BB962C8B-B14F-4D97-AF65-F5344CB8AC3E}">
        <p14:creationId xmlns:p14="http://schemas.microsoft.com/office/powerpoint/2010/main" val="3701225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4. Objectives</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4</a:t>
            </a:r>
          </a:p>
        </p:txBody>
      </p:sp>
      <p:sp>
        <p:nvSpPr>
          <p:cNvPr id="8" name="TextBox 7"/>
          <p:cNvSpPr txBox="1"/>
          <p:nvPr/>
        </p:nvSpPr>
        <p:spPr>
          <a:xfrm>
            <a:off x="914400" y="1325880"/>
            <a:ext cx="10332720" cy="4093428"/>
          </a:xfrm>
          <a:prstGeom prst="rect">
            <a:avLst/>
          </a:prstGeom>
          <a:noFill/>
        </p:spPr>
        <p:txBody>
          <a:bodyPr wrap="square">
            <a:spAutoFit/>
          </a:bodyPr>
          <a:lstStyle/>
          <a:p>
            <a:pPr>
              <a:spcAft>
                <a:spcPts val="1200"/>
              </a:spcAft>
              <a:defRPr sz="2200">
                <a:solidFill>
                  <a:srgbClr val="141414"/>
                </a:solidFill>
                <a:latin typeface="Times New Roman"/>
              </a:defRPr>
            </a:pPr>
            <a:r>
              <a:rPr dirty="0"/>
              <a:t>•</a:t>
            </a:r>
            <a:r>
              <a:rPr lang="en-US" dirty="0"/>
              <a:t>    </a:t>
            </a:r>
            <a:r>
              <a:rPr lang="en-US" b="1" dirty="0"/>
              <a:t>Tokenize</a:t>
            </a:r>
            <a:r>
              <a:rPr lang="en-US" dirty="0"/>
              <a:t> - Represent real-world asset ownership through blockchain-based digital tokens.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 </a:t>
            </a:r>
            <a:r>
              <a:rPr lang="en-US" b="1" dirty="0"/>
              <a:t>Fractionalize</a:t>
            </a:r>
            <a:r>
              <a:rPr lang="en-US" dirty="0"/>
              <a:t> - Enable users to participate in high-value assets through smaller ownership units.</a:t>
            </a:r>
          </a:p>
          <a:p>
            <a:pPr marL="342900" indent="-342900">
              <a:spcAft>
                <a:spcPts val="1200"/>
              </a:spcAft>
              <a:buFont typeface="Arial" panose="020B0604020202020204" pitchFamily="34" charset="0"/>
              <a:buChar char="•"/>
              <a:defRPr sz="2200">
                <a:solidFill>
                  <a:srgbClr val="141414"/>
                </a:solidFill>
                <a:latin typeface="Times New Roman"/>
              </a:defRPr>
            </a:pPr>
            <a:r>
              <a:rPr lang="en-US" b="1" dirty="0"/>
              <a:t> Automate </a:t>
            </a:r>
            <a:r>
              <a:rPr lang="en-US" dirty="0"/>
              <a:t>- Use smart contracts  that securely manages token issuance, transfers and ownership records.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 </a:t>
            </a:r>
            <a:r>
              <a:rPr lang="en-US" b="1" dirty="0"/>
              <a:t>Increase Transparency </a:t>
            </a:r>
            <a:r>
              <a:rPr lang="en-US" dirty="0"/>
              <a:t>- Maintain verifiable and tamper-resistant transaction records using distributed ledger technology.</a:t>
            </a:r>
          </a:p>
          <a:p>
            <a:pPr marL="342900" indent="-342900">
              <a:spcAft>
                <a:spcPts val="1200"/>
              </a:spcAft>
              <a:buFont typeface="Arial" panose="020B0604020202020204" pitchFamily="34" charset="0"/>
              <a:buChar char="•"/>
              <a:defRPr sz="2200">
                <a:solidFill>
                  <a:srgbClr val="141414"/>
                </a:solidFill>
                <a:latin typeface="Times New Roman"/>
              </a:defRPr>
            </a:pPr>
            <a:r>
              <a:rPr lang="en-US" b="1" dirty="0"/>
              <a:t>Demonstrate Feasibility </a:t>
            </a:r>
            <a:r>
              <a:rPr lang="en-US" dirty="0"/>
              <a:t>- Develop and evaluate a functional prototype for real-world asset tokenization applications.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5. Scope of the Project</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5</a:t>
            </a:r>
          </a:p>
        </p:txBody>
      </p:sp>
      <p:sp>
        <p:nvSpPr>
          <p:cNvPr id="8" name="TextBox 7"/>
          <p:cNvSpPr txBox="1"/>
          <p:nvPr/>
        </p:nvSpPr>
        <p:spPr>
          <a:xfrm>
            <a:off x="914400" y="1325880"/>
            <a:ext cx="10332720" cy="5355312"/>
          </a:xfrm>
          <a:prstGeom prst="rect">
            <a:avLst/>
          </a:prstGeom>
          <a:noFill/>
        </p:spPr>
        <p:txBody>
          <a:bodyPr wrap="square">
            <a:spAutoFit/>
          </a:bodyPr>
          <a:lstStyle/>
          <a:p>
            <a:pPr>
              <a:spcAft>
                <a:spcPts val="1200"/>
              </a:spcAft>
              <a:defRPr sz="2200">
                <a:solidFill>
                  <a:srgbClr val="141414"/>
                </a:solidFill>
                <a:latin typeface="Times New Roman"/>
              </a:defRPr>
            </a:pPr>
            <a:r>
              <a:rPr b="1" dirty="0"/>
              <a:t>F</a:t>
            </a:r>
            <a:r>
              <a:rPr lang="en-US" b="1" dirty="0"/>
              <a:t>UNCTIONAL SCOPE</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Asset listing and management</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Token creation/generation</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Token purchase</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Ownership tracking</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Transaction history</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User portfolio and dashboard</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Admin monitoring</a:t>
            </a:r>
          </a:p>
          <a:p>
            <a:pPr>
              <a:spcAft>
                <a:spcPts val="1200"/>
              </a:spcAft>
              <a:defRPr sz="2200">
                <a:solidFill>
                  <a:srgbClr val="141414"/>
                </a:solidFill>
                <a:latin typeface="Times New Roman"/>
              </a:defRPr>
            </a:pPr>
            <a:r>
              <a:rPr lang="en-US" b="1" dirty="0"/>
              <a:t>TECHNICAL SCOPE</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Blockchain-based ownership</a:t>
            </a:r>
          </a:p>
          <a:p>
            <a:pPr>
              <a:spcAft>
                <a:spcPts val="1200"/>
              </a:spcAft>
              <a:defRPr sz="2200">
                <a:solidFill>
                  <a:srgbClr val="141414"/>
                </a:solidFill>
                <a:latin typeface="Times New Roman"/>
              </a:defRPr>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5. Scope of the Project</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5</a:t>
            </a:r>
          </a:p>
        </p:txBody>
      </p:sp>
      <p:sp>
        <p:nvSpPr>
          <p:cNvPr id="8" name="TextBox 7"/>
          <p:cNvSpPr txBox="1"/>
          <p:nvPr/>
        </p:nvSpPr>
        <p:spPr>
          <a:xfrm>
            <a:off x="914400" y="1325880"/>
            <a:ext cx="10332720" cy="5847755"/>
          </a:xfrm>
          <a:prstGeom prst="rect">
            <a:avLst/>
          </a:prstGeom>
          <a:noFill/>
        </p:spPr>
        <p:txBody>
          <a:bodyPr wrap="square">
            <a:spAutoFit/>
          </a:bodyPr>
          <a:lstStyle/>
          <a:p>
            <a:pPr marL="342900" indent="-342900">
              <a:spcAft>
                <a:spcPts val="1200"/>
              </a:spcAft>
              <a:buFont typeface="Arial" panose="020B0604020202020204" pitchFamily="34" charset="0"/>
              <a:buChar char="•"/>
              <a:defRPr sz="2200">
                <a:solidFill>
                  <a:srgbClr val="141414"/>
                </a:solidFill>
                <a:latin typeface="Times New Roman"/>
              </a:defRPr>
            </a:pPr>
            <a:r>
              <a:rPr lang="en-US" dirty="0"/>
              <a:t>Smart contracts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Wallet interaction</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Web interaction</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Off-chain metadata storage</a:t>
            </a:r>
          </a:p>
          <a:p>
            <a:pPr>
              <a:spcAft>
                <a:spcPts val="1200"/>
              </a:spcAft>
              <a:defRPr sz="2200">
                <a:solidFill>
                  <a:srgbClr val="141414"/>
                </a:solidFill>
                <a:latin typeface="Times New Roman"/>
              </a:defRPr>
            </a:pPr>
            <a:r>
              <a:rPr lang="en-US" b="1" dirty="0"/>
              <a:t>USER SCOPE</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Admin- Lists/manages assets and monitors transactions.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Investor/user- Views assets, purchases tokens and tracks holdings</a:t>
            </a:r>
          </a:p>
          <a:p>
            <a:pPr>
              <a:spcAft>
                <a:spcPts val="1200"/>
              </a:spcAft>
              <a:defRPr sz="2200">
                <a:solidFill>
                  <a:srgbClr val="141414"/>
                </a:solidFill>
                <a:latin typeface="Times New Roman"/>
              </a:defRPr>
            </a:pPr>
            <a:r>
              <a:rPr lang="en-US" b="1" dirty="0"/>
              <a:t>OUT OF SCOPE</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Legal transfer of physical property</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Real-world regulatory compliance</a:t>
            </a:r>
          </a:p>
          <a:p>
            <a:pPr>
              <a:spcAft>
                <a:spcPts val="1200"/>
              </a:spcAft>
              <a:defRPr sz="2200">
                <a:solidFill>
                  <a:srgbClr val="141414"/>
                </a:solidFill>
                <a:latin typeface="Times New Roman"/>
              </a:defRPr>
            </a:pPr>
            <a:endParaRPr lang="en-US" dirty="0"/>
          </a:p>
          <a:p>
            <a:pPr>
              <a:spcAft>
                <a:spcPts val="1200"/>
              </a:spcAft>
              <a:defRPr sz="2200">
                <a:solidFill>
                  <a:srgbClr val="141414"/>
                </a:solidFill>
                <a:latin typeface="Times New Roman"/>
              </a:defRPr>
            </a:pPr>
            <a:endParaRPr lang="en-US" dirty="0"/>
          </a:p>
        </p:txBody>
      </p:sp>
    </p:spTree>
    <p:extLst>
      <p:ext uri="{BB962C8B-B14F-4D97-AF65-F5344CB8AC3E}">
        <p14:creationId xmlns:p14="http://schemas.microsoft.com/office/powerpoint/2010/main" val="4270464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5. Scope of the Project</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5</a:t>
            </a:r>
          </a:p>
        </p:txBody>
      </p:sp>
      <p:sp>
        <p:nvSpPr>
          <p:cNvPr id="8" name="TextBox 7"/>
          <p:cNvSpPr txBox="1"/>
          <p:nvPr/>
        </p:nvSpPr>
        <p:spPr>
          <a:xfrm>
            <a:off x="914400" y="1325880"/>
            <a:ext cx="10332720" cy="1415772"/>
          </a:xfrm>
          <a:prstGeom prst="rect">
            <a:avLst/>
          </a:prstGeom>
          <a:noFill/>
        </p:spPr>
        <p:txBody>
          <a:bodyPr wrap="square">
            <a:spAutoFit/>
          </a:bodyPr>
          <a:lstStyle/>
          <a:p>
            <a:pPr marL="342900" indent="-342900">
              <a:spcAft>
                <a:spcPts val="1200"/>
              </a:spcAft>
              <a:buFont typeface="Arial" panose="020B0604020202020204" pitchFamily="34" charset="0"/>
              <a:buChar char="•"/>
              <a:defRPr sz="2200">
                <a:solidFill>
                  <a:srgbClr val="141414"/>
                </a:solidFill>
                <a:latin typeface="Times New Roman"/>
              </a:defRPr>
            </a:pPr>
            <a:r>
              <a:rPr lang="en-US" dirty="0"/>
              <a:t>Actual physical custody of assets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Production-scale financial transactions</a:t>
            </a:r>
          </a:p>
          <a:p>
            <a:pPr>
              <a:spcAft>
                <a:spcPts val="1200"/>
              </a:spcAft>
              <a:defRPr sz="2200">
                <a:solidFill>
                  <a:srgbClr val="141414"/>
                </a:solidFill>
                <a:latin typeface="Times New Roman"/>
              </a:defRPr>
            </a:pPr>
            <a:endParaRPr lang="en-US" dirty="0"/>
          </a:p>
        </p:txBody>
      </p:sp>
    </p:spTree>
    <p:extLst>
      <p:ext uri="{BB962C8B-B14F-4D97-AF65-F5344CB8AC3E}">
        <p14:creationId xmlns:p14="http://schemas.microsoft.com/office/powerpoint/2010/main" val="13363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6. Literature Survey</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6</a:t>
            </a:r>
          </a:p>
        </p:txBody>
      </p:sp>
      <p:graphicFrame>
        <p:nvGraphicFramePr>
          <p:cNvPr id="12" name="Table 11">
            <a:extLst>
              <a:ext uri="{FF2B5EF4-FFF2-40B4-BE49-F238E27FC236}">
                <a16:creationId xmlns:a16="http://schemas.microsoft.com/office/drawing/2014/main" id="{40894CFB-4F51-4E72-98F7-8D4CC7631BCB}"/>
              </a:ext>
            </a:extLst>
          </p:cNvPr>
          <p:cNvGraphicFramePr>
            <a:graphicFrameLocks noGrp="1"/>
          </p:cNvGraphicFramePr>
          <p:nvPr>
            <p:extLst>
              <p:ext uri="{D42A27DB-BD31-4B8C-83A1-F6EECF244321}">
                <p14:modId xmlns:p14="http://schemas.microsoft.com/office/powerpoint/2010/main" val="4143132020"/>
              </p:ext>
            </p:extLst>
          </p:nvPr>
        </p:nvGraphicFramePr>
        <p:xfrm>
          <a:off x="2032000" y="719666"/>
          <a:ext cx="8128000" cy="74168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3239264505"/>
                    </a:ext>
                  </a:extLst>
                </a:gridCol>
                <a:gridCol w="1625600">
                  <a:extLst>
                    <a:ext uri="{9D8B030D-6E8A-4147-A177-3AD203B41FA5}">
                      <a16:colId xmlns:a16="http://schemas.microsoft.com/office/drawing/2014/main" val="2084193116"/>
                    </a:ext>
                  </a:extLst>
                </a:gridCol>
                <a:gridCol w="1625600">
                  <a:extLst>
                    <a:ext uri="{9D8B030D-6E8A-4147-A177-3AD203B41FA5}">
                      <a16:colId xmlns:a16="http://schemas.microsoft.com/office/drawing/2014/main" val="610979419"/>
                    </a:ext>
                  </a:extLst>
                </a:gridCol>
                <a:gridCol w="1625600">
                  <a:extLst>
                    <a:ext uri="{9D8B030D-6E8A-4147-A177-3AD203B41FA5}">
                      <a16:colId xmlns:a16="http://schemas.microsoft.com/office/drawing/2014/main" val="1419036351"/>
                    </a:ext>
                  </a:extLst>
                </a:gridCol>
                <a:gridCol w="1625600">
                  <a:extLst>
                    <a:ext uri="{9D8B030D-6E8A-4147-A177-3AD203B41FA5}">
                      <a16:colId xmlns:a16="http://schemas.microsoft.com/office/drawing/2014/main" val="676445911"/>
                    </a:ext>
                  </a:extLst>
                </a:gridCol>
              </a:tblGrid>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0005611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566745294"/>
                  </a:ext>
                </a:extLst>
              </a:tr>
            </a:tbl>
          </a:graphicData>
        </a:graphic>
      </p:graphicFrame>
      <p:graphicFrame>
        <p:nvGraphicFramePr>
          <p:cNvPr id="27" name="Table 26">
            <a:extLst>
              <a:ext uri="{FF2B5EF4-FFF2-40B4-BE49-F238E27FC236}">
                <a16:creationId xmlns:a16="http://schemas.microsoft.com/office/drawing/2014/main" id="{09C87FB1-EA9B-4765-A4CF-31FE6CAEFAAF}"/>
              </a:ext>
            </a:extLst>
          </p:cNvPr>
          <p:cNvGraphicFramePr>
            <a:graphicFrameLocks noGrp="1"/>
          </p:cNvGraphicFramePr>
          <p:nvPr>
            <p:extLst>
              <p:ext uri="{D42A27DB-BD31-4B8C-83A1-F6EECF244321}">
                <p14:modId xmlns:p14="http://schemas.microsoft.com/office/powerpoint/2010/main" val="1480609259"/>
              </p:ext>
            </p:extLst>
          </p:nvPr>
        </p:nvGraphicFramePr>
        <p:xfrm>
          <a:off x="502920" y="1212427"/>
          <a:ext cx="11155678" cy="4896434"/>
        </p:xfrm>
        <a:graphic>
          <a:graphicData uri="http://schemas.openxmlformats.org/drawingml/2006/table">
            <a:tbl>
              <a:tblPr firstRow="1" bandRow="1">
                <a:tableStyleId>{5940675A-B579-460E-94D1-54222C63F5DA}</a:tableStyleId>
              </a:tblPr>
              <a:tblGrid>
                <a:gridCol w="1725930">
                  <a:extLst>
                    <a:ext uri="{9D8B030D-6E8A-4147-A177-3AD203B41FA5}">
                      <a16:colId xmlns:a16="http://schemas.microsoft.com/office/drawing/2014/main" val="2998361549"/>
                    </a:ext>
                  </a:extLst>
                </a:gridCol>
                <a:gridCol w="2371725">
                  <a:extLst>
                    <a:ext uri="{9D8B030D-6E8A-4147-A177-3AD203B41FA5}">
                      <a16:colId xmlns:a16="http://schemas.microsoft.com/office/drawing/2014/main" val="2849485299"/>
                    </a:ext>
                  </a:extLst>
                </a:gridCol>
                <a:gridCol w="2386013">
                  <a:extLst>
                    <a:ext uri="{9D8B030D-6E8A-4147-A177-3AD203B41FA5}">
                      <a16:colId xmlns:a16="http://schemas.microsoft.com/office/drawing/2014/main" val="58637198"/>
                    </a:ext>
                  </a:extLst>
                </a:gridCol>
                <a:gridCol w="2435971">
                  <a:extLst>
                    <a:ext uri="{9D8B030D-6E8A-4147-A177-3AD203B41FA5}">
                      <a16:colId xmlns:a16="http://schemas.microsoft.com/office/drawing/2014/main" val="3809211702"/>
                    </a:ext>
                  </a:extLst>
                </a:gridCol>
                <a:gridCol w="2236039">
                  <a:extLst>
                    <a:ext uri="{9D8B030D-6E8A-4147-A177-3AD203B41FA5}">
                      <a16:colId xmlns:a16="http://schemas.microsoft.com/office/drawing/2014/main" val="2583735734"/>
                    </a:ext>
                  </a:extLst>
                </a:gridCol>
              </a:tblGrid>
              <a:tr h="551125">
                <a:tc>
                  <a:txBody>
                    <a:bodyPr/>
                    <a:lstStyle/>
                    <a:p>
                      <a:pPr algn="ctr"/>
                      <a:r>
                        <a:rPr lang="en-US" sz="2200" b="1" dirty="0">
                          <a:latin typeface="Times New Roman" panose="02020603050405020304" pitchFamily="18" charset="0"/>
                          <a:cs typeface="Times New Roman" panose="02020603050405020304" pitchFamily="18" charset="0"/>
                        </a:rPr>
                        <a:t>Author/Year</a:t>
                      </a:r>
                    </a:p>
                  </a:txBody>
                  <a:tcPr/>
                </a:tc>
                <a:tc>
                  <a:txBody>
                    <a:bodyPr/>
                    <a:lstStyle/>
                    <a:p>
                      <a:pPr algn="ctr"/>
                      <a:r>
                        <a:rPr lang="en-US" sz="2200" b="1" dirty="0">
                          <a:latin typeface="Times New Roman" panose="02020603050405020304" pitchFamily="18" charset="0"/>
                          <a:cs typeface="Times New Roman" panose="02020603050405020304" pitchFamily="18" charset="0"/>
                        </a:rPr>
                        <a:t>Journal/Source</a:t>
                      </a:r>
                    </a:p>
                  </a:txBody>
                  <a:tcPr/>
                </a:tc>
                <a:tc>
                  <a:txBody>
                    <a:bodyPr/>
                    <a:lstStyle/>
                    <a:p>
                      <a:pPr algn="ctr"/>
                      <a:r>
                        <a:rPr lang="en-US" sz="2200" b="1" dirty="0">
                          <a:latin typeface="Times New Roman" panose="02020603050405020304" pitchFamily="18" charset="0"/>
                          <a:cs typeface="Times New Roman" panose="02020603050405020304" pitchFamily="18" charset="0"/>
                        </a:rPr>
                        <a:t>Method</a:t>
                      </a:r>
                    </a:p>
                  </a:txBody>
                  <a:tcPr/>
                </a:tc>
                <a:tc>
                  <a:txBody>
                    <a:bodyPr/>
                    <a:lstStyle/>
                    <a:p>
                      <a:pPr algn="ctr"/>
                      <a:r>
                        <a:rPr lang="en-US" sz="2200" b="1" dirty="0">
                          <a:latin typeface="Times New Roman" panose="02020603050405020304" pitchFamily="18" charset="0"/>
                          <a:cs typeface="Times New Roman" panose="02020603050405020304" pitchFamily="18" charset="0"/>
                        </a:rPr>
                        <a:t>Contribution</a:t>
                      </a:r>
                    </a:p>
                  </a:txBody>
                  <a:tcPr/>
                </a:tc>
                <a:tc>
                  <a:txBody>
                    <a:bodyPr/>
                    <a:lstStyle/>
                    <a:p>
                      <a:pPr algn="ctr"/>
                      <a:r>
                        <a:rPr lang="en-US" sz="2200" b="1" dirty="0">
                          <a:latin typeface="Times New Roman" panose="02020603050405020304" pitchFamily="18" charset="0"/>
                          <a:cs typeface="Times New Roman" panose="02020603050405020304" pitchFamily="18" charset="0"/>
                        </a:rPr>
                        <a:t>Limitation</a:t>
                      </a:r>
                    </a:p>
                  </a:txBody>
                  <a:tcPr/>
                </a:tc>
                <a:extLst>
                  <a:ext uri="{0D108BD9-81ED-4DB2-BD59-A6C34878D82A}">
                    <a16:rowId xmlns:a16="http://schemas.microsoft.com/office/drawing/2014/main" val="1805644630"/>
                  </a:ext>
                </a:extLst>
              </a:tr>
              <a:tr h="665323">
                <a:tc>
                  <a:txBody>
                    <a:bodyPr/>
                    <a:lstStyle/>
                    <a:p>
                      <a:pPr algn="ctr"/>
                      <a:r>
                        <a:rPr lang="en-US" sz="1800" dirty="0">
                          <a:latin typeface="Times New Roman" panose="02020603050405020304" pitchFamily="18" charset="0"/>
                          <a:cs typeface="Times New Roman" panose="02020603050405020304" pitchFamily="18" charset="0"/>
                        </a:rPr>
                        <a:t>Nishith Desai Associates,2025</a:t>
                      </a:r>
                    </a:p>
                  </a:txBody>
                  <a:tcPr/>
                </a:tc>
                <a:tc>
                  <a:txBody>
                    <a:bodyPr/>
                    <a:lstStyle/>
                    <a:p>
                      <a:pPr algn="ctr"/>
                      <a:r>
                        <a:rPr lang="en-US" sz="1800" dirty="0">
                          <a:latin typeface="Times New Roman" panose="02020603050405020304" pitchFamily="18" charset="0"/>
                          <a:cs typeface="Times New Roman" panose="02020603050405020304" pitchFamily="18" charset="0"/>
                        </a:rPr>
                        <a:t>Legal Framework Study</a:t>
                      </a:r>
                    </a:p>
                  </a:txBody>
                  <a:tcPr/>
                </a:tc>
                <a:tc>
                  <a:txBody>
                    <a:bodyPr/>
                    <a:lstStyle/>
                    <a:p>
                      <a:pPr algn="ctr"/>
                      <a:r>
                        <a:rPr lang="en-US" sz="1800" dirty="0">
                          <a:latin typeface="Times New Roman" panose="02020603050405020304" pitchFamily="18" charset="0"/>
                          <a:cs typeface="Times New Roman" panose="02020603050405020304" pitchFamily="18" charset="0"/>
                        </a:rPr>
                        <a:t>Comparative analysis</a:t>
                      </a:r>
                    </a:p>
                  </a:txBody>
                  <a:tcPr/>
                </a:tc>
                <a:tc>
                  <a:txBody>
                    <a:bodyPr/>
                    <a:lstStyle/>
                    <a:p>
                      <a:pPr algn="ctr"/>
                      <a:r>
                        <a:rPr lang="en-US" sz="1800" dirty="0">
                          <a:latin typeface="Times New Roman" panose="02020603050405020304" pitchFamily="18" charset="0"/>
                          <a:cs typeface="Times New Roman" panose="02020603050405020304" pitchFamily="18" charset="0"/>
                        </a:rPr>
                        <a:t>Identifies regulatory &amp; cross-border challenges</a:t>
                      </a:r>
                    </a:p>
                  </a:txBody>
                  <a:tcPr/>
                </a:tc>
                <a:tc>
                  <a:txBody>
                    <a:bodyPr/>
                    <a:lstStyle/>
                    <a:p>
                      <a:pPr algn="ctr"/>
                      <a:r>
                        <a:rPr lang="en-US" sz="1800" dirty="0">
                          <a:latin typeface="Times New Roman" panose="02020603050405020304" pitchFamily="18" charset="0"/>
                          <a:cs typeface="Times New Roman" panose="02020603050405020304" pitchFamily="18" charset="0"/>
                        </a:rPr>
                        <a:t>Regulatory complexity</a:t>
                      </a:r>
                    </a:p>
                  </a:txBody>
                  <a:tcPr/>
                </a:tc>
                <a:extLst>
                  <a:ext uri="{0D108BD9-81ED-4DB2-BD59-A6C34878D82A}">
                    <a16:rowId xmlns:a16="http://schemas.microsoft.com/office/drawing/2014/main" val="26813986"/>
                  </a:ext>
                </a:extLst>
              </a:tr>
              <a:tr h="851061">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sz="1800" dirty="0" err="1">
                          <a:latin typeface="Times New Roman" panose="02020603050405020304" pitchFamily="18" charset="0"/>
                          <a:cs typeface="Times New Roman" panose="02020603050405020304" pitchFamily="18" charset="0"/>
                        </a:rPr>
                        <a:t>Agur</a:t>
                      </a:r>
                      <a:r>
                        <a:rPr lang="en-US" sz="1800" dirty="0">
                          <a:latin typeface="Times New Roman" panose="02020603050405020304" pitchFamily="18" charset="0"/>
                          <a:cs typeface="Times New Roman" panose="02020603050405020304" pitchFamily="18" charset="0"/>
                        </a:rPr>
                        <a:t> et al.,2025</a:t>
                      </a:r>
                    </a:p>
                  </a:txBody>
                  <a:tcPr/>
                </a:tc>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Financial Market Study</a:t>
                      </a:r>
                    </a:p>
                  </a:txBody>
                  <a:tcPr/>
                </a:tc>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Theoretical Framework</a:t>
                      </a:r>
                    </a:p>
                  </a:txBody>
                  <a:tcPr/>
                </a:tc>
                <a:tc>
                  <a:txBody>
                    <a:bodyPr/>
                    <a:lstStyle/>
                    <a:p>
                      <a:pPr algn="ctr"/>
                      <a:r>
                        <a:rPr lang="en-US" sz="1800" dirty="0">
                          <a:latin typeface="Times New Roman" panose="02020603050405020304" pitchFamily="18" charset="0"/>
                          <a:cs typeface="Times New Roman" panose="02020603050405020304" pitchFamily="18" charset="0"/>
                        </a:rPr>
                        <a:t>Discusses network effects, market power &amp; systemic risks</a:t>
                      </a:r>
                    </a:p>
                  </a:txBody>
                  <a:tcPr/>
                </a:tc>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Mainly theoretical</a:t>
                      </a:r>
                    </a:p>
                  </a:txBody>
                  <a:tcPr/>
                </a:tc>
                <a:extLst>
                  <a:ext uri="{0D108BD9-81ED-4DB2-BD59-A6C34878D82A}">
                    <a16:rowId xmlns:a16="http://schemas.microsoft.com/office/drawing/2014/main" val="2267076743"/>
                  </a:ext>
                </a:extLst>
              </a:tr>
              <a:tr h="936786">
                <a:tc>
                  <a:txBody>
                    <a:bodyPr/>
                    <a:lstStyle/>
                    <a:p>
                      <a:pPr algn="ctr"/>
                      <a:r>
                        <a:rPr lang="en-US" sz="1800" dirty="0">
                          <a:latin typeface="Times New Roman" panose="02020603050405020304" pitchFamily="18" charset="0"/>
                          <a:cs typeface="Times New Roman" panose="02020603050405020304" pitchFamily="18" charset="0"/>
                        </a:rPr>
                        <a:t>World Economic Forum,2025</a:t>
                      </a:r>
                    </a:p>
                  </a:txBody>
                  <a:tcPr/>
                </a:tc>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Industry Research</a:t>
                      </a:r>
                    </a:p>
                  </a:txBody>
                  <a:tcPr/>
                </a:tc>
                <a:tc>
                  <a:txBody>
                    <a:bodyPr/>
                    <a:lstStyle/>
                    <a:p>
                      <a:pPr algn="ctr"/>
                      <a:r>
                        <a:rPr lang="en-US" sz="1800" dirty="0">
                          <a:latin typeface="Times New Roman" panose="02020603050405020304" pitchFamily="18" charset="0"/>
                          <a:cs typeface="Times New Roman" panose="02020603050405020304" pitchFamily="18" charset="0"/>
                        </a:rPr>
                        <a:t>Expert interviews &amp; workshops</a:t>
                      </a:r>
                    </a:p>
                  </a:txBody>
                  <a:tcPr/>
                </a:tc>
                <a:tc>
                  <a:txBody>
                    <a:bodyPr/>
                    <a:lstStyle/>
                    <a:p>
                      <a:pPr algn="ctr"/>
                      <a:r>
                        <a:rPr lang="en-US" sz="1800" dirty="0">
                          <a:latin typeface="Times New Roman" panose="02020603050405020304" pitchFamily="18" charset="0"/>
                          <a:cs typeface="Times New Roman" panose="02020603050405020304" pitchFamily="18" charset="0"/>
                        </a:rPr>
                        <a:t>Identifies tokenization models and ownership concepts</a:t>
                      </a:r>
                    </a:p>
                  </a:txBody>
                  <a:tcPr/>
                </a:tc>
                <a:tc>
                  <a:txBody>
                    <a:bodyPr/>
                    <a:lstStyle/>
                    <a:p>
                      <a:pPr algn="ctr"/>
                      <a:r>
                        <a:rPr lang="en-US" sz="1800" dirty="0">
                          <a:latin typeface="Times New Roman" panose="02020603050405020304" pitchFamily="18" charset="0"/>
                          <a:cs typeface="Times New Roman" panose="02020603050405020304" pitchFamily="18" charset="0"/>
                        </a:rPr>
                        <a:t>High-level industry focus</a:t>
                      </a:r>
                    </a:p>
                  </a:txBody>
                  <a:tcPr/>
                </a:tc>
                <a:extLst>
                  <a:ext uri="{0D108BD9-81ED-4DB2-BD59-A6C34878D82A}">
                    <a16:rowId xmlns:a16="http://schemas.microsoft.com/office/drawing/2014/main" val="824477715"/>
                  </a:ext>
                </a:extLst>
              </a:tr>
              <a:tr h="434416">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sz="1800" dirty="0" err="1">
                          <a:latin typeface="Times New Roman" panose="02020603050405020304" pitchFamily="18" charset="0"/>
                          <a:cs typeface="Times New Roman" panose="02020603050405020304" pitchFamily="18" charset="0"/>
                        </a:rPr>
                        <a:t>Soni</a:t>
                      </a:r>
                      <a:r>
                        <a:rPr lang="en-US" sz="1800" dirty="0">
                          <a:latin typeface="Times New Roman" panose="02020603050405020304" pitchFamily="18" charset="0"/>
                          <a:cs typeface="Times New Roman" panose="02020603050405020304" pitchFamily="18" charset="0"/>
                        </a:rPr>
                        <a:t> et al.,2025</a:t>
                      </a:r>
                    </a:p>
                  </a:txBody>
                  <a:tcPr/>
                </a:tc>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Investment Perspective</a:t>
                      </a:r>
                    </a:p>
                  </a:txBody>
                  <a:tcPr/>
                </a:tc>
                <a:tc>
                  <a:txBody>
                    <a:bodyPr/>
                    <a:lstStyle/>
                    <a:p>
                      <a:pPr algn="ctr"/>
                      <a:r>
                        <a:rPr lang="en-US" sz="1800" dirty="0">
                          <a:latin typeface="Times New Roman" panose="02020603050405020304" pitchFamily="18" charset="0"/>
                          <a:cs typeface="Times New Roman" panose="02020603050405020304" pitchFamily="18" charset="0"/>
                        </a:rPr>
                        <a:t>Case studies &amp; interviews</a:t>
                      </a:r>
                    </a:p>
                  </a:txBody>
                  <a:tcPr/>
                </a:tc>
                <a:tc>
                  <a:txBody>
                    <a:bodyPr/>
                    <a:lstStyle/>
                    <a:p>
                      <a:pPr algn="ctr"/>
                      <a:r>
                        <a:rPr lang="en-US" sz="1800" dirty="0">
                          <a:latin typeface="Times New Roman" panose="02020603050405020304" pitchFamily="18" charset="0"/>
                          <a:cs typeface="Times New Roman" panose="02020603050405020304" pitchFamily="18" charset="0"/>
                        </a:rPr>
                        <a:t>Highlights fractional ownership, efficiency &amp; transparency</a:t>
                      </a:r>
                    </a:p>
                  </a:txBody>
                  <a:tcPr/>
                </a:tc>
                <a:tc>
                  <a:txBody>
                    <a:bodyPr/>
                    <a:lstStyle/>
                    <a:p>
                      <a:pPr algn="ctr"/>
                      <a:r>
                        <a:rPr lang="en-US" sz="1800" dirty="0">
                          <a:latin typeface="Times New Roman" panose="02020603050405020304" pitchFamily="18" charset="0"/>
                          <a:cs typeface="Times New Roman" panose="02020603050405020304" pitchFamily="18" charset="0"/>
                        </a:rPr>
                        <a:t>Requires practical implementation</a:t>
                      </a:r>
                    </a:p>
                  </a:txBody>
                  <a:tcPr/>
                </a:tc>
                <a:extLst>
                  <a:ext uri="{0D108BD9-81ED-4DB2-BD59-A6C34878D82A}">
                    <a16:rowId xmlns:a16="http://schemas.microsoft.com/office/drawing/2014/main" val="1849204826"/>
                  </a:ext>
                </a:extLst>
              </a:tr>
              <a:tr h="551125">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IFSCA,2025</a:t>
                      </a:r>
                    </a:p>
                  </a:txBody>
                  <a:tcPr/>
                </a:tc>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Policy Framework</a:t>
                      </a:r>
                    </a:p>
                  </a:txBody>
                  <a:tcPr/>
                </a:tc>
                <a:tc>
                  <a:txBody>
                    <a:bodyPr/>
                    <a:lstStyle/>
                    <a:p>
                      <a:pPr algn="ct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Analytical study</a:t>
                      </a:r>
                    </a:p>
                  </a:txBody>
                  <a:tcPr/>
                </a:tc>
                <a:tc>
                  <a:txBody>
                    <a:bodyPr/>
                    <a:lstStyle/>
                    <a:p>
                      <a:pPr algn="ctr"/>
                      <a:r>
                        <a:rPr lang="en-US" sz="1800" dirty="0">
                          <a:latin typeface="Times New Roman" panose="02020603050405020304" pitchFamily="18" charset="0"/>
                          <a:cs typeface="Times New Roman" panose="02020603050405020304" pitchFamily="18" charset="0"/>
                        </a:rPr>
                        <a:t>Discusses risk management &amp; regulatory clarity</a:t>
                      </a:r>
                    </a:p>
                  </a:txBody>
                  <a:tcPr/>
                </a:tc>
                <a:tc>
                  <a:txBody>
                    <a:bodyPr/>
                    <a:lstStyle/>
                    <a:p>
                      <a:pPr algn="ctr"/>
                      <a:r>
                        <a:rPr lang="en-US" sz="1800" dirty="0">
                          <a:latin typeface="Times New Roman" panose="02020603050405020304" pitchFamily="18" charset="0"/>
                          <a:cs typeface="Times New Roman" panose="02020603050405020304" pitchFamily="18" charset="0"/>
                        </a:rPr>
                        <a:t>Regulatory  framework still evolving</a:t>
                      </a:r>
                    </a:p>
                  </a:txBody>
                  <a:tcPr/>
                </a:tc>
                <a:extLst>
                  <a:ext uri="{0D108BD9-81ED-4DB2-BD59-A6C34878D82A}">
                    <a16:rowId xmlns:a16="http://schemas.microsoft.com/office/drawing/2014/main" val="213999135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7. Existing System</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7</a:t>
            </a:r>
          </a:p>
        </p:txBody>
      </p:sp>
      <p:graphicFrame>
        <p:nvGraphicFramePr>
          <p:cNvPr id="9" name="Table 8">
            <a:extLst>
              <a:ext uri="{FF2B5EF4-FFF2-40B4-BE49-F238E27FC236}">
                <a16:creationId xmlns:a16="http://schemas.microsoft.com/office/drawing/2014/main" id="{1F38B847-27DB-42A3-AA37-0CF2559B4D74}"/>
              </a:ext>
            </a:extLst>
          </p:cNvPr>
          <p:cNvGraphicFramePr>
            <a:graphicFrameLocks noGrp="1"/>
          </p:cNvGraphicFramePr>
          <p:nvPr>
            <p:extLst>
              <p:ext uri="{D42A27DB-BD31-4B8C-83A1-F6EECF244321}">
                <p14:modId xmlns:p14="http://schemas.microsoft.com/office/powerpoint/2010/main" val="1226991256"/>
              </p:ext>
            </p:extLst>
          </p:nvPr>
        </p:nvGraphicFramePr>
        <p:xfrm>
          <a:off x="1005839" y="1428750"/>
          <a:ext cx="9766936" cy="2647950"/>
        </p:xfrm>
        <a:graphic>
          <a:graphicData uri="http://schemas.openxmlformats.org/drawingml/2006/table">
            <a:tbl>
              <a:tblPr firstRow="1" bandRow="1">
                <a:tableStyleId>{5940675A-B579-460E-94D1-54222C63F5DA}</a:tableStyleId>
              </a:tblPr>
              <a:tblGrid>
                <a:gridCol w="4883468">
                  <a:extLst>
                    <a:ext uri="{9D8B030D-6E8A-4147-A177-3AD203B41FA5}">
                      <a16:colId xmlns:a16="http://schemas.microsoft.com/office/drawing/2014/main" val="3427055591"/>
                    </a:ext>
                  </a:extLst>
                </a:gridCol>
                <a:gridCol w="4883468">
                  <a:extLst>
                    <a:ext uri="{9D8B030D-6E8A-4147-A177-3AD203B41FA5}">
                      <a16:colId xmlns:a16="http://schemas.microsoft.com/office/drawing/2014/main" val="790758003"/>
                    </a:ext>
                  </a:extLst>
                </a:gridCol>
              </a:tblGrid>
              <a:tr h="441325">
                <a:tc>
                  <a:txBody>
                    <a:bodyPr/>
                    <a:lstStyle/>
                    <a:p>
                      <a:pPr algn="ctr"/>
                      <a:r>
                        <a:rPr lang="en-US" sz="2200" b="1" dirty="0">
                          <a:latin typeface="Times New Roman" panose="02020603050405020304" pitchFamily="18" charset="0"/>
                          <a:cs typeface="Times New Roman" panose="02020603050405020304" pitchFamily="18" charset="0"/>
                        </a:rPr>
                        <a:t>Current System</a:t>
                      </a:r>
                    </a:p>
                  </a:txBody>
                  <a:tcPr/>
                </a:tc>
                <a:tc>
                  <a:txBody>
                    <a:bodyPr/>
                    <a:lstStyle/>
                    <a:p>
                      <a:pPr algn="ctr"/>
                      <a:r>
                        <a:rPr lang="en-US" sz="2200" b="1"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441108245"/>
                  </a:ext>
                </a:extLst>
              </a:tr>
              <a:tr h="441325">
                <a:tc>
                  <a:txBody>
                    <a:bodyPr/>
                    <a:lstStyle/>
                    <a:p>
                      <a:pPr algn="ctr"/>
                      <a:r>
                        <a:rPr lang="en-US" sz="2200" dirty="0">
                          <a:latin typeface="Times New Roman" panose="02020603050405020304" pitchFamily="18" charset="0"/>
                          <a:cs typeface="Times New Roman" panose="02020603050405020304" pitchFamily="18" charset="0"/>
                        </a:rPr>
                        <a:t>Traditional asset ownership</a:t>
                      </a:r>
                    </a:p>
                  </a:txBody>
                  <a:tcPr/>
                </a:tc>
                <a:tc>
                  <a:txBody>
                    <a:bodyPr/>
                    <a:lstStyle/>
                    <a:p>
                      <a:pPr algn="ctr"/>
                      <a:r>
                        <a:rPr lang="en-US" sz="2200" dirty="0">
                          <a:latin typeface="Times New Roman" panose="02020603050405020304" pitchFamily="18" charset="0"/>
                          <a:cs typeface="Times New Roman" panose="02020603050405020304" pitchFamily="18" charset="0"/>
                        </a:rPr>
                        <a:t>High capital requirement</a:t>
                      </a:r>
                    </a:p>
                  </a:txBody>
                  <a:tcPr/>
                </a:tc>
                <a:extLst>
                  <a:ext uri="{0D108BD9-81ED-4DB2-BD59-A6C34878D82A}">
                    <a16:rowId xmlns:a16="http://schemas.microsoft.com/office/drawing/2014/main" val="2663117242"/>
                  </a:ext>
                </a:extLst>
              </a:tr>
              <a:tr h="441325">
                <a:tc>
                  <a:txBody>
                    <a:bodyPr/>
                    <a:lstStyle/>
                    <a:p>
                      <a:pPr algn="ctr"/>
                      <a:r>
                        <a:rPr lang="en-US" sz="2200" dirty="0">
                          <a:latin typeface="Times New Roman" panose="02020603050405020304" pitchFamily="18" charset="0"/>
                          <a:cs typeface="Times New Roman" panose="02020603050405020304" pitchFamily="18" charset="0"/>
                        </a:rPr>
                        <a:t>Legal &amp; Administrative processes</a:t>
                      </a:r>
                    </a:p>
                  </a:txBody>
                  <a:tcPr/>
                </a:tc>
                <a:tc>
                  <a:txBody>
                    <a:bodyPr/>
                    <a:lstStyle/>
                    <a:p>
                      <a:pPr algn="ctr"/>
                      <a:r>
                        <a:rPr lang="en-US" sz="2200" dirty="0">
                          <a:latin typeface="Times New Roman" panose="02020603050405020304" pitchFamily="18" charset="0"/>
                          <a:cs typeface="Times New Roman" panose="02020603050405020304" pitchFamily="18" charset="0"/>
                        </a:rPr>
                        <a:t>Slow and costly</a:t>
                      </a:r>
                    </a:p>
                  </a:txBody>
                  <a:tcPr/>
                </a:tc>
                <a:extLst>
                  <a:ext uri="{0D108BD9-81ED-4DB2-BD59-A6C34878D82A}">
                    <a16:rowId xmlns:a16="http://schemas.microsoft.com/office/drawing/2014/main" val="1252476827"/>
                  </a:ext>
                </a:extLst>
              </a:tr>
              <a:tr h="441325">
                <a:tc>
                  <a:txBody>
                    <a:bodyPr/>
                    <a:lstStyle/>
                    <a:p>
                      <a:pPr algn="ctr"/>
                      <a:r>
                        <a:rPr lang="en-US" sz="2200" dirty="0">
                          <a:latin typeface="Times New Roman" panose="02020603050405020304" pitchFamily="18" charset="0"/>
                          <a:cs typeface="Times New Roman" panose="02020603050405020304" pitchFamily="18" charset="0"/>
                        </a:rPr>
                        <a:t>Centralized Intermediaries</a:t>
                      </a:r>
                    </a:p>
                  </a:txBody>
                  <a:tcPr/>
                </a:tc>
                <a:tc>
                  <a:txBody>
                    <a:bodyPr/>
                    <a:lstStyle/>
                    <a:p>
                      <a:pPr algn="ctr"/>
                      <a:r>
                        <a:rPr lang="en-US" sz="2200" dirty="0">
                          <a:latin typeface="Times New Roman" panose="02020603050405020304" pitchFamily="18" charset="0"/>
                          <a:cs typeface="Times New Roman" panose="02020603050405020304" pitchFamily="18" charset="0"/>
                        </a:rPr>
                        <a:t>Dependency and trust issues</a:t>
                      </a:r>
                    </a:p>
                  </a:txBody>
                  <a:tcPr/>
                </a:tc>
                <a:extLst>
                  <a:ext uri="{0D108BD9-81ED-4DB2-BD59-A6C34878D82A}">
                    <a16:rowId xmlns:a16="http://schemas.microsoft.com/office/drawing/2014/main" val="3581776170"/>
                  </a:ext>
                </a:extLst>
              </a:tr>
              <a:tr h="441325">
                <a:tc>
                  <a:txBody>
                    <a:bodyPr/>
                    <a:lstStyle/>
                    <a:p>
                      <a:pPr algn="ctr"/>
                      <a:r>
                        <a:rPr lang="en-US" sz="2200" dirty="0">
                          <a:latin typeface="Times New Roman" panose="02020603050405020304" pitchFamily="18" charset="0"/>
                          <a:cs typeface="Times New Roman" panose="02020603050405020304" pitchFamily="18" charset="0"/>
                        </a:rPr>
                        <a:t>Conventional record keeping</a:t>
                      </a:r>
                    </a:p>
                  </a:txBody>
                  <a:tcPr/>
                </a:tc>
                <a:tc>
                  <a:txBody>
                    <a:bodyPr/>
                    <a:lstStyle/>
                    <a:p>
                      <a:pPr algn="ctr"/>
                      <a:r>
                        <a:rPr lang="en-US" sz="2200" dirty="0">
                          <a:latin typeface="Times New Roman" panose="02020603050405020304" pitchFamily="18" charset="0"/>
                          <a:cs typeface="Times New Roman" panose="02020603050405020304" pitchFamily="18" charset="0"/>
                        </a:rPr>
                        <a:t>Limited transparency</a:t>
                      </a:r>
                    </a:p>
                  </a:txBody>
                  <a:tcPr/>
                </a:tc>
                <a:extLst>
                  <a:ext uri="{0D108BD9-81ED-4DB2-BD59-A6C34878D82A}">
                    <a16:rowId xmlns:a16="http://schemas.microsoft.com/office/drawing/2014/main" val="3792033807"/>
                  </a:ext>
                </a:extLst>
              </a:tr>
              <a:tr h="441325">
                <a:tc>
                  <a:txBody>
                    <a:bodyPr/>
                    <a:lstStyle/>
                    <a:p>
                      <a:pPr algn="ctr"/>
                      <a:r>
                        <a:rPr lang="en-US" sz="2200" dirty="0">
                          <a:latin typeface="Times New Roman" panose="02020603050405020304" pitchFamily="18" charset="0"/>
                          <a:cs typeface="Times New Roman" panose="02020603050405020304" pitchFamily="18" charset="0"/>
                        </a:rPr>
                        <a:t>Full-asset ownership model</a:t>
                      </a:r>
                    </a:p>
                  </a:txBody>
                  <a:tcPr/>
                </a:tc>
                <a:tc>
                  <a:txBody>
                    <a:bodyPr/>
                    <a:lstStyle/>
                    <a:p>
                      <a:pPr algn="ctr"/>
                      <a:r>
                        <a:rPr lang="en-US" sz="2200" dirty="0">
                          <a:latin typeface="Times New Roman" panose="02020603050405020304" pitchFamily="18" charset="0"/>
                          <a:cs typeface="Times New Roman" panose="02020603050405020304" pitchFamily="18" charset="0"/>
                        </a:rPr>
                        <a:t>Difficult fractional trading</a:t>
                      </a:r>
                    </a:p>
                  </a:txBody>
                  <a:tcPr/>
                </a:tc>
                <a:extLst>
                  <a:ext uri="{0D108BD9-81ED-4DB2-BD59-A6C34878D82A}">
                    <a16:rowId xmlns:a16="http://schemas.microsoft.com/office/drawing/2014/main" val="1175712280"/>
                  </a:ext>
                </a:extLst>
              </a:tr>
            </a:tbl>
          </a:graphicData>
        </a:graphic>
      </p:graphicFrame>
      <p:graphicFrame>
        <p:nvGraphicFramePr>
          <p:cNvPr id="10" name="Table 9">
            <a:extLst>
              <a:ext uri="{FF2B5EF4-FFF2-40B4-BE49-F238E27FC236}">
                <a16:creationId xmlns:a16="http://schemas.microsoft.com/office/drawing/2014/main" id="{BD8F895D-CC04-47B9-863D-9884FB656445}"/>
              </a:ext>
            </a:extLst>
          </p:cNvPr>
          <p:cNvGraphicFramePr>
            <a:graphicFrameLocks noGrp="1"/>
          </p:cNvGraphicFramePr>
          <p:nvPr>
            <p:extLst>
              <p:ext uri="{D42A27DB-BD31-4B8C-83A1-F6EECF244321}">
                <p14:modId xmlns:p14="http://schemas.microsoft.com/office/powerpoint/2010/main" val="244761162"/>
              </p:ext>
            </p:extLst>
          </p:nvPr>
        </p:nvGraphicFramePr>
        <p:xfrm>
          <a:off x="1005839" y="4076700"/>
          <a:ext cx="9766936" cy="853440"/>
        </p:xfrm>
        <a:graphic>
          <a:graphicData uri="http://schemas.openxmlformats.org/drawingml/2006/table">
            <a:tbl>
              <a:tblPr firstRow="1" bandRow="1">
                <a:tableStyleId>{5940675A-B579-460E-94D1-54222C63F5DA}</a:tableStyleId>
              </a:tblPr>
              <a:tblGrid>
                <a:gridCol w="4883468">
                  <a:extLst>
                    <a:ext uri="{9D8B030D-6E8A-4147-A177-3AD203B41FA5}">
                      <a16:colId xmlns:a16="http://schemas.microsoft.com/office/drawing/2014/main" val="1132594661"/>
                    </a:ext>
                  </a:extLst>
                </a:gridCol>
                <a:gridCol w="4883468">
                  <a:extLst>
                    <a:ext uri="{9D8B030D-6E8A-4147-A177-3AD203B41FA5}">
                      <a16:colId xmlns:a16="http://schemas.microsoft.com/office/drawing/2014/main" val="3195051765"/>
                    </a:ext>
                  </a:extLst>
                </a:gridCol>
              </a:tblGrid>
              <a:tr h="370840">
                <a:tc>
                  <a:txBody>
                    <a:bodyPr/>
                    <a:lstStyle/>
                    <a:p>
                      <a:pPr algn="ctr"/>
                      <a:r>
                        <a:rPr lang="en-US" sz="2200" dirty="0">
                          <a:latin typeface="Times New Roman" panose="02020603050405020304" pitchFamily="18" charset="0"/>
                          <a:cs typeface="Times New Roman" panose="02020603050405020304" pitchFamily="18" charset="0"/>
                        </a:rPr>
                        <a:t>Traditional trading</a:t>
                      </a:r>
                    </a:p>
                  </a:txBody>
                  <a:tcPr/>
                </a:tc>
                <a:tc>
                  <a:txBody>
                    <a:bodyPr/>
                    <a:lstStyle/>
                    <a:p>
                      <a:pPr algn="ctr"/>
                      <a:r>
                        <a:rPr lang="en-US" sz="2200" dirty="0">
                          <a:latin typeface="Times New Roman" panose="02020603050405020304" pitchFamily="18" charset="0"/>
                          <a:cs typeface="Times New Roman" panose="02020603050405020304" pitchFamily="18" charset="0"/>
                        </a:rPr>
                        <a:t> Limited liquidity</a:t>
                      </a:r>
                    </a:p>
                  </a:txBody>
                  <a:tcPr/>
                </a:tc>
                <a:extLst>
                  <a:ext uri="{0D108BD9-81ED-4DB2-BD59-A6C34878D82A}">
                    <a16:rowId xmlns:a16="http://schemas.microsoft.com/office/drawing/2014/main" val="4116250600"/>
                  </a:ext>
                </a:extLst>
              </a:tr>
              <a:tr h="370840">
                <a:tc>
                  <a:txBody>
                    <a:bodyPr/>
                    <a:lstStyle/>
                    <a:p>
                      <a:pPr algn="ctr"/>
                      <a:r>
                        <a:rPr lang="en-US" sz="2200" dirty="0">
                          <a:latin typeface="Times New Roman" panose="02020603050405020304" pitchFamily="18" charset="0"/>
                          <a:cs typeface="Times New Roman" panose="02020603050405020304" pitchFamily="18" charset="0"/>
                        </a:rPr>
                        <a:t>Centralized verification</a:t>
                      </a:r>
                    </a:p>
                  </a:txBody>
                  <a:tcPr/>
                </a:tc>
                <a:tc>
                  <a:txBody>
                    <a:bodyPr/>
                    <a:lstStyle/>
                    <a:p>
                      <a:pPr algn="ctr"/>
                      <a:r>
                        <a:rPr lang="en-US" sz="2200" dirty="0">
                          <a:latin typeface="Times New Roman" panose="02020603050405020304" pitchFamily="18" charset="0"/>
                          <a:cs typeface="Times New Roman" panose="02020603050405020304" pitchFamily="18" charset="0"/>
                        </a:rPr>
                        <a:t>Slower ownership verification</a:t>
                      </a:r>
                    </a:p>
                  </a:txBody>
                  <a:tcPr/>
                </a:tc>
                <a:extLst>
                  <a:ext uri="{0D108BD9-81ED-4DB2-BD59-A6C34878D82A}">
                    <a16:rowId xmlns:a16="http://schemas.microsoft.com/office/drawing/2014/main" val="1107832744"/>
                  </a:ext>
                </a:extLst>
              </a:tr>
            </a:tbl>
          </a:graphicData>
        </a:graphic>
      </p:graphicFrame>
      <p:sp>
        <p:nvSpPr>
          <p:cNvPr id="13" name="TextBox 12">
            <a:extLst>
              <a:ext uri="{FF2B5EF4-FFF2-40B4-BE49-F238E27FC236}">
                <a16:creationId xmlns:a16="http://schemas.microsoft.com/office/drawing/2014/main" id="{2A66DAB8-33D2-42B3-9DAE-F5F954FF3A87}"/>
              </a:ext>
            </a:extLst>
          </p:cNvPr>
          <p:cNvSpPr txBox="1"/>
          <p:nvPr/>
        </p:nvSpPr>
        <p:spPr>
          <a:xfrm>
            <a:off x="914400" y="5120616"/>
            <a:ext cx="10515600" cy="1107996"/>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Need for Improved Approach</a:t>
            </a:r>
          </a:p>
          <a:p>
            <a:r>
              <a:rPr lang="en-US" sz="2200" dirty="0">
                <a:latin typeface="Times New Roman" panose="02020603050405020304" pitchFamily="18" charset="0"/>
                <a:cs typeface="Times New Roman" panose="02020603050405020304" pitchFamily="18" charset="0"/>
              </a:rPr>
              <a:t>A blockchain-based platform is needed to enable fractional ownership+ transparent records+ secure transactions.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8. Proposed System</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8</a:t>
            </a:r>
          </a:p>
        </p:txBody>
      </p:sp>
      <p:sp>
        <p:nvSpPr>
          <p:cNvPr id="8" name="TextBox 7"/>
          <p:cNvSpPr txBox="1"/>
          <p:nvPr/>
        </p:nvSpPr>
        <p:spPr>
          <a:xfrm>
            <a:off x="914400" y="1325880"/>
            <a:ext cx="10332720" cy="4893647"/>
          </a:xfrm>
          <a:prstGeom prst="rect">
            <a:avLst/>
          </a:prstGeom>
          <a:noFill/>
        </p:spPr>
        <p:txBody>
          <a:bodyPr wrap="square">
            <a:spAutoFit/>
          </a:bodyPr>
          <a:lstStyle/>
          <a:p>
            <a:pPr>
              <a:spcAft>
                <a:spcPts val="1200"/>
              </a:spcAft>
              <a:defRPr sz="2200">
                <a:solidFill>
                  <a:srgbClr val="141414"/>
                </a:solidFill>
                <a:latin typeface="Times New Roman"/>
              </a:defRPr>
            </a:pPr>
            <a:r>
              <a:rPr lang="en-US" b="1" dirty="0"/>
              <a:t>Architecture</a:t>
            </a:r>
          </a:p>
          <a:p>
            <a:pPr algn="just">
              <a:spcAft>
                <a:spcPts val="1200"/>
              </a:spcAft>
              <a:defRPr sz="2200">
                <a:solidFill>
                  <a:srgbClr val="141414"/>
                </a:solidFill>
                <a:latin typeface="Times New Roman"/>
              </a:defRPr>
            </a:pPr>
            <a:r>
              <a:rPr lang="en-US" dirty="0"/>
              <a:t>USER → REACT.JS + METAMASK → NODE.JS/EXPRESS → SMART CONTRACT → ETHEREUM SEPOLIA → OWNERSHIP &amp; TRANSACTIONS</a:t>
            </a:r>
          </a:p>
          <a:p>
            <a:pPr algn="just">
              <a:spcAft>
                <a:spcPts val="1200"/>
              </a:spcAft>
              <a:defRPr sz="2200">
                <a:solidFill>
                  <a:srgbClr val="141414"/>
                </a:solidFill>
                <a:latin typeface="Times New Roman"/>
              </a:defRPr>
            </a:pPr>
            <a:r>
              <a:rPr lang="en-US" b="1" dirty="0"/>
              <a:t>Workflow</a:t>
            </a:r>
          </a:p>
          <a:p>
            <a:pPr algn="just">
              <a:spcAft>
                <a:spcPts val="1200"/>
              </a:spcAft>
              <a:defRPr sz="2200">
                <a:solidFill>
                  <a:srgbClr val="141414"/>
                </a:solidFill>
                <a:latin typeface="Times New Roman"/>
              </a:defRPr>
            </a:pPr>
            <a:r>
              <a:rPr lang="en-US" dirty="0"/>
              <a:t>Asset → Fractionalize → ERC-20 Token → Connect Wallet → Buy/Transfer → Validate → Blockchain → Ownership Updated</a:t>
            </a:r>
          </a:p>
          <a:p>
            <a:pPr algn="just">
              <a:spcAft>
                <a:spcPts val="1200"/>
              </a:spcAft>
              <a:defRPr sz="2200">
                <a:solidFill>
                  <a:srgbClr val="141414"/>
                </a:solidFill>
                <a:latin typeface="Times New Roman"/>
              </a:defRPr>
            </a:pPr>
            <a:r>
              <a:rPr lang="en-US" b="1" dirty="0"/>
              <a:t>Key Improvements</a:t>
            </a:r>
          </a:p>
          <a:p>
            <a:pPr algn="just">
              <a:spcAft>
                <a:spcPts val="1200"/>
              </a:spcAft>
              <a:defRPr sz="2200">
                <a:solidFill>
                  <a:srgbClr val="141414"/>
                </a:solidFill>
                <a:latin typeface="Times New Roman"/>
              </a:defRPr>
            </a:pPr>
            <a:r>
              <a:rPr lang="en-US" dirty="0"/>
              <a:t>Fractional Ownership + Transparency + Secure Transactions + Token Trading + Verifiable Ownership</a:t>
            </a:r>
          </a:p>
          <a:p>
            <a:pPr algn="just">
              <a:spcAft>
                <a:spcPts val="1200"/>
              </a:spcAft>
              <a:defRPr sz="2200">
                <a:solidFill>
                  <a:srgbClr val="141414"/>
                </a:solidFill>
                <a:latin typeface="Times New Roman"/>
              </a:defRPr>
            </a:pPr>
            <a:endParaRPr lang="en-US" dirty="0"/>
          </a:p>
          <a:p>
            <a:pPr>
              <a:spcAft>
                <a:spcPts val="1200"/>
              </a:spcAft>
              <a:defRPr sz="2200">
                <a:solidFill>
                  <a:srgbClr val="141414"/>
                </a:solidFill>
                <a:latin typeface="Times New Roman"/>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8. Proposed System</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8</a:t>
            </a:r>
          </a:p>
        </p:txBody>
      </p:sp>
      <p:graphicFrame>
        <p:nvGraphicFramePr>
          <p:cNvPr id="9" name="Table 8">
            <a:extLst>
              <a:ext uri="{FF2B5EF4-FFF2-40B4-BE49-F238E27FC236}">
                <a16:creationId xmlns:a16="http://schemas.microsoft.com/office/drawing/2014/main" id="{90A055B9-52A8-4013-B5BE-24A6717E4D24}"/>
              </a:ext>
            </a:extLst>
          </p:cNvPr>
          <p:cNvGraphicFramePr>
            <a:graphicFrameLocks noGrp="1"/>
          </p:cNvGraphicFramePr>
          <p:nvPr>
            <p:extLst>
              <p:ext uri="{D42A27DB-BD31-4B8C-83A1-F6EECF244321}">
                <p14:modId xmlns:p14="http://schemas.microsoft.com/office/powerpoint/2010/main" val="3837175557"/>
              </p:ext>
            </p:extLst>
          </p:nvPr>
        </p:nvGraphicFramePr>
        <p:xfrm>
          <a:off x="680085" y="1397602"/>
          <a:ext cx="10801350" cy="4746251"/>
        </p:xfrm>
        <a:graphic>
          <a:graphicData uri="http://schemas.openxmlformats.org/drawingml/2006/table">
            <a:tbl>
              <a:tblPr firstRow="1" bandRow="1">
                <a:tableStyleId>{5940675A-B579-460E-94D1-54222C63F5DA}</a:tableStyleId>
              </a:tblPr>
              <a:tblGrid>
                <a:gridCol w="4134803">
                  <a:extLst>
                    <a:ext uri="{9D8B030D-6E8A-4147-A177-3AD203B41FA5}">
                      <a16:colId xmlns:a16="http://schemas.microsoft.com/office/drawing/2014/main" val="3100983072"/>
                    </a:ext>
                  </a:extLst>
                </a:gridCol>
                <a:gridCol w="6666547">
                  <a:extLst>
                    <a:ext uri="{9D8B030D-6E8A-4147-A177-3AD203B41FA5}">
                      <a16:colId xmlns:a16="http://schemas.microsoft.com/office/drawing/2014/main" val="1743839276"/>
                    </a:ext>
                  </a:extLst>
                </a:gridCol>
              </a:tblGrid>
              <a:tr h="383500">
                <a:tc>
                  <a:txBody>
                    <a:bodyPr/>
                    <a:lstStyle/>
                    <a:p>
                      <a:pPr algn="ctr"/>
                      <a:r>
                        <a:rPr lang="en-US" sz="2200" b="1" dirty="0">
                          <a:latin typeface="Times New Roman" panose="02020603050405020304" pitchFamily="18" charset="0"/>
                          <a:cs typeface="Times New Roman" panose="02020603050405020304" pitchFamily="18" charset="0"/>
                        </a:rPr>
                        <a:t>Proposed System Component</a:t>
                      </a:r>
                    </a:p>
                  </a:txBody>
                  <a:tcPr/>
                </a:tc>
                <a:tc>
                  <a:txBody>
                    <a:bodyPr/>
                    <a:lstStyle/>
                    <a:p>
                      <a:pPr algn="ctr"/>
                      <a:r>
                        <a:rPr lang="en-US" sz="2200" b="1" dirty="0">
                          <a:latin typeface="Times New Roman" panose="02020603050405020304" pitchFamily="18" charset="0"/>
                          <a:cs typeface="Times New Roman" panose="02020603050405020304" pitchFamily="18" charset="0"/>
                        </a:rPr>
                        <a:t>Purpose/Improvement</a:t>
                      </a:r>
                    </a:p>
                  </a:txBody>
                  <a:tcPr/>
                </a:tc>
                <a:extLst>
                  <a:ext uri="{0D108BD9-81ED-4DB2-BD59-A6C34878D82A}">
                    <a16:rowId xmlns:a16="http://schemas.microsoft.com/office/drawing/2014/main" val="3123786170"/>
                  </a:ext>
                </a:extLst>
              </a:tr>
              <a:tr h="661931">
                <a:tc>
                  <a:txBody>
                    <a:bodyPr/>
                    <a:lstStyle/>
                    <a:p>
                      <a:pPr algn="ctr"/>
                      <a:r>
                        <a:rPr lang="en-US" sz="2200" dirty="0">
                          <a:latin typeface="Times New Roman" panose="02020603050405020304" pitchFamily="18" charset="0"/>
                          <a:cs typeface="Times New Roman" panose="02020603050405020304" pitchFamily="18" charset="0"/>
                        </a:rPr>
                        <a:t>Fractional Tokenization</a:t>
                      </a:r>
                    </a:p>
                  </a:txBody>
                  <a:tcPr/>
                </a:tc>
                <a:tc>
                  <a:txBody>
                    <a:bodyPr/>
                    <a:lstStyle/>
                    <a:p>
                      <a:pPr algn="ctr"/>
                      <a:r>
                        <a:rPr lang="en-US" sz="2200" dirty="0">
                          <a:latin typeface="Times New Roman" panose="02020603050405020304" pitchFamily="18" charset="0"/>
                          <a:cs typeface="Times New Roman" panose="02020603050405020304" pitchFamily="18" charset="0"/>
                        </a:rPr>
                        <a:t>Enables users to own smaller portions of high-value assets</a:t>
                      </a:r>
                    </a:p>
                  </a:txBody>
                  <a:tcPr/>
                </a:tc>
                <a:extLst>
                  <a:ext uri="{0D108BD9-81ED-4DB2-BD59-A6C34878D82A}">
                    <a16:rowId xmlns:a16="http://schemas.microsoft.com/office/drawing/2014/main" val="4281621310"/>
                  </a:ext>
                </a:extLst>
              </a:tr>
              <a:tr h="383500">
                <a:tc>
                  <a:txBody>
                    <a:bodyPr/>
                    <a:lstStyle/>
                    <a:p>
                      <a:pPr algn="ctr"/>
                      <a:r>
                        <a:rPr lang="en-US" sz="2200" dirty="0">
                          <a:latin typeface="Times New Roman" panose="02020603050405020304" pitchFamily="18" charset="0"/>
                          <a:cs typeface="Times New Roman" panose="02020603050405020304" pitchFamily="18" charset="0"/>
                        </a:rPr>
                        <a:t>Blockchain</a:t>
                      </a:r>
                    </a:p>
                  </a:txBody>
                  <a:tcPr/>
                </a:tc>
                <a:tc>
                  <a:txBody>
                    <a:bodyPr/>
                    <a:lstStyle/>
                    <a:p>
                      <a:pPr algn="ctr"/>
                      <a:r>
                        <a:rPr lang="en-US" sz="2200" dirty="0">
                          <a:latin typeface="Times New Roman" panose="02020603050405020304" pitchFamily="18" charset="0"/>
                          <a:cs typeface="Times New Roman" panose="02020603050405020304" pitchFamily="18" charset="0"/>
                        </a:rPr>
                        <a:t>Provides transparent and verifiable ownership records</a:t>
                      </a:r>
                    </a:p>
                  </a:txBody>
                  <a:tcPr/>
                </a:tc>
                <a:extLst>
                  <a:ext uri="{0D108BD9-81ED-4DB2-BD59-A6C34878D82A}">
                    <a16:rowId xmlns:a16="http://schemas.microsoft.com/office/drawing/2014/main" val="1840003515"/>
                  </a:ext>
                </a:extLst>
              </a:tr>
              <a:tr h="661931">
                <a:tc>
                  <a:txBody>
                    <a:bodyPr/>
                    <a:lstStyle/>
                    <a:p>
                      <a:pPr algn="ctr"/>
                      <a:r>
                        <a:rPr lang="en-US" sz="2200" dirty="0">
                          <a:latin typeface="Times New Roman" panose="02020603050405020304" pitchFamily="18" charset="0"/>
                          <a:cs typeface="Times New Roman" panose="02020603050405020304" pitchFamily="18" charset="0"/>
                        </a:rPr>
                        <a:t>Smart Contracts</a:t>
                      </a:r>
                    </a:p>
                  </a:txBody>
                  <a:tcPr/>
                </a:tc>
                <a:tc>
                  <a:txBody>
                    <a:bodyPr/>
                    <a:lstStyle/>
                    <a:p>
                      <a:pPr algn="ctr"/>
                      <a:r>
                        <a:rPr lang="en-US" sz="2200" dirty="0">
                          <a:latin typeface="Times New Roman" panose="02020603050405020304" pitchFamily="18" charset="0"/>
                          <a:cs typeface="Times New Roman" panose="02020603050405020304" pitchFamily="18" charset="0"/>
                        </a:rPr>
                        <a:t>Automates token creation, transfer and ownership management</a:t>
                      </a:r>
                    </a:p>
                  </a:txBody>
                  <a:tcPr/>
                </a:tc>
                <a:extLst>
                  <a:ext uri="{0D108BD9-81ED-4DB2-BD59-A6C34878D82A}">
                    <a16:rowId xmlns:a16="http://schemas.microsoft.com/office/drawing/2014/main" val="4045242376"/>
                  </a:ext>
                </a:extLst>
              </a:tr>
              <a:tr h="383500">
                <a:tc>
                  <a:txBody>
                    <a:bodyPr/>
                    <a:lstStyle/>
                    <a:p>
                      <a:pPr algn="ctr"/>
                      <a:r>
                        <a:rPr lang="en-US" sz="2200" dirty="0">
                          <a:latin typeface="Times New Roman" panose="02020603050405020304" pitchFamily="18" charset="0"/>
                          <a:cs typeface="Times New Roman" panose="02020603050405020304" pitchFamily="18" charset="0"/>
                        </a:rPr>
                        <a:t>React.js Frontend</a:t>
                      </a:r>
                    </a:p>
                  </a:txBody>
                  <a:tcPr/>
                </a:tc>
                <a:tc>
                  <a:txBody>
                    <a:bodyPr/>
                    <a:lstStyle/>
                    <a:p>
                      <a:pPr algn="ctr"/>
                      <a:r>
                        <a:rPr lang="en-US" sz="2200" dirty="0">
                          <a:latin typeface="Times New Roman" panose="02020603050405020304" pitchFamily="18" charset="0"/>
                          <a:cs typeface="Times New Roman" panose="02020603050405020304" pitchFamily="18" charset="0"/>
                        </a:rPr>
                        <a:t>Provides an easy-to-use platform for users</a:t>
                      </a:r>
                    </a:p>
                  </a:txBody>
                  <a:tcPr/>
                </a:tc>
                <a:extLst>
                  <a:ext uri="{0D108BD9-81ED-4DB2-BD59-A6C34878D82A}">
                    <a16:rowId xmlns:a16="http://schemas.microsoft.com/office/drawing/2014/main" val="506610046"/>
                  </a:ext>
                </a:extLst>
              </a:tr>
              <a:tr h="383500">
                <a:tc>
                  <a:txBody>
                    <a:bodyPr/>
                    <a:lstStyle/>
                    <a:p>
                      <a:pPr algn="ctr"/>
                      <a:r>
                        <a:rPr lang="en-US" sz="2200" dirty="0">
                          <a:latin typeface="Times New Roman" panose="02020603050405020304" pitchFamily="18" charset="0"/>
                          <a:cs typeface="Times New Roman" panose="02020603050405020304" pitchFamily="18" charset="0"/>
                        </a:rPr>
                        <a:t>Node.js+Express.js</a:t>
                      </a:r>
                    </a:p>
                  </a:txBody>
                  <a:tcPr/>
                </a:tc>
                <a:tc>
                  <a:txBody>
                    <a:bodyPr/>
                    <a:lstStyle/>
                    <a:p>
                      <a:pPr algn="ctr"/>
                      <a:r>
                        <a:rPr lang="en-US" sz="2200" dirty="0">
                          <a:latin typeface="Times New Roman" panose="02020603050405020304" pitchFamily="18" charset="0"/>
                          <a:cs typeface="Times New Roman" panose="02020603050405020304" pitchFamily="18" charset="0"/>
                        </a:rPr>
                        <a:t>Handles application logic and API communication</a:t>
                      </a:r>
                    </a:p>
                  </a:txBody>
                  <a:tcPr/>
                </a:tc>
                <a:extLst>
                  <a:ext uri="{0D108BD9-81ED-4DB2-BD59-A6C34878D82A}">
                    <a16:rowId xmlns:a16="http://schemas.microsoft.com/office/drawing/2014/main" val="3121591276"/>
                  </a:ext>
                </a:extLst>
              </a:tr>
              <a:tr h="661931">
                <a:tc>
                  <a:txBody>
                    <a:bodyPr/>
                    <a:lstStyle/>
                    <a:p>
                      <a:pPr algn="ctr"/>
                      <a:r>
                        <a:rPr lang="en-US" sz="2200" dirty="0">
                          <a:latin typeface="Times New Roman" panose="02020603050405020304" pitchFamily="18" charset="0"/>
                          <a:cs typeface="Times New Roman" panose="02020603050405020304" pitchFamily="18" charset="0"/>
                        </a:rPr>
                        <a:t>MongoDB</a:t>
                      </a:r>
                    </a:p>
                  </a:txBody>
                  <a:tcPr/>
                </a:tc>
                <a:tc>
                  <a:txBody>
                    <a:bodyPr/>
                    <a:lstStyle/>
                    <a:p>
                      <a:pPr algn="ctr"/>
                      <a:r>
                        <a:rPr lang="en-US" sz="2200" dirty="0">
                          <a:latin typeface="Times New Roman" panose="02020603050405020304" pitchFamily="18" charset="0"/>
                          <a:cs typeface="Times New Roman" panose="02020603050405020304" pitchFamily="18" charset="0"/>
                        </a:rPr>
                        <a:t>Stores user profiles, asset details and other off-chain data</a:t>
                      </a:r>
                    </a:p>
                  </a:txBody>
                  <a:tcPr/>
                </a:tc>
                <a:extLst>
                  <a:ext uri="{0D108BD9-81ED-4DB2-BD59-A6C34878D82A}">
                    <a16:rowId xmlns:a16="http://schemas.microsoft.com/office/drawing/2014/main" val="1172394600"/>
                  </a:ext>
                </a:extLst>
              </a:tr>
              <a:tr h="383500">
                <a:tc>
                  <a:txBody>
                    <a:bodyPr/>
                    <a:lstStyle/>
                    <a:p>
                      <a:pPr algn="ctr"/>
                      <a:r>
                        <a:rPr lang="en-US" sz="2200" dirty="0" err="1">
                          <a:latin typeface="Times New Roman" panose="02020603050405020304" pitchFamily="18" charset="0"/>
                          <a:cs typeface="Times New Roman" panose="02020603050405020304" pitchFamily="18" charset="0"/>
                        </a:rPr>
                        <a:t>MetaMask</a:t>
                      </a:r>
                      <a:r>
                        <a:rPr lang="en-US" sz="2200" dirty="0">
                          <a:latin typeface="Times New Roman" panose="02020603050405020304" pitchFamily="18" charset="0"/>
                          <a:cs typeface="Times New Roman" panose="02020603050405020304" pitchFamily="18" charset="0"/>
                        </a:rPr>
                        <a:t> Wallet</a:t>
                      </a:r>
                    </a:p>
                  </a:txBody>
                  <a:tcPr/>
                </a:tc>
                <a:tc>
                  <a:txBody>
                    <a:bodyPr/>
                    <a:lstStyle/>
                    <a:p>
                      <a:pPr algn="ctr"/>
                      <a:r>
                        <a:rPr lang="en-US" sz="2200" dirty="0">
                          <a:latin typeface="Times New Roman" panose="02020603050405020304" pitchFamily="18" charset="0"/>
                          <a:cs typeface="Times New Roman" panose="02020603050405020304" pitchFamily="18" charset="0"/>
                        </a:rPr>
                        <a:t>Connects user wallets and authorizes transactions</a:t>
                      </a:r>
                    </a:p>
                  </a:txBody>
                  <a:tcPr/>
                </a:tc>
                <a:extLst>
                  <a:ext uri="{0D108BD9-81ED-4DB2-BD59-A6C34878D82A}">
                    <a16:rowId xmlns:a16="http://schemas.microsoft.com/office/drawing/2014/main" val="3738887261"/>
                  </a:ext>
                </a:extLst>
              </a:tr>
              <a:tr h="383500">
                <a:tc>
                  <a:txBody>
                    <a:bodyPr/>
                    <a:lstStyle/>
                    <a:p>
                      <a:pPr algn="ctr"/>
                      <a:r>
                        <a:rPr lang="en-US" sz="2200" dirty="0">
                          <a:latin typeface="Times New Roman" panose="02020603050405020304" pitchFamily="18" charset="0"/>
                          <a:cs typeface="Times New Roman" panose="02020603050405020304" pitchFamily="18" charset="0"/>
                        </a:rPr>
                        <a:t>AMM/order book</a:t>
                      </a:r>
                    </a:p>
                  </a:txBody>
                  <a:tcPr/>
                </a:tc>
                <a:tc>
                  <a:txBody>
                    <a:bodyPr/>
                    <a:lstStyle/>
                    <a:p>
                      <a:pPr algn="ctr"/>
                      <a:r>
                        <a:rPr lang="en-US" sz="2200" dirty="0">
                          <a:latin typeface="Times New Roman" panose="02020603050405020304" pitchFamily="18" charset="0"/>
                          <a:cs typeface="Times New Roman" panose="02020603050405020304" pitchFamily="18" charset="0"/>
                        </a:rPr>
                        <a:t>Supports buying, selling and trading of asset tokens</a:t>
                      </a:r>
                    </a:p>
                  </a:txBody>
                  <a:tcPr/>
                </a:tc>
                <a:extLst>
                  <a:ext uri="{0D108BD9-81ED-4DB2-BD59-A6C34878D82A}">
                    <a16:rowId xmlns:a16="http://schemas.microsoft.com/office/drawing/2014/main" val="2512406749"/>
                  </a:ext>
                </a:extLst>
              </a:tr>
            </a:tbl>
          </a:graphicData>
        </a:graphic>
      </p:graphicFrame>
    </p:spTree>
    <p:extLst>
      <p:ext uri="{BB962C8B-B14F-4D97-AF65-F5344CB8AC3E}">
        <p14:creationId xmlns:p14="http://schemas.microsoft.com/office/powerpoint/2010/main" val="1352663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9. System Requirements</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9</a:t>
            </a:r>
          </a:p>
        </p:txBody>
      </p:sp>
      <p:sp>
        <p:nvSpPr>
          <p:cNvPr id="8" name="TextBox 7"/>
          <p:cNvSpPr txBox="1"/>
          <p:nvPr/>
        </p:nvSpPr>
        <p:spPr>
          <a:xfrm>
            <a:off x="914400" y="1325880"/>
            <a:ext cx="10332720" cy="4616648"/>
          </a:xfrm>
          <a:prstGeom prst="rect">
            <a:avLst/>
          </a:prstGeom>
          <a:noFill/>
        </p:spPr>
        <p:txBody>
          <a:bodyPr wrap="square">
            <a:spAutoFit/>
          </a:bodyPr>
          <a:lstStyle/>
          <a:p>
            <a:pPr>
              <a:spcAft>
                <a:spcPts val="1200"/>
              </a:spcAft>
              <a:defRPr sz="2200">
                <a:solidFill>
                  <a:srgbClr val="141414"/>
                </a:solidFill>
                <a:latin typeface="Times New Roman"/>
              </a:defRPr>
            </a:pPr>
            <a:r>
              <a:rPr b="1" dirty="0"/>
              <a:t>• Hardware requirements </a:t>
            </a:r>
            <a:r>
              <a:rPr dirty="0"/>
              <a:t>–</a:t>
            </a:r>
            <a:r>
              <a:rPr lang="en-US" dirty="0"/>
              <a:t> Intel i5 or equivalent, Minimum 8 GB RAM,256 GB SSD or higher, Stable Internet connection.</a:t>
            </a:r>
          </a:p>
          <a:p>
            <a:pPr>
              <a:spcAft>
                <a:spcPts val="1200"/>
              </a:spcAft>
              <a:defRPr sz="2200">
                <a:solidFill>
                  <a:srgbClr val="141414"/>
                </a:solidFill>
                <a:latin typeface="Times New Roman"/>
              </a:defRPr>
            </a:pPr>
            <a:r>
              <a:rPr dirty="0"/>
              <a:t>• </a:t>
            </a:r>
            <a:r>
              <a:rPr b="1" dirty="0"/>
              <a:t>Software requirements </a:t>
            </a:r>
            <a:r>
              <a:rPr lang="en-US" dirty="0"/>
              <a:t>–  React.js ,Node.js, Express.js, Next.js, Tailwind CSS, JavaScript  Solidity, Hardhat, </a:t>
            </a:r>
            <a:r>
              <a:rPr lang="en-US" dirty="0" err="1"/>
              <a:t>OpenZeppelin</a:t>
            </a:r>
            <a:r>
              <a:rPr lang="en-US" dirty="0"/>
              <a:t>(for blockchain dev tools),ethers.js(frontend blockchain integration), </a:t>
            </a:r>
            <a:r>
              <a:rPr lang="en-US" dirty="0" err="1"/>
              <a:t>JWT,Multer</a:t>
            </a:r>
            <a:r>
              <a:rPr lang="en-US" dirty="0"/>
              <a:t>.</a:t>
            </a:r>
            <a:endParaRPr lang="en-IN" dirty="0"/>
          </a:p>
          <a:p>
            <a:pPr>
              <a:spcAft>
                <a:spcPts val="1200"/>
              </a:spcAft>
              <a:defRPr sz="2200">
                <a:solidFill>
                  <a:srgbClr val="141414"/>
                </a:solidFill>
                <a:latin typeface="Times New Roman"/>
              </a:defRPr>
            </a:pPr>
            <a:r>
              <a:rPr dirty="0"/>
              <a:t>• </a:t>
            </a:r>
            <a:r>
              <a:rPr b="1" dirty="0"/>
              <a:t>Database/cloud/network requirements</a:t>
            </a:r>
            <a:r>
              <a:rPr lang="en-US" b="1" dirty="0"/>
              <a:t> </a:t>
            </a:r>
            <a:r>
              <a:rPr lang="en-US" dirty="0"/>
              <a:t>– MongoDB, Mongoose, MongoDB Atlas(Cloud DB), </a:t>
            </a:r>
            <a:r>
              <a:rPr lang="en-US" dirty="0" err="1"/>
              <a:t>Infura</a:t>
            </a:r>
            <a:r>
              <a:rPr lang="en-US" dirty="0"/>
              <a:t> RPC Node(Blockchain-as-a-Service), </a:t>
            </a:r>
            <a:r>
              <a:rPr lang="en-US" dirty="0" err="1"/>
              <a:t>Sepolia</a:t>
            </a:r>
            <a:r>
              <a:rPr lang="en-US" dirty="0"/>
              <a:t> </a:t>
            </a:r>
            <a:r>
              <a:rPr lang="en-US" dirty="0" err="1"/>
              <a:t>Testnet</a:t>
            </a:r>
            <a:r>
              <a:rPr lang="en-US" dirty="0"/>
              <a:t>(Decentralized Ledger), ERC-20/Smart contracts(core blockchain ledger functionality).</a:t>
            </a:r>
            <a:endParaRPr dirty="0"/>
          </a:p>
          <a:p>
            <a:pPr>
              <a:spcAft>
                <a:spcPts val="1200"/>
              </a:spcAft>
              <a:defRPr sz="2200">
                <a:solidFill>
                  <a:srgbClr val="141414"/>
                </a:solidFill>
                <a:latin typeface="Times New Roman"/>
              </a:defRPr>
            </a:pPr>
            <a:r>
              <a:rPr dirty="0"/>
              <a:t>• </a:t>
            </a:r>
            <a:r>
              <a:rPr b="1" dirty="0"/>
              <a:t>Development and deployment environment</a:t>
            </a:r>
            <a:r>
              <a:rPr lang="en-US" b="1" dirty="0"/>
              <a:t> </a:t>
            </a:r>
            <a:r>
              <a:rPr lang="en-US" dirty="0"/>
              <a:t>–  </a:t>
            </a:r>
            <a:r>
              <a:rPr lang="en-US" dirty="0" err="1"/>
              <a:t>Vercel</a:t>
            </a:r>
            <a:r>
              <a:rPr lang="en-US" dirty="0"/>
              <a:t> / </a:t>
            </a:r>
            <a:r>
              <a:rPr lang="en-US" dirty="0" err="1"/>
              <a:t>Netlify</a:t>
            </a:r>
            <a:r>
              <a:rPr lang="en-US" dirty="0"/>
              <a:t> (Frontend hosting), Render / </a:t>
            </a:r>
            <a:r>
              <a:rPr lang="en-US" dirty="0" err="1"/>
              <a:t>Vercel</a:t>
            </a:r>
            <a:r>
              <a:rPr lang="en-US" dirty="0"/>
              <a:t> Serverless (Backend hosting), AMC Engineering College(Project environment context).</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10. System Architecture</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10</a:t>
            </a:r>
          </a:p>
        </p:txBody>
      </p:sp>
      <p:sp>
        <p:nvSpPr>
          <p:cNvPr id="8" name="TextBox 7"/>
          <p:cNvSpPr txBox="1"/>
          <p:nvPr/>
        </p:nvSpPr>
        <p:spPr>
          <a:xfrm>
            <a:off x="914400" y="1325880"/>
            <a:ext cx="10332720" cy="5201424"/>
          </a:xfrm>
          <a:prstGeom prst="rect">
            <a:avLst/>
          </a:prstGeom>
          <a:noFill/>
        </p:spPr>
        <p:txBody>
          <a:bodyPr wrap="square">
            <a:spAutoFit/>
          </a:bodyPr>
          <a:lstStyle/>
          <a:p>
            <a:pPr marL="457200" indent="-457200">
              <a:spcAft>
                <a:spcPts val="1200"/>
              </a:spcAft>
              <a:buAutoNum type="arabicPeriod"/>
              <a:defRPr sz="2200">
                <a:solidFill>
                  <a:srgbClr val="141414"/>
                </a:solidFill>
                <a:latin typeface="Times New Roman"/>
              </a:defRPr>
            </a:pPr>
            <a:r>
              <a:rPr b="1" dirty="0"/>
              <a:t>Input/data acquisition layer</a:t>
            </a:r>
            <a:endParaRPr lang="en-US" b="1" dirty="0"/>
          </a:p>
          <a:p>
            <a:pPr marL="342900" indent="-342900">
              <a:spcAft>
                <a:spcPts val="1200"/>
              </a:spcAft>
              <a:buFont typeface="Arial" panose="020B0604020202020204" pitchFamily="34" charset="0"/>
              <a:buChar char="•"/>
              <a:defRPr sz="2200">
                <a:solidFill>
                  <a:srgbClr val="141414"/>
                </a:solidFill>
                <a:latin typeface="Times New Roman"/>
              </a:defRPr>
            </a:pPr>
            <a:r>
              <a:rPr lang="en-US" dirty="0"/>
              <a:t>User Interface (React.js, Next.js, Tailwind CSS)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err="1"/>
              <a:t>MetaMask</a:t>
            </a:r>
            <a:r>
              <a:rPr lang="en-US" dirty="0"/>
              <a:t> wallet authorization for blockchain access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API requests initiated via ethers.js</a:t>
            </a:r>
          </a:p>
          <a:p>
            <a:pPr>
              <a:spcAft>
                <a:spcPts val="1200"/>
              </a:spcAft>
              <a:defRPr sz="2200">
                <a:solidFill>
                  <a:srgbClr val="141414"/>
                </a:solidFill>
                <a:latin typeface="Times New Roman"/>
              </a:defRPr>
            </a:pPr>
            <a:r>
              <a:rPr lang="en-US" b="1" dirty="0"/>
              <a:t>2.  Pre-processing &amp; Feature Extraction Layer</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JWT authentication for secure user sessions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Validation of inputs (form data, transaction requests)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Conversion of frontend actions into blockchain-compatible formats (Solidity contract calls)</a:t>
            </a:r>
          </a:p>
          <a:p>
            <a:pPr>
              <a:spcAft>
                <a:spcPts val="1200"/>
              </a:spcAft>
              <a:defRPr sz="2200">
                <a:solidFill>
                  <a:srgbClr val="141414"/>
                </a:solidFill>
                <a:latin typeface="Times New Roman"/>
              </a:defRPr>
            </a:pPr>
            <a:r>
              <a:rPr lang="en-US" b="1" dirty="0"/>
              <a:t>3. Core Processing / Algorithm Layer</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Backend Server (Node.js, Express.js) handles business logics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10. System Architecture</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10</a:t>
            </a:r>
          </a:p>
        </p:txBody>
      </p:sp>
      <p:sp>
        <p:nvSpPr>
          <p:cNvPr id="8" name="TextBox 7"/>
          <p:cNvSpPr txBox="1"/>
          <p:nvPr/>
        </p:nvSpPr>
        <p:spPr>
          <a:xfrm>
            <a:off x="914400" y="1325880"/>
            <a:ext cx="10332720" cy="4862870"/>
          </a:xfrm>
          <a:prstGeom prst="rect">
            <a:avLst/>
          </a:prstGeom>
          <a:noFill/>
        </p:spPr>
        <p:txBody>
          <a:bodyPr wrap="square">
            <a:spAutoFit/>
          </a:bodyPr>
          <a:lstStyle/>
          <a:p>
            <a:pPr marL="342900" indent="-342900">
              <a:spcAft>
                <a:spcPts val="1200"/>
              </a:spcAft>
              <a:buFont typeface="Arial" panose="020B0604020202020204" pitchFamily="34" charset="0"/>
              <a:buChar char="•"/>
              <a:defRPr sz="2200">
                <a:solidFill>
                  <a:srgbClr val="141414"/>
                </a:solidFill>
                <a:latin typeface="Times New Roman"/>
              </a:defRPr>
            </a:pPr>
            <a:r>
              <a:rPr lang="en-US" dirty="0"/>
              <a:t>Smart contract executes tokenization rules using Solidity + Hardhat + </a:t>
            </a:r>
            <a:r>
              <a:rPr lang="en-US" dirty="0" err="1"/>
              <a:t>OpenZeppelin</a:t>
            </a:r>
            <a:endParaRPr lang="en-US" dirty="0"/>
          </a:p>
          <a:p>
            <a:pPr marL="342900" indent="-342900">
              <a:spcAft>
                <a:spcPts val="1200"/>
              </a:spcAft>
              <a:buFont typeface="Arial" panose="020B0604020202020204" pitchFamily="34" charset="0"/>
              <a:buChar char="•"/>
              <a:defRPr sz="2200">
                <a:solidFill>
                  <a:srgbClr val="141414"/>
                </a:solidFill>
                <a:latin typeface="Times New Roman"/>
              </a:defRPr>
            </a:pPr>
            <a:r>
              <a:rPr lang="en-US" dirty="0"/>
              <a:t>ERC‑20  standard ensures interoperability and token consistency</a:t>
            </a:r>
          </a:p>
          <a:p>
            <a:pPr>
              <a:spcAft>
                <a:spcPts val="1200"/>
              </a:spcAft>
              <a:defRPr sz="2200">
                <a:solidFill>
                  <a:srgbClr val="141414"/>
                </a:solidFill>
                <a:latin typeface="Times New Roman"/>
              </a:defRPr>
            </a:pPr>
            <a:r>
              <a:rPr lang="en-US" b="1" dirty="0"/>
              <a:t>4. Database / Storage Layer</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MongoDB + Mongoose for structured data storage (user profiles, metadata)</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MongoDB Atlas for scalable cloud storage</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Ethereum </a:t>
            </a:r>
            <a:r>
              <a:rPr lang="en-US" dirty="0" err="1"/>
              <a:t>Sepolia</a:t>
            </a:r>
            <a:r>
              <a:rPr lang="en-US" dirty="0"/>
              <a:t> </a:t>
            </a:r>
            <a:r>
              <a:rPr lang="en-US" dirty="0" err="1"/>
              <a:t>Testnet</a:t>
            </a:r>
            <a:r>
              <a:rPr lang="en-US" dirty="0"/>
              <a:t> for immutable blockchain records</a:t>
            </a:r>
          </a:p>
          <a:p>
            <a:pPr>
              <a:spcAft>
                <a:spcPts val="1200"/>
              </a:spcAft>
              <a:defRPr sz="2200">
                <a:solidFill>
                  <a:srgbClr val="141414"/>
                </a:solidFill>
                <a:latin typeface="Times New Roman"/>
              </a:defRPr>
            </a:pPr>
            <a:r>
              <a:rPr lang="en-US" b="1" dirty="0"/>
              <a:t>5. Application / Output / Presentation Layer</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Frontend deployment on </a:t>
            </a:r>
            <a:r>
              <a:rPr lang="en-US" dirty="0" err="1"/>
              <a:t>Vercel</a:t>
            </a:r>
            <a:r>
              <a:rPr lang="en-US" dirty="0"/>
              <a:t> / </a:t>
            </a:r>
            <a:r>
              <a:rPr lang="en-US" dirty="0" err="1"/>
              <a:t>Netlify</a:t>
            </a:r>
            <a:endParaRPr lang="en-US" dirty="0"/>
          </a:p>
          <a:p>
            <a:pPr marL="342900" indent="-342900">
              <a:spcAft>
                <a:spcPts val="1200"/>
              </a:spcAft>
              <a:buFont typeface="Arial" panose="020B0604020202020204" pitchFamily="34" charset="0"/>
              <a:buChar char="•"/>
              <a:defRPr sz="2200">
                <a:solidFill>
                  <a:srgbClr val="141414"/>
                </a:solidFill>
                <a:latin typeface="Times New Roman"/>
              </a:defRPr>
            </a:pPr>
            <a:r>
              <a:rPr lang="en-US" dirty="0"/>
              <a:t>Backend hosting on Render / </a:t>
            </a:r>
            <a:r>
              <a:rPr lang="en-US" dirty="0" err="1"/>
              <a:t>Vercel</a:t>
            </a:r>
            <a:r>
              <a:rPr lang="en-US" dirty="0"/>
              <a:t> Serverless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Output to users: dashboards, transaction confirmations, token balances, analytics.</a:t>
            </a:r>
          </a:p>
        </p:txBody>
      </p:sp>
    </p:spTree>
    <p:extLst>
      <p:ext uri="{BB962C8B-B14F-4D97-AF65-F5344CB8AC3E}">
        <p14:creationId xmlns:p14="http://schemas.microsoft.com/office/powerpoint/2010/main" val="800815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10. System Architecture</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10</a:t>
            </a:r>
          </a:p>
        </p:txBody>
      </p:sp>
      <p:sp>
        <p:nvSpPr>
          <p:cNvPr id="8" name="TextBox 7"/>
          <p:cNvSpPr txBox="1"/>
          <p:nvPr/>
        </p:nvSpPr>
        <p:spPr>
          <a:xfrm>
            <a:off x="914400" y="1325880"/>
            <a:ext cx="10332720" cy="430887"/>
          </a:xfrm>
          <a:prstGeom prst="rect">
            <a:avLst/>
          </a:prstGeom>
          <a:noFill/>
        </p:spPr>
        <p:txBody>
          <a:bodyPr wrap="square">
            <a:spAutoFit/>
          </a:bodyPr>
          <a:lstStyle/>
          <a:p>
            <a:pPr>
              <a:spcAft>
                <a:spcPts val="1200"/>
              </a:spcAft>
              <a:defRPr sz="2200">
                <a:solidFill>
                  <a:srgbClr val="141414"/>
                </a:solidFill>
                <a:latin typeface="Times New Roman"/>
              </a:defRPr>
            </a:pPr>
            <a:endParaRPr lang="en-US" dirty="0"/>
          </a:p>
        </p:txBody>
      </p:sp>
      <p:pic>
        <p:nvPicPr>
          <p:cNvPr id="9" name="Picture 8">
            <a:extLst>
              <a:ext uri="{FF2B5EF4-FFF2-40B4-BE49-F238E27FC236}">
                <a16:creationId xmlns:a16="http://schemas.microsoft.com/office/drawing/2014/main" id="{A6B4C987-5DDB-578D-EB6C-FAFAF1CA082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31449" y="1345085"/>
            <a:ext cx="7451179" cy="4968000"/>
          </a:xfrm>
          <a:prstGeom prst="rect">
            <a:avLst/>
          </a:prstGeom>
          <a:noFill/>
          <a:ln>
            <a:noFill/>
          </a:ln>
        </p:spPr>
      </p:pic>
    </p:spTree>
    <p:extLst>
      <p:ext uri="{BB962C8B-B14F-4D97-AF65-F5344CB8AC3E}">
        <p14:creationId xmlns:p14="http://schemas.microsoft.com/office/powerpoint/2010/main" val="1006106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11. Methodology</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11</a:t>
            </a:r>
          </a:p>
        </p:txBody>
      </p:sp>
      <p:sp>
        <p:nvSpPr>
          <p:cNvPr id="8" name="TextBox 7"/>
          <p:cNvSpPr txBox="1"/>
          <p:nvPr/>
        </p:nvSpPr>
        <p:spPr>
          <a:xfrm>
            <a:off x="914400" y="1183541"/>
            <a:ext cx="10332720" cy="5262979"/>
          </a:xfrm>
          <a:prstGeom prst="rect">
            <a:avLst/>
          </a:prstGeom>
          <a:noFill/>
        </p:spPr>
        <p:txBody>
          <a:bodyPr wrap="square">
            <a:spAutoFit/>
          </a:bodyPr>
          <a:lstStyle/>
          <a:p>
            <a:pPr marL="342900" indent="-342900">
              <a:spcAft>
                <a:spcPts val="1200"/>
              </a:spcAft>
              <a:buFont typeface="Arial" panose="020B0604020202020204" pitchFamily="34" charset="0"/>
              <a:buChar char="•"/>
              <a:defRPr sz="2200">
                <a:solidFill>
                  <a:srgbClr val="141414"/>
                </a:solidFill>
                <a:latin typeface="Times New Roman"/>
              </a:defRPr>
            </a:pPr>
            <a:r>
              <a:rPr dirty="0"/>
              <a:t> </a:t>
            </a:r>
            <a:r>
              <a:rPr b="1" dirty="0"/>
              <a:t>Step 1 – Data/input collection.</a:t>
            </a:r>
            <a:endParaRPr lang="en-US" b="1" dirty="0"/>
          </a:p>
          <a:p>
            <a:pPr algn="just">
              <a:spcAft>
                <a:spcPts val="1200"/>
              </a:spcAft>
              <a:defRPr sz="2200">
                <a:solidFill>
                  <a:srgbClr val="141414"/>
                </a:solidFill>
                <a:latin typeface="Times New Roman"/>
              </a:defRPr>
            </a:pPr>
            <a:r>
              <a:rPr lang="en-US" dirty="0"/>
              <a:t>Identify the limitations of traditional asset ownership. Collect asset details such as asset name, description, value and ownership information. Define the requirements for fractional ownership and tokenization. Identify the required user and transaction information.</a:t>
            </a:r>
          </a:p>
          <a:p>
            <a:pPr marL="342900" indent="-342900">
              <a:spcAft>
                <a:spcPts val="1200"/>
              </a:spcAft>
              <a:buFont typeface="Arial" panose="020B0604020202020204" pitchFamily="34" charset="0"/>
              <a:buChar char="•"/>
              <a:defRPr sz="2200">
                <a:solidFill>
                  <a:srgbClr val="141414"/>
                </a:solidFill>
                <a:latin typeface="Times New Roman"/>
              </a:defRPr>
            </a:pPr>
            <a:r>
              <a:rPr lang="en-US" b="1" dirty="0"/>
              <a:t>Step 2 – Pre-processing and Preparation</a:t>
            </a:r>
          </a:p>
          <a:p>
            <a:pPr algn="just">
              <a:spcAft>
                <a:spcPts val="1200"/>
              </a:spcAft>
              <a:defRPr sz="2200">
                <a:solidFill>
                  <a:srgbClr val="141414"/>
                </a:solidFill>
                <a:latin typeface="Times New Roman"/>
              </a:defRPr>
            </a:pPr>
            <a:r>
              <a:rPr lang="en-US" dirty="0"/>
              <a:t>Organize and prepare the collected asset information. Design the system architecture with Frontend, Backend, Database, Blockchain and Wallet. Store application-related information in MongoDB. Prepare the asset for tokenization by dividing it into smaller ownership units.</a:t>
            </a:r>
          </a:p>
          <a:p>
            <a:pPr marL="342900" indent="-342900">
              <a:spcAft>
                <a:spcPts val="1200"/>
              </a:spcAft>
              <a:buFont typeface="Arial" panose="020B0604020202020204" pitchFamily="34" charset="0"/>
              <a:buChar char="•"/>
              <a:defRPr sz="2200">
                <a:solidFill>
                  <a:srgbClr val="141414"/>
                </a:solidFill>
                <a:latin typeface="Times New Roman"/>
              </a:defRPr>
            </a:pPr>
            <a:r>
              <a:rPr lang="en-US" b="1" dirty="0"/>
              <a:t>Step 3 –Algorithm/Model Development</a:t>
            </a:r>
          </a:p>
          <a:p>
            <a:pPr algn="just">
              <a:spcAft>
                <a:spcPts val="1200"/>
              </a:spcAft>
              <a:defRPr sz="2200">
                <a:solidFill>
                  <a:srgbClr val="141414"/>
                </a:solidFill>
                <a:latin typeface="Times New Roman"/>
              </a:defRPr>
            </a:pPr>
            <a:r>
              <a:rPr lang="en-US" dirty="0"/>
              <a:t>Develop Solidity smart contracts for asset tokenization. Use the ERC-20 token standard to represent fractional ownership. Implement token creation, transfer and ownership </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11. Methodology</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11</a:t>
            </a:r>
          </a:p>
        </p:txBody>
      </p:sp>
      <p:sp>
        <p:nvSpPr>
          <p:cNvPr id="8" name="TextBox 7"/>
          <p:cNvSpPr txBox="1"/>
          <p:nvPr/>
        </p:nvSpPr>
        <p:spPr>
          <a:xfrm>
            <a:off x="914400" y="1325880"/>
            <a:ext cx="10332720" cy="4739759"/>
          </a:xfrm>
          <a:prstGeom prst="rect">
            <a:avLst/>
          </a:prstGeom>
          <a:noFill/>
        </p:spPr>
        <p:txBody>
          <a:bodyPr wrap="square">
            <a:spAutoFit/>
          </a:bodyPr>
          <a:lstStyle/>
          <a:p>
            <a:pPr algn="just">
              <a:spcAft>
                <a:spcPts val="1200"/>
              </a:spcAft>
              <a:defRPr sz="2200">
                <a:solidFill>
                  <a:srgbClr val="141414"/>
                </a:solidFill>
                <a:latin typeface="Times New Roman"/>
              </a:defRPr>
            </a:pPr>
            <a:r>
              <a:rPr lang="en-US" dirty="0"/>
              <a:t>Management. Implement trading mechanisms such as AMM and order book. Test and compile smart contracts using Hardhat/Remix.</a:t>
            </a:r>
          </a:p>
          <a:p>
            <a:pPr marL="342900" indent="-342900">
              <a:spcAft>
                <a:spcPts val="1200"/>
              </a:spcAft>
              <a:buFont typeface="Arial" panose="020B0604020202020204" pitchFamily="34" charset="0"/>
              <a:buChar char="•"/>
              <a:defRPr sz="2200">
                <a:solidFill>
                  <a:srgbClr val="141414"/>
                </a:solidFill>
                <a:latin typeface="Times New Roman"/>
              </a:defRPr>
            </a:pPr>
            <a:r>
              <a:rPr lang="en-US" b="1" dirty="0"/>
              <a:t>Step 4 – Integration and Implementation</a:t>
            </a:r>
          </a:p>
          <a:p>
            <a:pPr algn="just">
              <a:spcAft>
                <a:spcPts val="1200"/>
              </a:spcAft>
              <a:defRPr sz="2200">
                <a:solidFill>
                  <a:srgbClr val="141414"/>
                </a:solidFill>
                <a:latin typeface="Times New Roman"/>
              </a:defRPr>
            </a:pPr>
            <a:r>
              <a:rPr lang="en-US" dirty="0"/>
              <a:t>Develop the frontend using React.js. Develop backend services using Node.js and Express.js .Integrate MongoDB for off-chain data. Connect </a:t>
            </a:r>
            <a:r>
              <a:rPr lang="en-US" dirty="0" err="1"/>
              <a:t>MetaMask</a:t>
            </a:r>
            <a:r>
              <a:rPr lang="en-US" dirty="0"/>
              <a:t> for wallet authentication and transaction approval. Connect smart contracts with the Ethereum </a:t>
            </a:r>
            <a:r>
              <a:rPr lang="en-US" dirty="0" err="1"/>
              <a:t>Sepolia</a:t>
            </a:r>
            <a:r>
              <a:rPr lang="en-US" dirty="0"/>
              <a:t> test network. Integrate all components into one working platform.</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b="1" dirty="0"/>
              <a:t>Step 5 –  Testing and Evaluation</a:t>
            </a:r>
          </a:p>
          <a:p>
            <a:pPr algn="just">
              <a:spcAft>
                <a:spcPts val="1200"/>
              </a:spcAft>
              <a:defRPr sz="2200">
                <a:solidFill>
                  <a:srgbClr val="141414"/>
                </a:solidFill>
                <a:latin typeface="Times New Roman"/>
              </a:defRPr>
            </a:pPr>
            <a:r>
              <a:rPr lang="en-US" dirty="0"/>
              <a:t>Functional Testing: Asset listing, token purchase, transfer and ownership update.</a:t>
            </a:r>
          </a:p>
          <a:p>
            <a:pPr algn="just">
              <a:spcAft>
                <a:spcPts val="1200"/>
              </a:spcAft>
              <a:defRPr sz="2200">
                <a:solidFill>
                  <a:srgbClr val="141414"/>
                </a:solidFill>
                <a:latin typeface="Times New Roman"/>
              </a:defRPr>
            </a:pPr>
            <a:r>
              <a:rPr lang="en-US" dirty="0"/>
              <a:t>Smart Contract Testing: Token balance, ownership transfer and transaction validation.</a:t>
            </a:r>
          </a:p>
          <a:p>
            <a:pPr algn="just">
              <a:spcAft>
                <a:spcPts val="1200"/>
              </a:spcAft>
              <a:defRPr sz="2200">
                <a:solidFill>
                  <a:srgbClr val="141414"/>
                </a:solidFill>
                <a:latin typeface="Times New Roman"/>
              </a:defRPr>
            </a:pPr>
            <a:r>
              <a:rPr lang="en-US" dirty="0"/>
              <a:t>Integration Testing: Frontend, backend, database, wallet and blockchain communication.</a:t>
            </a:r>
            <a:endParaRPr dirty="0"/>
          </a:p>
        </p:txBody>
      </p:sp>
    </p:spTree>
    <p:extLst>
      <p:ext uri="{BB962C8B-B14F-4D97-AF65-F5344CB8AC3E}">
        <p14:creationId xmlns:p14="http://schemas.microsoft.com/office/powerpoint/2010/main" val="1215520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11. Methodology</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11</a:t>
            </a:r>
          </a:p>
        </p:txBody>
      </p:sp>
      <p:sp>
        <p:nvSpPr>
          <p:cNvPr id="8" name="TextBox 7"/>
          <p:cNvSpPr txBox="1"/>
          <p:nvPr/>
        </p:nvSpPr>
        <p:spPr>
          <a:xfrm>
            <a:off x="914400" y="1325880"/>
            <a:ext cx="10332720" cy="923330"/>
          </a:xfrm>
          <a:prstGeom prst="rect">
            <a:avLst/>
          </a:prstGeom>
          <a:noFill/>
        </p:spPr>
        <p:txBody>
          <a:bodyPr wrap="square">
            <a:spAutoFit/>
          </a:bodyPr>
          <a:lstStyle/>
          <a:p>
            <a:pPr algn="just">
              <a:spcAft>
                <a:spcPts val="1200"/>
              </a:spcAft>
              <a:defRPr sz="2200">
                <a:solidFill>
                  <a:srgbClr val="141414"/>
                </a:solidFill>
                <a:latin typeface="Times New Roman"/>
              </a:defRPr>
            </a:pPr>
            <a:r>
              <a:rPr lang="en-US" dirty="0"/>
              <a:t>Usability Testing: Ease of navigation and transaction workflow.</a:t>
            </a:r>
          </a:p>
          <a:p>
            <a:pPr algn="just">
              <a:spcAft>
                <a:spcPts val="1200"/>
              </a:spcAft>
              <a:defRPr sz="2200">
                <a:solidFill>
                  <a:srgbClr val="141414"/>
                </a:solidFill>
                <a:latin typeface="Times New Roman"/>
              </a:defRPr>
            </a:pPr>
            <a:r>
              <a:rPr lang="en-US" dirty="0"/>
              <a:t>Verify that invalid transactions are rejected correctly.</a:t>
            </a:r>
            <a:endParaRPr dirty="0"/>
          </a:p>
        </p:txBody>
      </p:sp>
    </p:spTree>
    <p:extLst>
      <p:ext uri="{BB962C8B-B14F-4D97-AF65-F5344CB8AC3E}">
        <p14:creationId xmlns:p14="http://schemas.microsoft.com/office/powerpoint/2010/main" val="2837432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12. Technologies Used</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12</a:t>
            </a:r>
          </a:p>
        </p:txBody>
      </p:sp>
      <p:sp>
        <p:nvSpPr>
          <p:cNvPr id="8" name="TextBox 7"/>
          <p:cNvSpPr txBox="1"/>
          <p:nvPr/>
        </p:nvSpPr>
        <p:spPr>
          <a:xfrm>
            <a:off x="914400" y="1325880"/>
            <a:ext cx="10332720" cy="3724096"/>
          </a:xfrm>
          <a:prstGeom prst="rect">
            <a:avLst/>
          </a:prstGeom>
          <a:noFill/>
        </p:spPr>
        <p:txBody>
          <a:bodyPr wrap="square">
            <a:spAutoFit/>
          </a:bodyPr>
          <a:lstStyle/>
          <a:p>
            <a:pPr>
              <a:spcAft>
                <a:spcPts val="1200"/>
              </a:spcAft>
              <a:defRPr sz="2200">
                <a:solidFill>
                  <a:srgbClr val="141414"/>
                </a:solidFill>
                <a:latin typeface="Times New Roman"/>
              </a:defRPr>
            </a:pPr>
            <a:r>
              <a:rPr dirty="0"/>
              <a:t>• </a:t>
            </a:r>
            <a:r>
              <a:rPr lang="en-US" dirty="0"/>
              <a:t>    </a:t>
            </a:r>
            <a:r>
              <a:rPr b="1" dirty="0"/>
              <a:t>Programming language(s): </a:t>
            </a:r>
            <a:r>
              <a:rPr lang="en-US" dirty="0"/>
              <a:t>JavaScript, Solidity</a:t>
            </a:r>
            <a:endParaRPr dirty="0"/>
          </a:p>
          <a:p>
            <a:pPr algn="just">
              <a:spcAft>
                <a:spcPts val="1200"/>
              </a:spcAft>
              <a:defRPr sz="2200">
                <a:solidFill>
                  <a:srgbClr val="141414"/>
                </a:solidFill>
                <a:latin typeface="Times New Roman"/>
              </a:defRPr>
            </a:pPr>
            <a:r>
              <a:rPr dirty="0"/>
              <a:t>•</a:t>
            </a:r>
            <a:r>
              <a:rPr lang="en-US" dirty="0"/>
              <a:t>   </a:t>
            </a:r>
            <a:r>
              <a:rPr dirty="0"/>
              <a:t> </a:t>
            </a:r>
            <a:r>
              <a:rPr b="1" dirty="0"/>
              <a:t>Frameworks/libraries: </a:t>
            </a:r>
            <a:r>
              <a:rPr lang="en-US" dirty="0"/>
              <a:t>React.js ,Node.js, Express.js, Next.js, Tailwind CSS, ethers.js, JWT, </a:t>
            </a:r>
            <a:r>
              <a:rPr lang="en-US" dirty="0" err="1"/>
              <a:t>Multer</a:t>
            </a:r>
            <a:endParaRPr dirty="0"/>
          </a:p>
          <a:p>
            <a:pPr algn="just">
              <a:spcAft>
                <a:spcPts val="1200"/>
              </a:spcAft>
              <a:defRPr sz="2200">
                <a:solidFill>
                  <a:srgbClr val="141414"/>
                </a:solidFill>
                <a:latin typeface="Times New Roman"/>
              </a:defRPr>
            </a:pPr>
            <a:r>
              <a:rPr dirty="0"/>
              <a:t>• </a:t>
            </a:r>
            <a:r>
              <a:rPr lang="en-US" dirty="0"/>
              <a:t>   </a:t>
            </a:r>
            <a:r>
              <a:rPr b="1" dirty="0"/>
              <a:t>Database/cloud/platform: </a:t>
            </a:r>
            <a:r>
              <a:rPr lang="en-US" dirty="0"/>
              <a:t>MongoDB, Mongoose</a:t>
            </a:r>
            <a:endParaRPr dirty="0"/>
          </a:p>
          <a:p>
            <a:pPr algn="just">
              <a:spcAft>
                <a:spcPts val="1200"/>
              </a:spcAft>
              <a:defRPr sz="2200">
                <a:solidFill>
                  <a:srgbClr val="141414"/>
                </a:solidFill>
                <a:latin typeface="Times New Roman"/>
              </a:defRPr>
            </a:pPr>
            <a:r>
              <a:rPr dirty="0"/>
              <a:t>• </a:t>
            </a:r>
            <a:r>
              <a:rPr lang="en-US" dirty="0"/>
              <a:t>   </a:t>
            </a:r>
            <a:r>
              <a:rPr b="1" dirty="0"/>
              <a:t>Development tools/IDE: </a:t>
            </a:r>
            <a:r>
              <a:rPr lang="en-US" dirty="0"/>
              <a:t>Hardhat, Remix IDE</a:t>
            </a:r>
            <a:endParaRPr dirty="0"/>
          </a:p>
          <a:p>
            <a:pPr algn="just">
              <a:spcAft>
                <a:spcPts val="1200"/>
              </a:spcAft>
              <a:defRPr sz="2200">
                <a:solidFill>
                  <a:srgbClr val="141414"/>
                </a:solidFill>
                <a:latin typeface="Times New Roman"/>
              </a:defRPr>
            </a:pPr>
            <a:r>
              <a:rPr dirty="0"/>
              <a:t>• </a:t>
            </a:r>
            <a:r>
              <a:rPr lang="en-US" dirty="0"/>
              <a:t>   </a:t>
            </a:r>
            <a:r>
              <a:rPr lang="en-US" b="1" dirty="0"/>
              <a:t>Blockchain/Wallet: </a:t>
            </a:r>
            <a:r>
              <a:rPr lang="en-US" dirty="0"/>
              <a:t>Solidity Smart Contracts, ERC-20, </a:t>
            </a:r>
            <a:r>
              <a:rPr lang="en-US" dirty="0" err="1"/>
              <a:t>OpenZeppelin</a:t>
            </a:r>
            <a:r>
              <a:rPr lang="en-US" dirty="0"/>
              <a:t>, </a:t>
            </a:r>
            <a:r>
              <a:rPr lang="en-US" dirty="0" err="1"/>
              <a:t>MetaMask</a:t>
            </a:r>
            <a:endParaRPr lang="en-US" dirty="0"/>
          </a:p>
          <a:p>
            <a:pPr marL="342900" indent="-342900" algn="just">
              <a:spcAft>
                <a:spcPts val="1200"/>
              </a:spcAft>
              <a:buFont typeface="Arial" panose="020B0604020202020204" pitchFamily="34" charset="0"/>
              <a:buChar char="•"/>
              <a:defRPr sz="2200">
                <a:solidFill>
                  <a:srgbClr val="141414"/>
                </a:solidFill>
                <a:latin typeface="Times New Roman"/>
              </a:defRPr>
            </a:pPr>
            <a:r>
              <a:rPr lang="en-US" b="1" dirty="0"/>
              <a:t>Network: </a:t>
            </a:r>
            <a:r>
              <a:rPr lang="en-US" dirty="0"/>
              <a:t>Ethereum </a:t>
            </a:r>
            <a:r>
              <a:rPr lang="en-US" dirty="0" err="1"/>
              <a:t>Sepolia</a:t>
            </a:r>
            <a:r>
              <a:rPr lang="en-US" dirty="0"/>
              <a:t> </a:t>
            </a:r>
            <a:r>
              <a:rPr lang="en-US" dirty="0" err="1"/>
              <a:t>Testnet</a:t>
            </a:r>
            <a:r>
              <a:rPr lang="en-US" dirty="0"/>
              <a:t>, </a:t>
            </a:r>
            <a:r>
              <a:rPr lang="en-US" dirty="0" err="1"/>
              <a:t>Infura</a:t>
            </a:r>
            <a:r>
              <a:rPr lang="en-US" dirty="0"/>
              <a:t> RPC</a:t>
            </a:r>
          </a:p>
          <a:p>
            <a:pPr>
              <a:spcAft>
                <a:spcPts val="1200"/>
              </a:spcAft>
              <a:defRPr sz="2200">
                <a:solidFill>
                  <a:srgbClr val="141414"/>
                </a:solidFill>
                <a:latin typeface="Times New Roman"/>
              </a:defRPr>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13. Module Description</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13</a:t>
            </a:r>
          </a:p>
        </p:txBody>
      </p:sp>
      <p:sp>
        <p:nvSpPr>
          <p:cNvPr id="8" name="TextBox 7"/>
          <p:cNvSpPr txBox="1"/>
          <p:nvPr/>
        </p:nvSpPr>
        <p:spPr>
          <a:xfrm>
            <a:off x="914400" y="1325880"/>
            <a:ext cx="10332720" cy="4893647"/>
          </a:xfrm>
          <a:prstGeom prst="rect">
            <a:avLst/>
          </a:prstGeom>
          <a:noFill/>
        </p:spPr>
        <p:txBody>
          <a:bodyPr wrap="square">
            <a:spAutoFit/>
          </a:bodyPr>
          <a:lstStyle/>
          <a:p>
            <a:pPr>
              <a:spcAft>
                <a:spcPts val="1200"/>
              </a:spcAft>
              <a:defRPr sz="2200">
                <a:solidFill>
                  <a:srgbClr val="141414"/>
                </a:solidFill>
                <a:latin typeface="Times New Roman"/>
              </a:defRPr>
            </a:pPr>
            <a:r>
              <a:rPr dirty="0"/>
              <a:t>• </a:t>
            </a:r>
            <a:r>
              <a:rPr b="1" dirty="0"/>
              <a:t>Module 1 – </a:t>
            </a:r>
            <a:r>
              <a:rPr lang="en-US" b="1" dirty="0"/>
              <a:t>User &amp; Asset Management</a:t>
            </a:r>
            <a:r>
              <a:rPr b="1" dirty="0"/>
              <a:t>:</a:t>
            </a:r>
            <a:endParaRPr lang="en-US" b="1" dirty="0"/>
          </a:p>
          <a:p>
            <a:pPr>
              <a:spcAft>
                <a:spcPts val="1200"/>
              </a:spcAft>
              <a:defRPr sz="2200">
                <a:solidFill>
                  <a:srgbClr val="141414"/>
                </a:solidFill>
                <a:latin typeface="Times New Roman"/>
              </a:defRPr>
            </a:pPr>
            <a:r>
              <a:rPr dirty="0"/>
              <a:t> </a:t>
            </a:r>
            <a:r>
              <a:rPr lang="en-US" dirty="0"/>
              <a:t>Handles user registration/login, asset listing, asset details, and browsing available assets.</a:t>
            </a:r>
            <a:endParaRPr dirty="0"/>
          </a:p>
          <a:p>
            <a:pPr>
              <a:spcAft>
                <a:spcPts val="1200"/>
              </a:spcAft>
              <a:defRPr sz="2200">
                <a:solidFill>
                  <a:srgbClr val="141414"/>
                </a:solidFill>
                <a:latin typeface="Times New Roman"/>
              </a:defRPr>
            </a:pPr>
            <a:r>
              <a:rPr dirty="0"/>
              <a:t>• </a:t>
            </a:r>
            <a:r>
              <a:rPr b="1" dirty="0"/>
              <a:t>Module 2 </a:t>
            </a:r>
            <a:r>
              <a:rPr lang="en-US" b="1" dirty="0"/>
              <a:t>– Asset Tokenization:</a:t>
            </a:r>
          </a:p>
          <a:p>
            <a:pPr>
              <a:spcAft>
                <a:spcPts val="1200"/>
              </a:spcAft>
              <a:defRPr sz="2200">
                <a:solidFill>
                  <a:srgbClr val="141414"/>
                </a:solidFill>
                <a:latin typeface="Times New Roman"/>
              </a:defRPr>
            </a:pPr>
            <a:r>
              <a:rPr dirty="0"/>
              <a:t> </a:t>
            </a:r>
            <a:r>
              <a:rPr lang="en-US" dirty="0"/>
              <a:t>Converts real-world assets into fractional digital tokens using Solidity smart contracts and ERC-20 tokens.</a:t>
            </a:r>
            <a:endParaRPr dirty="0"/>
          </a:p>
          <a:p>
            <a:pPr>
              <a:spcAft>
                <a:spcPts val="1200"/>
              </a:spcAft>
              <a:defRPr sz="2200">
                <a:solidFill>
                  <a:srgbClr val="141414"/>
                </a:solidFill>
                <a:latin typeface="Times New Roman"/>
              </a:defRPr>
            </a:pPr>
            <a:r>
              <a:rPr dirty="0"/>
              <a:t>• </a:t>
            </a:r>
            <a:r>
              <a:rPr b="1" dirty="0"/>
              <a:t>Module 3 – </a:t>
            </a:r>
            <a:r>
              <a:rPr lang="en-US" b="1" dirty="0"/>
              <a:t>Token Trading &amp; Transactions:</a:t>
            </a:r>
          </a:p>
          <a:p>
            <a:pPr>
              <a:spcAft>
                <a:spcPts val="1200"/>
              </a:spcAft>
              <a:defRPr sz="2200">
                <a:solidFill>
                  <a:srgbClr val="141414"/>
                </a:solidFill>
                <a:latin typeface="Times New Roman"/>
              </a:defRPr>
            </a:pPr>
            <a:r>
              <a:rPr lang="en-US" dirty="0"/>
              <a:t>Handles token purchase, transfer, marketplace transactions, wallet connection, and transaction processing.</a:t>
            </a:r>
            <a:endParaRPr dirty="0"/>
          </a:p>
          <a:p>
            <a:pPr>
              <a:spcAft>
                <a:spcPts val="1200"/>
              </a:spcAft>
              <a:defRPr sz="2200">
                <a:solidFill>
                  <a:srgbClr val="141414"/>
                </a:solidFill>
                <a:latin typeface="Times New Roman"/>
              </a:defRPr>
            </a:pPr>
            <a:r>
              <a:rPr dirty="0"/>
              <a:t>• </a:t>
            </a:r>
            <a:r>
              <a:rPr b="1" dirty="0"/>
              <a:t>Module 4 –</a:t>
            </a:r>
            <a:r>
              <a:rPr lang="en-US" b="1" dirty="0"/>
              <a:t> Ownership &amp; Admin Management:</a:t>
            </a:r>
          </a:p>
          <a:p>
            <a:pPr>
              <a:spcAft>
                <a:spcPts val="1200"/>
              </a:spcAft>
              <a:defRPr sz="2200">
                <a:solidFill>
                  <a:srgbClr val="141414"/>
                </a:solidFill>
                <a:latin typeface="Times New Roman"/>
              </a:defRPr>
            </a:pPr>
            <a:r>
              <a:rPr lang="en-US" dirty="0"/>
              <a:t>Tracks token ownership, transaction records, asset management, and provides admin monitoring and verification.</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14. Workflow / Algorithm</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14</a:t>
            </a:r>
          </a:p>
        </p:txBody>
      </p:sp>
      <p:sp>
        <p:nvSpPr>
          <p:cNvPr id="8" name="TextBox 7"/>
          <p:cNvSpPr txBox="1"/>
          <p:nvPr/>
        </p:nvSpPr>
        <p:spPr>
          <a:xfrm>
            <a:off x="914400" y="1219224"/>
            <a:ext cx="10332720" cy="5355312"/>
          </a:xfrm>
          <a:prstGeom prst="rect">
            <a:avLst/>
          </a:prstGeom>
          <a:noFill/>
        </p:spPr>
        <p:txBody>
          <a:bodyPr wrap="square">
            <a:spAutoFit/>
          </a:bodyPr>
          <a:lstStyle/>
          <a:p>
            <a:pPr marL="457200" indent="-457200">
              <a:spcAft>
                <a:spcPts val="1200"/>
              </a:spcAft>
              <a:buFont typeface="+mj-lt"/>
              <a:buAutoNum type="arabicPeriod"/>
              <a:defRPr sz="2200">
                <a:solidFill>
                  <a:srgbClr val="141414"/>
                </a:solidFill>
                <a:latin typeface="Times New Roman"/>
              </a:defRPr>
            </a:pPr>
            <a:r>
              <a:rPr lang="en-US" b="1" dirty="0"/>
              <a:t>Input</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User/Admin enters asset details.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User connects </a:t>
            </a:r>
            <a:r>
              <a:rPr lang="en-US" dirty="0" err="1"/>
              <a:t>MetaMask</a:t>
            </a:r>
            <a:r>
              <a:rPr lang="en-US" dirty="0"/>
              <a:t> wallet.</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Asset information is received through the web interface.</a:t>
            </a:r>
          </a:p>
          <a:p>
            <a:pPr marL="457200" indent="-457200">
              <a:spcAft>
                <a:spcPts val="1200"/>
              </a:spcAft>
              <a:buAutoNum type="arabicPeriod" startAt="2"/>
              <a:defRPr sz="2200">
                <a:solidFill>
                  <a:srgbClr val="141414"/>
                </a:solidFill>
                <a:latin typeface="Times New Roman"/>
              </a:defRPr>
            </a:pPr>
            <a:r>
              <a:rPr lang="en-US" b="1" dirty="0"/>
              <a:t>Pre-processing</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User authentication and input validation.</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Asset details are stored/retrieved from MongoDB.</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Wallet connection is established.</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Asset is divided into smaller ownership units.</a:t>
            </a:r>
          </a:p>
          <a:p>
            <a:pPr marL="457200" indent="-457200">
              <a:spcAft>
                <a:spcPts val="1200"/>
              </a:spcAft>
              <a:buAutoNum type="arabicPeriod" startAt="3"/>
              <a:defRPr sz="2200">
                <a:solidFill>
                  <a:srgbClr val="141414"/>
                </a:solidFill>
                <a:latin typeface="Times New Roman"/>
              </a:defRPr>
            </a:pPr>
            <a:r>
              <a:rPr lang="en-US" b="1" dirty="0"/>
              <a:t>Core processing</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ERC-20 tokens are created using Solidity smart contracts.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14. Workflow / Algorithm</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14</a:t>
            </a:r>
          </a:p>
        </p:txBody>
      </p:sp>
      <p:sp>
        <p:nvSpPr>
          <p:cNvPr id="8" name="TextBox 7"/>
          <p:cNvSpPr txBox="1"/>
          <p:nvPr/>
        </p:nvSpPr>
        <p:spPr>
          <a:xfrm>
            <a:off x="914400" y="1219224"/>
            <a:ext cx="10332720" cy="5847755"/>
          </a:xfrm>
          <a:prstGeom prst="rect">
            <a:avLst/>
          </a:prstGeom>
          <a:noFill/>
        </p:spPr>
        <p:txBody>
          <a:bodyPr wrap="square">
            <a:spAutoFit/>
          </a:bodyPr>
          <a:lstStyle/>
          <a:p>
            <a:pPr marL="342900" indent="-342900">
              <a:spcAft>
                <a:spcPts val="1200"/>
              </a:spcAft>
              <a:buFont typeface="Arial" panose="020B0604020202020204" pitchFamily="34" charset="0"/>
              <a:buChar char="•"/>
              <a:defRPr sz="2200">
                <a:solidFill>
                  <a:srgbClr val="141414"/>
                </a:solidFill>
                <a:latin typeface="Times New Roman"/>
              </a:defRPr>
            </a:pPr>
            <a:r>
              <a:rPr lang="en-US" dirty="0"/>
              <a:t>Tokens represent fractional ownership of the asset.</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Smart contracts manage token purchase, transfer and ownership.</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AMM / Order Book handles token trading</a:t>
            </a:r>
          </a:p>
          <a:p>
            <a:pPr marL="457200" indent="-457200">
              <a:spcAft>
                <a:spcPts val="1200"/>
              </a:spcAft>
              <a:buAutoNum type="arabicPeriod" startAt="4"/>
              <a:defRPr sz="2200">
                <a:solidFill>
                  <a:srgbClr val="141414"/>
                </a:solidFill>
                <a:latin typeface="Times New Roman"/>
              </a:defRPr>
            </a:pPr>
            <a:r>
              <a:rPr lang="en-US" b="1" dirty="0"/>
              <a:t>Decision / Validation</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Check whether transaction conditions are valid.</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Check token availability and required parameters.</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User approves the transaction through </a:t>
            </a:r>
            <a:r>
              <a:rPr lang="en-US" dirty="0" err="1"/>
              <a:t>MetaMask</a:t>
            </a:r>
            <a:r>
              <a:rPr lang="en-US" dirty="0"/>
              <a:t>.</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Smart contract accepts or rejects the transaction.</a:t>
            </a:r>
          </a:p>
          <a:p>
            <a:pPr marL="457200" indent="-457200">
              <a:spcAft>
                <a:spcPts val="1200"/>
              </a:spcAft>
              <a:buAutoNum type="arabicPeriod" startAt="5"/>
              <a:defRPr sz="2200">
                <a:solidFill>
                  <a:srgbClr val="141414"/>
                </a:solidFill>
                <a:latin typeface="Times New Roman"/>
              </a:defRPr>
            </a:pPr>
            <a:r>
              <a:rPr lang="en-US" b="1" dirty="0"/>
              <a:t>Output</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Tokens are transferred to the buyer's wallet.</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Ownership/token balances are updated on the blockchain.</a:t>
            </a:r>
          </a:p>
          <a:p>
            <a:pPr marL="342900" indent="-342900">
              <a:spcAft>
                <a:spcPts val="1200"/>
              </a:spcAft>
              <a:buFont typeface="Arial" panose="020B0604020202020204" pitchFamily="34" charset="0"/>
              <a:buChar char="•"/>
              <a:defRPr sz="2200">
                <a:solidFill>
                  <a:srgbClr val="141414"/>
                </a:solidFill>
                <a:latin typeface="Times New Roman"/>
              </a:defRPr>
            </a:pPr>
            <a:endParaRPr lang="en-US" dirty="0"/>
          </a:p>
        </p:txBody>
      </p:sp>
    </p:spTree>
    <p:extLst>
      <p:ext uri="{BB962C8B-B14F-4D97-AF65-F5344CB8AC3E}">
        <p14:creationId xmlns:p14="http://schemas.microsoft.com/office/powerpoint/2010/main" val="1240739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14. Workflow / Algorithm</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14</a:t>
            </a:r>
          </a:p>
        </p:txBody>
      </p:sp>
      <p:sp>
        <p:nvSpPr>
          <p:cNvPr id="8" name="TextBox 7"/>
          <p:cNvSpPr txBox="1"/>
          <p:nvPr/>
        </p:nvSpPr>
        <p:spPr>
          <a:xfrm>
            <a:off x="914400" y="1219224"/>
            <a:ext cx="10332720" cy="2246769"/>
          </a:xfrm>
          <a:prstGeom prst="rect">
            <a:avLst/>
          </a:prstGeom>
          <a:noFill/>
        </p:spPr>
        <p:txBody>
          <a:bodyPr wrap="square">
            <a:spAutoFit/>
          </a:bodyPr>
          <a:lstStyle/>
          <a:p>
            <a:pPr marL="342900" indent="-342900">
              <a:spcAft>
                <a:spcPts val="1200"/>
              </a:spcAft>
              <a:buFont typeface="Arial" panose="020B0604020202020204" pitchFamily="34" charset="0"/>
              <a:buChar char="•"/>
              <a:defRPr sz="2200">
                <a:solidFill>
                  <a:srgbClr val="141414"/>
                </a:solidFill>
                <a:latin typeface="Times New Roman"/>
              </a:defRPr>
            </a:pPr>
            <a:r>
              <a:rPr lang="en-US" dirty="0"/>
              <a:t>Transaction details and asset information are displayed.</a:t>
            </a:r>
          </a:p>
          <a:p>
            <a:pPr marL="342900" indent="-342900">
              <a:spcAft>
                <a:spcPts val="1200"/>
              </a:spcAft>
              <a:buFont typeface="Arial" panose="020B0604020202020204" pitchFamily="34" charset="0"/>
              <a:buChar char="•"/>
              <a:defRPr sz="2200">
                <a:solidFill>
                  <a:srgbClr val="141414"/>
                </a:solidFill>
                <a:latin typeface="Times New Roman"/>
              </a:defRPr>
            </a:pPr>
            <a:r>
              <a:rPr lang="en-US" dirty="0"/>
              <a:t>User can view portfolio and transaction history.</a:t>
            </a:r>
          </a:p>
          <a:p>
            <a:pPr>
              <a:spcAft>
                <a:spcPts val="1200"/>
              </a:spcAft>
              <a:defRPr sz="2200">
                <a:solidFill>
                  <a:srgbClr val="141414"/>
                </a:solidFill>
                <a:latin typeface="Times New Roman"/>
              </a:defRPr>
            </a:pPr>
            <a:r>
              <a:rPr lang="en-US" b="1" dirty="0"/>
              <a:t>Major Algorithm/Technology:</a:t>
            </a:r>
          </a:p>
          <a:p>
            <a:pPr>
              <a:spcAft>
                <a:spcPts val="1200"/>
              </a:spcAft>
              <a:defRPr sz="2200">
                <a:solidFill>
                  <a:srgbClr val="141414"/>
                </a:solidFill>
                <a:latin typeface="Times New Roman"/>
              </a:defRPr>
            </a:pPr>
            <a:r>
              <a:rPr lang="en-US" dirty="0"/>
              <a:t>ERC-20 Tokenization + Solidity Smart Contracts with AMM-based and Order-Book trading mechanisms</a:t>
            </a:r>
          </a:p>
        </p:txBody>
      </p:sp>
    </p:spTree>
    <p:extLst>
      <p:ext uri="{BB962C8B-B14F-4D97-AF65-F5344CB8AC3E}">
        <p14:creationId xmlns:p14="http://schemas.microsoft.com/office/powerpoint/2010/main" val="1090353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15. Implementation</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15</a:t>
            </a:r>
          </a:p>
        </p:txBody>
      </p:sp>
      <p:sp>
        <p:nvSpPr>
          <p:cNvPr id="8" name="TextBox 7"/>
          <p:cNvSpPr txBox="1"/>
          <p:nvPr/>
        </p:nvSpPr>
        <p:spPr>
          <a:xfrm>
            <a:off x="914400" y="1325880"/>
            <a:ext cx="10332720" cy="4524315"/>
          </a:xfrm>
          <a:prstGeom prst="rect">
            <a:avLst/>
          </a:prstGeom>
          <a:noFill/>
        </p:spPr>
        <p:txBody>
          <a:bodyPr wrap="square">
            <a:spAutoFit/>
          </a:bodyPr>
          <a:lstStyle/>
          <a:p>
            <a:r>
              <a:rPr lang="en-IN" b="1" dirty="0"/>
              <a:t>Frontend</a:t>
            </a:r>
            <a:endParaRPr lang="en-IN" dirty="0"/>
          </a:p>
          <a:p>
            <a:pPr lvl="0"/>
            <a:r>
              <a:rPr lang="en-IN" dirty="0"/>
              <a:t>React.js / Next.js</a:t>
            </a:r>
          </a:p>
          <a:p>
            <a:pPr lvl="0"/>
            <a:r>
              <a:rPr lang="en-IN" dirty="0"/>
              <a:t>Asset listing and details</a:t>
            </a:r>
          </a:p>
          <a:p>
            <a:pPr lvl="0"/>
            <a:r>
              <a:rPr lang="en-IN" dirty="0"/>
              <a:t>Portfolio and transaction history</a:t>
            </a:r>
          </a:p>
          <a:p>
            <a:pPr lvl="0"/>
            <a:r>
              <a:rPr lang="en-IN" dirty="0"/>
              <a:t>MetaMask wallet integration</a:t>
            </a:r>
          </a:p>
          <a:p>
            <a:r>
              <a:rPr lang="en-IN" b="1" dirty="0"/>
              <a:t>Backend</a:t>
            </a:r>
            <a:endParaRPr lang="en-IN" dirty="0"/>
          </a:p>
          <a:p>
            <a:pPr lvl="0"/>
            <a:r>
              <a:rPr lang="en-IN" dirty="0"/>
              <a:t>Node.js + Express.js</a:t>
            </a:r>
          </a:p>
          <a:p>
            <a:pPr lvl="0"/>
            <a:r>
              <a:rPr lang="en-IN" dirty="0"/>
              <a:t>User authentication</a:t>
            </a:r>
          </a:p>
          <a:p>
            <a:pPr lvl="0"/>
            <a:r>
              <a:rPr lang="en-IN" dirty="0"/>
              <a:t>Asset management APIs</a:t>
            </a:r>
          </a:p>
          <a:p>
            <a:pPr lvl="0"/>
            <a:r>
              <a:rPr lang="en-IN" dirty="0"/>
              <a:t>MongoDB integration</a:t>
            </a:r>
          </a:p>
          <a:p>
            <a:r>
              <a:rPr lang="en-IN" b="1" dirty="0"/>
              <a:t>Blockchain</a:t>
            </a:r>
            <a:endParaRPr lang="en-IN" dirty="0"/>
          </a:p>
          <a:p>
            <a:pPr lvl="0"/>
            <a:r>
              <a:rPr lang="en-IN" dirty="0"/>
              <a:t>Solidity smart contracts</a:t>
            </a:r>
          </a:p>
          <a:p>
            <a:pPr lvl="0"/>
            <a:r>
              <a:rPr lang="en-IN" dirty="0"/>
              <a:t>ERC-20 tokenization</a:t>
            </a:r>
          </a:p>
          <a:p>
            <a:pPr lvl="0"/>
            <a:r>
              <a:rPr lang="en-IN" dirty="0"/>
              <a:t>Token purchase and transfer</a:t>
            </a:r>
          </a:p>
          <a:p>
            <a:pPr lvl="0"/>
            <a:r>
              <a:rPr lang="en-IN" dirty="0"/>
              <a:t>Ownership verification</a:t>
            </a:r>
          </a:p>
          <a:p>
            <a:pPr lvl="0"/>
            <a:r>
              <a:rPr lang="en-IN" dirty="0"/>
              <a:t>AMM &amp; Order-Book trading</a:t>
            </a:r>
          </a:p>
        </p:txBody>
      </p:sp>
      <p:pic>
        <p:nvPicPr>
          <p:cNvPr id="10" name="Picture 9">
            <a:extLst>
              <a:ext uri="{FF2B5EF4-FFF2-40B4-BE49-F238E27FC236}">
                <a16:creationId xmlns:a16="http://schemas.microsoft.com/office/drawing/2014/main" id="{78521C7A-237F-6CAC-DF50-9C3E28BDB51B}"/>
              </a:ext>
            </a:extLst>
          </p:cNvPr>
          <p:cNvPicPr>
            <a:picLocks noChangeAspect="1"/>
          </p:cNvPicPr>
          <p:nvPr/>
        </p:nvPicPr>
        <p:blipFill>
          <a:blip r:embed="rId4"/>
          <a:stretch>
            <a:fillRect/>
          </a:stretch>
        </p:blipFill>
        <p:spPr>
          <a:xfrm>
            <a:off x="5344800" y="1820636"/>
            <a:ext cx="5932800" cy="370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53F40-5B91-E7EF-2629-169D110606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CA4641C-B2A1-B342-D949-10EEDBCC098D}"/>
              </a:ext>
            </a:extLst>
          </p:cNvPr>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15. Implementation</a:t>
            </a:r>
          </a:p>
        </p:txBody>
      </p:sp>
      <p:sp>
        <p:nvSpPr>
          <p:cNvPr id="3" name="Rectangle 2">
            <a:extLst>
              <a:ext uri="{FF2B5EF4-FFF2-40B4-BE49-F238E27FC236}">
                <a16:creationId xmlns:a16="http://schemas.microsoft.com/office/drawing/2014/main" id="{45032E0B-AAFB-A771-41AA-1E382F7220C2}"/>
              </a:ext>
            </a:extLst>
          </p:cNvPr>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a:extLst>
              <a:ext uri="{FF2B5EF4-FFF2-40B4-BE49-F238E27FC236}">
                <a16:creationId xmlns:a16="http://schemas.microsoft.com/office/drawing/2014/main" id="{60BB9F03-D8F2-76DA-E8DF-8AAAB7EEE3E3}"/>
              </a:ext>
            </a:extLst>
          </p:cNvPr>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a:extLst>
              <a:ext uri="{FF2B5EF4-FFF2-40B4-BE49-F238E27FC236}">
                <a16:creationId xmlns:a16="http://schemas.microsoft.com/office/drawing/2014/main" id="{9A1D1F23-656C-815F-B4C6-DC1337095B3B}"/>
              </a:ext>
            </a:extLst>
          </p:cNvPr>
          <p:cNvPicPr>
            <a:picLocks noChangeAspect="1"/>
          </p:cNvPicPr>
          <p:nvPr/>
        </p:nvPicPr>
        <p:blipFill>
          <a:blip r:embed="rId3"/>
          <a:stretch>
            <a:fillRect/>
          </a:stretch>
        </p:blipFill>
        <p:spPr>
          <a:xfrm>
            <a:off x="11109960" y="91440"/>
            <a:ext cx="777240" cy="860516"/>
          </a:xfrm>
          <a:prstGeom prst="rect">
            <a:avLst/>
          </a:prstGeom>
        </p:spPr>
      </p:pic>
      <p:sp>
        <p:nvSpPr>
          <p:cNvPr id="6" name="TextBox 5">
            <a:extLst>
              <a:ext uri="{FF2B5EF4-FFF2-40B4-BE49-F238E27FC236}">
                <a16:creationId xmlns:a16="http://schemas.microsoft.com/office/drawing/2014/main" id="{9D9AFDC5-CD1D-89DD-1A6A-E2AF0BCCC044}"/>
              </a:ext>
            </a:extLst>
          </p:cNvPr>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a:extLst>
              <a:ext uri="{FF2B5EF4-FFF2-40B4-BE49-F238E27FC236}">
                <a16:creationId xmlns:a16="http://schemas.microsoft.com/office/drawing/2014/main" id="{3319F0F1-5E9D-7EB8-1BCE-538E1D6518A9}"/>
              </a:ext>
            </a:extLst>
          </p:cNvPr>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15</a:t>
            </a:r>
          </a:p>
        </p:txBody>
      </p:sp>
      <p:sp>
        <p:nvSpPr>
          <p:cNvPr id="8" name="TextBox 7">
            <a:extLst>
              <a:ext uri="{FF2B5EF4-FFF2-40B4-BE49-F238E27FC236}">
                <a16:creationId xmlns:a16="http://schemas.microsoft.com/office/drawing/2014/main" id="{3C1E3669-5F0B-EB80-EC8F-D8B6B973CFB2}"/>
              </a:ext>
            </a:extLst>
          </p:cNvPr>
          <p:cNvSpPr txBox="1"/>
          <p:nvPr/>
        </p:nvSpPr>
        <p:spPr>
          <a:xfrm>
            <a:off x="914400" y="1325880"/>
            <a:ext cx="10332720" cy="1200329"/>
          </a:xfrm>
          <a:prstGeom prst="rect">
            <a:avLst/>
          </a:prstGeom>
          <a:noFill/>
        </p:spPr>
        <p:txBody>
          <a:bodyPr wrap="square">
            <a:spAutoFit/>
          </a:bodyPr>
          <a:lstStyle/>
          <a:p>
            <a:r>
              <a:rPr lang="en-IN" b="1" dirty="0"/>
              <a:t>Deployment</a:t>
            </a:r>
            <a:endParaRPr lang="en-IN" dirty="0"/>
          </a:p>
          <a:p>
            <a:r>
              <a:rPr lang="en-IN" dirty="0"/>
              <a:t>Ethereum </a:t>
            </a:r>
            <a:r>
              <a:rPr lang="en-IN" dirty="0" err="1"/>
              <a:t>Sepolia</a:t>
            </a:r>
            <a:r>
              <a:rPr lang="en-IN" dirty="0"/>
              <a:t> </a:t>
            </a:r>
            <a:r>
              <a:rPr lang="en-IN" dirty="0" err="1"/>
              <a:t>Testnet</a:t>
            </a:r>
            <a:endParaRPr lang="en-IN" dirty="0"/>
          </a:p>
          <a:p>
            <a:r>
              <a:rPr lang="en-IN" dirty="0"/>
              <a:t>MetaMask transaction authorization</a:t>
            </a:r>
          </a:p>
          <a:p>
            <a:r>
              <a:rPr lang="en-IN" dirty="0"/>
              <a:t>Hardhat / Remix for development and testing</a:t>
            </a:r>
            <a:endParaRPr lang="en-IN" dirty="0">
              <a:effectLst/>
            </a:endParaRPr>
          </a:p>
        </p:txBody>
      </p:sp>
      <p:pic>
        <p:nvPicPr>
          <p:cNvPr id="10" name="Picture 9">
            <a:extLst>
              <a:ext uri="{FF2B5EF4-FFF2-40B4-BE49-F238E27FC236}">
                <a16:creationId xmlns:a16="http://schemas.microsoft.com/office/drawing/2014/main" id="{1988A15E-D2BD-4711-E036-70223FAF0029}"/>
              </a:ext>
            </a:extLst>
          </p:cNvPr>
          <p:cNvPicPr>
            <a:picLocks noChangeAspect="1"/>
          </p:cNvPicPr>
          <p:nvPr/>
        </p:nvPicPr>
        <p:blipFill>
          <a:blip r:embed="rId4"/>
          <a:stretch>
            <a:fillRect/>
          </a:stretch>
        </p:blipFill>
        <p:spPr>
          <a:xfrm>
            <a:off x="5612400" y="1691640"/>
            <a:ext cx="5817600" cy="3636000"/>
          </a:xfrm>
          <a:prstGeom prst="rect">
            <a:avLst/>
          </a:prstGeom>
        </p:spPr>
      </p:pic>
    </p:spTree>
    <p:extLst>
      <p:ext uri="{BB962C8B-B14F-4D97-AF65-F5344CB8AC3E}">
        <p14:creationId xmlns:p14="http://schemas.microsoft.com/office/powerpoint/2010/main" val="3884541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16. Dataset / Input Data</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16</a:t>
            </a:r>
          </a:p>
        </p:txBody>
      </p:sp>
      <p:sp>
        <p:nvSpPr>
          <p:cNvPr id="8" name="TextBox 7"/>
          <p:cNvSpPr txBox="1"/>
          <p:nvPr/>
        </p:nvSpPr>
        <p:spPr>
          <a:xfrm>
            <a:off x="914400" y="1223857"/>
            <a:ext cx="10332720" cy="5755422"/>
          </a:xfrm>
          <a:prstGeom prst="rect">
            <a:avLst/>
          </a:prstGeom>
          <a:noFill/>
        </p:spPr>
        <p:txBody>
          <a:bodyPr wrap="square">
            <a:spAutoFit/>
          </a:bodyPr>
          <a:lstStyle/>
          <a:p>
            <a:pPr>
              <a:spcAft>
                <a:spcPts val="1200"/>
              </a:spcAft>
              <a:defRPr sz="2200">
                <a:solidFill>
                  <a:srgbClr val="141414"/>
                </a:solidFill>
                <a:latin typeface="Times New Roman"/>
              </a:defRPr>
            </a:pPr>
            <a:r>
              <a:rPr dirty="0"/>
              <a:t>•</a:t>
            </a:r>
            <a:r>
              <a:rPr lang="en-US" dirty="0"/>
              <a:t>  </a:t>
            </a:r>
            <a:r>
              <a:rPr dirty="0"/>
              <a:t> </a:t>
            </a:r>
            <a:r>
              <a:rPr b="1" dirty="0"/>
              <a:t>Dataset/source of input: </a:t>
            </a:r>
            <a:r>
              <a:rPr lang="en-US" dirty="0"/>
              <a:t>Asset details, user information, wallet details, and transaction data.</a:t>
            </a:r>
          </a:p>
          <a:p>
            <a:pPr marL="342900" indent="-342900">
              <a:spcAft>
                <a:spcPts val="1200"/>
              </a:spcAft>
              <a:buFont typeface="Arial" panose="020B0604020202020204" pitchFamily="34" charset="0"/>
              <a:buChar char="•"/>
              <a:defRPr sz="2200">
                <a:solidFill>
                  <a:srgbClr val="141414"/>
                </a:solidFill>
                <a:latin typeface="Times New Roman"/>
              </a:defRPr>
            </a:pPr>
            <a:r>
              <a:rPr lang="en-US" b="1" dirty="0"/>
              <a:t>Data stored: </a:t>
            </a:r>
            <a:r>
              <a:rPr lang="en-US" dirty="0"/>
              <a:t>Asset descriptions, images, user profiles and other application data are stored in MongoDB.</a:t>
            </a:r>
          </a:p>
          <a:p>
            <a:pPr marL="342900" indent="-342900">
              <a:spcAft>
                <a:spcPts val="1200"/>
              </a:spcAft>
              <a:buFont typeface="Arial" panose="020B0604020202020204" pitchFamily="34" charset="0"/>
              <a:buChar char="•"/>
              <a:defRPr sz="2200">
                <a:solidFill>
                  <a:srgbClr val="141414"/>
                </a:solidFill>
                <a:latin typeface="Times New Roman"/>
              </a:defRPr>
            </a:pPr>
            <a:r>
              <a:rPr lang="en-US" b="1" dirty="0"/>
              <a:t>Blockchain data: </a:t>
            </a:r>
            <a:r>
              <a:rPr lang="en-US" dirty="0"/>
              <a:t>Token balances, ownership records and transaction states are maintained through Solidity smart contracts on the Ethereum test network.</a:t>
            </a:r>
          </a:p>
          <a:p>
            <a:pPr marL="342900" indent="-342900">
              <a:spcAft>
                <a:spcPts val="1200"/>
              </a:spcAft>
              <a:buFont typeface="Arial" panose="020B0604020202020204" pitchFamily="34" charset="0"/>
              <a:buChar char="•"/>
              <a:defRPr sz="2200">
                <a:solidFill>
                  <a:srgbClr val="141414"/>
                </a:solidFill>
                <a:latin typeface="Times New Roman"/>
              </a:defRPr>
            </a:pPr>
            <a:r>
              <a:rPr lang="en-US" b="1" dirty="0"/>
              <a:t>Data split/sampling: </a:t>
            </a:r>
            <a:r>
              <a:rPr lang="en-US" dirty="0"/>
              <a:t>Not applicable, system uses live user inputs and application/blockchain data.</a:t>
            </a:r>
          </a:p>
          <a:p>
            <a:pPr marL="342900" indent="-342900">
              <a:spcAft>
                <a:spcPts val="1200"/>
              </a:spcAft>
              <a:buFont typeface="Arial" panose="020B0604020202020204" pitchFamily="34" charset="0"/>
              <a:buChar char="•"/>
              <a:defRPr sz="2200">
                <a:solidFill>
                  <a:srgbClr val="141414"/>
                </a:solidFill>
                <a:latin typeface="Times New Roman"/>
              </a:defRPr>
            </a:pPr>
            <a:r>
              <a:rPr lang="en-US" b="1" dirty="0"/>
              <a:t>Pre-processing: </a:t>
            </a:r>
            <a:r>
              <a:rPr lang="en-US" dirty="0"/>
              <a:t>User authentication, input validation, asset-data validation and smart-contract validation are performed before transactions.</a:t>
            </a:r>
          </a:p>
          <a:p>
            <a:pPr marL="342900" indent="-342900">
              <a:spcAft>
                <a:spcPts val="1200"/>
              </a:spcAft>
              <a:buFont typeface="Arial" panose="020B0604020202020204" pitchFamily="34" charset="0"/>
              <a:buChar char="•"/>
              <a:defRPr sz="2200">
                <a:solidFill>
                  <a:srgbClr val="141414"/>
                </a:solidFill>
                <a:latin typeface="Times New Roman"/>
              </a:defRPr>
            </a:pPr>
            <a:r>
              <a:rPr lang="en-US" b="1" dirty="0"/>
              <a:t>Privacy/Ethical considerations: </a:t>
            </a:r>
            <a:r>
              <a:rPr lang="en-US" dirty="0"/>
              <a:t>User and wallet information should be handled securely; the current prototype does not include a complete KYC/AML or regulatory-compliance framework.</a:t>
            </a:r>
          </a:p>
          <a:p>
            <a:pPr marL="342900" indent="-342900">
              <a:spcAft>
                <a:spcPts val="1200"/>
              </a:spcAft>
              <a:buFont typeface="Arial" panose="020B0604020202020204" pitchFamily="34" charset="0"/>
              <a:buChar char="•"/>
              <a:defRPr sz="2200">
                <a:solidFill>
                  <a:srgbClr val="141414"/>
                </a:solidFill>
                <a:latin typeface="Times New Roman"/>
              </a:defRPr>
            </a:pP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17. Results &amp; Performance</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17</a:t>
            </a:r>
          </a:p>
        </p:txBody>
      </p:sp>
      <p:sp>
        <p:nvSpPr>
          <p:cNvPr id="8" name="TextBox 7"/>
          <p:cNvSpPr txBox="1"/>
          <p:nvPr/>
        </p:nvSpPr>
        <p:spPr>
          <a:xfrm>
            <a:off x="914400" y="1325880"/>
            <a:ext cx="10332720" cy="3416320"/>
          </a:xfrm>
          <a:prstGeom prst="rect">
            <a:avLst/>
          </a:prstGeom>
          <a:noFill/>
        </p:spPr>
        <p:txBody>
          <a:bodyPr wrap="square">
            <a:spAutoFit/>
          </a:bodyPr>
          <a:lstStyle/>
          <a:p>
            <a:r>
              <a:rPr lang="en-IN" b="1" dirty="0"/>
              <a:t>Tokenization</a:t>
            </a:r>
            <a:endParaRPr lang="en-IN" dirty="0"/>
          </a:p>
          <a:p>
            <a:pPr lvl="0"/>
            <a:r>
              <a:rPr lang="en-IN" dirty="0"/>
              <a:t>Real-world assets represented as ERC-20 tokens</a:t>
            </a:r>
          </a:p>
          <a:p>
            <a:pPr lvl="0"/>
            <a:r>
              <a:rPr lang="en-IN" dirty="0"/>
              <a:t>Fractional ownership supported</a:t>
            </a:r>
          </a:p>
          <a:p>
            <a:r>
              <a:rPr lang="en-IN" b="1" dirty="0"/>
              <a:t>Transactions</a:t>
            </a:r>
            <a:endParaRPr lang="en-IN" dirty="0"/>
          </a:p>
          <a:p>
            <a:pPr lvl="0"/>
            <a:r>
              <a:rPr lang="en-IN" dirty="0"/>
              <a:t>Token purchase and transfer executed successfully</a:t>
            </a:r>
          </a:p>
          <a:p>
            <a:pPr lvl="0"/>
            <a:r>
              <a:rPr lang="en-IN" dirty="0"/>
              <a:t>Invalid transaction conditions rejected</a:t>
            </a:r>
          </a:p>
          <a:p>
            <a:r>
              <a:rPr lang="en-IN" b="1" dirty="0"/>
              <a:t>Ownership</a:t>
            </a:r>
            <a:endParaRPr lang="en-IN" dirty="0"/>
          </a:p>
          <a:p>
            <a:pPr lvl="0"/>
            <a:r>
              <a:rPr lang="en-IN" dirty="0"/>
              <a:t>Blockchain token balances verified</a:t>
            </a:r>
          </a:p>
          <a:p>
            <a:pPr lvl="0"/>
            <a:r>
              <a:rPr lang="en-IN" dirty="0"/>
              <a:t>Ownership records updated after transactions</a:t>
            </a:r>
          </a:p>
          <a:p>
            <a:r>
              <a:rPr lang="en-IN" b="1" dirty="0"/>
              <a:t>Trading</a:t>
            </a:r>
            <a:endParaRPr lang="en-IN" dirty="0"/>
          </a:p>
          <a:p>
            <a:pPr lvl="0"/>
            <a:r>
              <a:rPr lang="en-IN" dirty="0"/>
              <a:t>AMM swap workflow tested</a:t>
            </a:r>
          </a:p>
          <a:p>
            <a:pPr lvl="0"/>
            <a:r>
              <a:rPr lang="en-IN" dirty="0"/>
              <a:t>Order-book trading workflow tested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A0DD4-DB85-D985-7360-F72A896BA1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431795-0F23-E333-EE33-9475D3A03723}"/>
              </a:ext>
            </a:extLst>
          </p:cNvPr>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17. Results &amp; Performance</a:t>
            </a:r>
          </a:p>
        </p:txBody>
      </p:sp>
      <p:sp>
        <p:nvSpPr>
          <p:cNvPr id="3" name="Rectangle 2">
            <a:extLst>
              <a:ext uri="{FF2B5EF4-FFF2-40B4-BE49-F238E27FC236}">
                <a16:creationId xmlns:a16="http://schemas.microsoft.com/office/drawing/2014/main" id="{484E75BD-C5D2-E6C2-D9B3-743238AC7930}"/>
              </a:ext>
            </a:extLst>
          </p:cNvPr>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a:extLst>
              <a:ext uri="{FF2B5EF4-FFF2-40B4-BE49-F238E27FC236}">
                <a16:creationId xmlns:a16="http://schemas.microsoft.com/office/drawing/2014/main" id="{D1D98AA9-90D1-ACFD-8C2A-4981FBB41E56}"/>
              </a:ext>
            </a:extLst>
          </p:cNvPr>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a:extLst>
              <a:ext uri="{FF2B5EF4-FFF2-40B4-BE49-F238E27FC236}">
                <a16:creationId xmlns:a16="http://schemas.microsoft.com/office/drawing/2014/main" id="{300B41BD-BF06-37F0-A9B7-EF95505FDB78}"/>
              </a:ext>
            </a:extLst>
          </p:cNvPr>
          <p:cNvPicPr>
            <a:picLocks noChangeAspect="1"/>
          </p:cNvPicPr>
          <p:nvPr/>
        </p:nvPicPr>
        <p:blipFill>
          <a:blip r:embed="rId3"/>
          <a:stretch>
            <a:fillRect/>
          </a:stretch>
        </p:blipFill>
        <p:spPr>
          <a:xfrm>
            <a:off x="11109960" y="91440"/>
            <a:ext cx="777240" cy="860516"/>
          </a:xfrm>
          <a:prstGeom prst="rect">
            <a:avLst/>
          </a:prstGeom>
        </p:spPr>
      </p:pic>
      <p:sp>
        <p:nvSpPr>
          <p:cNvPr id="6" name="TextBox 5">
            <a:extLst>
              <a:ext uri="{FF2B5EF4-FFF2-40B4-BE49-F238E27FC236}">
                <a16:creationId xmlns:a16="http://schemas.microsoft.com/office/drawing/2014/main" id="{C6B95275-3288-ACC1-98EA-DF3F9C92FF00}"/>
              </a:ext>
            </a:extLst>
          </p:cNvPr>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a:extLst>
              <a:ext uri="{FF2B5EF4-FFF2-40B4-BE49-F238E27FC236}">
                <a16:creationId xmlns:a16="http://schemas.microsoft.com/office/drawing/2014/main" id="{1DCA7162-AB29-D33F-C4B7-18F4AB002CF9}"/>
              </a:ext>
            </a:extLst>
          </p:cNvPr>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17</a:t>
            </a:r>
          </a:p>
        </p:txBody>
      </p:sp>
      <p:graphicFrame>
        <p:nvGraphicFramePr>
          <p:cNvPr id="9" name="Table 8">
            <a:extLst>
              <a:ext uri="{FF2B5EF4-FFF2-40B4-BE49-F238E27FC236}">
                <a16:creationId xmlns:a16="http://schemas.microsoft.com/office/drawing/2014/main" id="{61626768-833E-95BD-62FE-C64016ADFF6D}"/>
              </a:ext>
            </a:extLst>
          </p:cNvPr>
          <p:cNvGraphicFramePr>
            <a:graphicFrameLocks noGrp="1"/>
          </p:cNvGraphicFramePr>
          <p:nvPr>
            <p:extLst>
              <p:ext uri="{D42A27DB-BD31-4B8C-83A1-F6EECF244321}">
                <p14:modId xmlns:p14="http://schemas.microsoft.com/office/powerpoint/2010/main" val="1293751295"/>
              </p:ext>
            </p:extLst>
          </p:nvPr>
        </p:nvGraphicFramePr>
        <p:xfrm>
          <a:off x="1676400" y="1600200"/>
          <a:ext cx="8229600" cy="3657600"/>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1175531667"/>
                    </a:ext>
                  </a:extLst>
                </a:gridCol>
                <a:gridCol w="4114800">
                  <a:extLst>
                    <a:ext uri="{9D8B030D-6E8A-4147-A177-3AD203B41FA5}">
                      <a16:colId xmlns:a16="http://schemas.microsoft.com/office/drawing/2014/main" val="2381696227"/>
                    </a:ext>
                  </a:extLst>
                </a:gridCol>
              </a:tblGrid>
              <a:tr h="0">
                <a:tc>
                  <a:txBody>
                    <a:bodyPr/>
                    <a:lstStyle/>
                    <a:p>
                      <a:pPr algn="ctr">
                        <a:buNone/>
                      </a:pPr>
                      <a:r>
                        <a:rPr lang="en-IN" b="1" dirty="0"/>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6911124"/>
                  </a:ext>
                </a:extLst>
              </a:tr>
              <a:tr h="0">
                <a:tc>
                  <a:txBody>
                    <a:bodyPr/>
                    <a:lstStyle/>
                    <a:p>
                      <a:pPr algn="ctr">
                        <a:buNone/>
                      </a:pPr>
                      <a:r>
                        <a:rPr lang="en-IN" dirty="0"/>
                        <a:t>User Registration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2594630"/>
                  </a:ext>
                </a:extLst>
              </a:tr>
              <a:tr h="0">
                <a:tc>
                  <a:txBody>
                    <a:bodyPr/>
                    <a:lstStyle/>
                    <a:p>
                      <a:pPr algn="ctr">
                        <a:buNone/>
                      </a:pPr>
                      <a:r>
                        <a:rPr lang="en-IN"/>
                        <a:t>Asset Creation &amp; Listing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716419"/>
                  </a:ext>
                </a:extLst>
              </a:tr>
              <a:tr h="0">
                <a:tc>
                  <a:txBody>
                    <a:bodyPr/>
                    <a:lstStyle/>
                    <a:p>
                      <a:pPr algn="ctr">
                        <a:buNone/>
                      </a:pPr>
                      <a:r>
                        <a:rPr lang="en-IN" dirty="0"/>
                        <a:t>Wallet Connection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828070"/>
                  </a:ext>
                </a:extLst>
              </a:tr>
              <a:tr h="0">
                <a:tc>
                  <a:txBody>
                    <a:bodyPr/>
                    <a:lstStyle/>
                    <a:p>
                      <a:pPr algn="ctr">
                        <a:buNone/>
                      </a:pPr>
                      <a:r>
                        <a:rPr lang="en-IN" dirty="0"/>
                        <a:t>Token Purchase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a:t>✓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0330206"/>
                  </a:ext>
                </a:extLst>
              </a:tr>
              <a:tr h="0">
                <a:tc>
                  <a:txBody>
                    <a:bodyPr/>
                    <a:lstStyle/>
                    <a:p>
                      <a:pPr algn="ctr">
                        <a:buNone/>
                      </a:pPr>
                      <a:r>
                        <a:rPr lang="en-IN" dirty="0"/>
                        <a:t>Token Transfer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067236"/>
                  </a:ext>
                </a:extLst>
              </a:tr>
              <a:tr h="0">
                <a:tc>
                  <a:txBody>
                    <a:bodyPr/>
                    <a:lstStyle/>
                    <a:p>
                      <a:pPr algn="ctr">
                        <a:buNone/>
                      </a:pPr>
                      <a:r>
                        <a:rPr lang="en-IN"/>
                        <a:t>Invalid Transaction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8626053"/>
                  </a:ext>
                </a:extLst>
              </a:tr>
              <a:tr h="0">
                <a:tc>
                  <a:txBody>
                    <a:bodyPr/>
                    <a:lstStyle/>
                    <a:p>
                      <a:pPr algn="ctr">
                        <a:buNone/>
                      </a:pPr>
                      <a:r>
                        <a:rPr lang="en-IN" dirty="0"/>
                        <a:t>Ownership Verification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5107709"/>
                  </a:ext>
                </a:extLst>
              </a:tr>
              <a:tr h="0">
                <a:tc>
                  <a:txBody>
                    <a:bodyPr/>
                    <a:lstStyle/>
                    <a:p>
                      <a:pPr algn="ctr">
                        <a:buNone/>
                      </a:pPr>
                      <a:r>
                        <a:rPr lang="en-IN"/>
                        <a:t>Order-Book Trade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a:t>✓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9453545"/>
                  </a:ext>
                </a:extLst>
              </a:tr>
              <a:tr h="0">
                <a:tc>
                  <a:txBody>
                    <a:bodyPr/>
                    <a:lstStyle/>
                    <a:p>
                      <a:pPr algn="ctr">
                        <a:buNone/>
                      </a:pPr>
                      <a:r>
                        <a:rPr lang="en-IN"/>
                        <a:t>AMM Swap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9003598"/>
                  </a:ext>
                </a:extLst>
              </a:tr>
            </a:tbl>
          </a:graphicData>
        </a:graphic>
      </p:graphicFrame>
    </p:spTree>
    <p:extLst>
      <p:ext uri="{BB962C8B-B14F-4D97-AF65-F5344CB8AC3E}">
        <p14:creationId xmlns:p14="http://schemas.microsoft.com/office/powerpoint/2010/main" val="19082125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18. Testing</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18</a:t>
            </a:r>
          </a:p>
        </p:txBody>
      </p:sp>
      <p:sp>
        <p:nvSpPr>
          <p:cNvPr id="8" name="TextBox 7"/>
          <p:cNvSpPr txBox="1"/>
          <p:nvPr/>
        </p:nvSpPr>
        <p:spPr>
          <a:xfrm>
            <a:off x="914400" y="1325880"/>
            <a:ext cx="10332720" cy="5078313"/>
          </a:xfrm>
          <a:prstGeom prst="rect">
            <a:avLst/>
          </a:prstGeom>
          <a:noFill/>
        </p:spPr>
        <p:txBody>
          <a:bodyPr wrap="square">
            <a:spAutoFit/>
          </a:bodyPr>
          <a:lstStyle/>
          <a:p>
            <a:pPr marL="457200" indent="-457200" algn="just">
              <a:spcAft>
                <a:spcPts val="1200"/>
              </a:spcAft>
              <a:buFont typeface="+mj-lt"/>
              <a:buAutoNum type="arabicPeriod"/>
              <a:defRPr sz="2200">
                <a:solidFill>
                  <a:srgbClr val="141414"/>
                </a:solidFill>
                <a:latin typeface="Times New Roman"/>
              </a:defRPr>
            </a:pPr>
            <a:r>
              <a:rPr lang="en-US" b="1" dirty="0"/>
              <a:t>Functional Testing: </a:t>
            </a:r>
            <a:r>
              <a:rPr lang="en-US" dirty="0"/>
              <a:t>Tested user registration and authentication, Verified asset creation and listing, Tested wallet connection, Checked token purchase and transfer, Verified ownership updates.</a:t>
            </a:r>
          </a:p>
          <a:p>
            <a:pPr marL="457200" indent="-457200" algn="just">
              <a:spcAft>
                <a:spcPts val="1200"/>
              </a:spcAft>
              <a:buFont typeface="+mj-lt"/>
              <a:buAutoNum type="arabicPeriod"/>
              <a:defRPr sz="2200">
                <a:solidFill>
                  <a:srgbClr val="141414"/>
                </a:solidFill>
                <a:latin typeface="Times New Roman"/>
              </a:defRPr>
            </a:pPr>
            <a:r>
              <a:rPr lang="en-US" b="1" dirty="0"/>
              <a:t>Smart Contract Testing: </a:t>
            </a:r>
            <a:r>
              <a:rPr lang="en-US" dirty="0"/>
              <a:t>Tested token balances and ownership changes, Verified token minting and transfer, Checked transaction validation conditions, Invalid transactions were rejected by the smart contract.</a:t>
            </a:r>
          </a:p>
          <a:p>
            <a:pPr marL="457200" indent="-457200" algn="just">
              <a:spcAft>
                <a:spcPts val="1200"/>
              </a:spcAft>
              <a:buFont typeface="+mj-lt"/>
              <a:buAutoNum type="arabicPeriod"/>
              <a:defRPr sz="2200">
                <a:solidFill>
                  <a:srgbClr val="141414"/>
                </a:solidFill>
                <a:latin typeface="Times New Roman"/>
              </a:defRPr>
            </a:pPr>
            <a:r>
              <a:rPr lang="en-US" b="1" dirty="0"/>
              <a:t>Integration Testing: </a:t>
            </a:r>
            <a:r>
              <a:rPr lang="en-US" dirty="0"/>
              <a:t>Tested communication between:</a:t>
            </a:r>
          </a:p>
          <a:p>
            <a:pPr algn="just">
              <a:spcAft>
                <a:spcPts val="1200"/>
              </a:spcAft>
              <a:defRPr sz="2200">
                <a:solidFill>
                  <a:srgbClr val="141414"/>
                </a:solidFill>
                <a:latin typeface="Times New Roman"/>
              </a:defRPr>
            </a:pPr>
            <a:r>
              <a:rPr lang="en-US" dirty="0"/>
              <a:t>       React.js → Node.js/Express → MongoDB, Tested </a:t>
            </a:r>
            <a:r>
              <a:rPr lang="en-US" dirty="0" err="1"/>
              <a:t>MetaMask</a:t>
            </a:r>
            <a:r>
              <a:rPr lang="en-US" dirty="0"/>
              <a:t> → Smart Contract,    	Verified that frontend transactions correctly reached the blockchain.</a:t>
            </a:r>
          </a:p>
          <a:p>
            <a:pPr algn="just">
              <a:spcAft>
                <a:spcPts val="1200"/>
              </a:spcAft>
              <a:defRPr sz="2200">
                <a:solidFill>
                  <a:srgbClr val="141414"/>
                </a:solidFill>
                <a:latin typeface="Times New Roman"/>
              </a:defRPr>
            </a:pPr>
            <a:r>
              <a:rPr lang="en-US" dirty="0"/>
              <a:t>4.	</a:t>
            </a:r>
            <a:r>
              <a:rPr lang="en-US" b="1" dirty="0"/>
              <a:t>Usability Testing: </a:t>
            </a:r>
            <a:r>
              <a:rPr lang="en-US" dirty="0"/>
              <a:t>Checked the user workflow:</a:t>
            </a:r>
          </a:p>
          <a:p>
            <a:pPr algn="just">
              <a:spcAft>
                <a:spcPts val="1200"/>
              </a:spcAft>
              <a:defRPr sz="2200">
                <a:solidFill>
                  <a:srgbClr val="141414"/>
                </a:solidFill>
                <a:latin typeface="Times New Roman"/>
              </a:defRPr>
            </a:pPr>
            <a:r>
              <a:rPr lang="en-US" dirty="0"/>
              <a:t>	Select Asset → Connect Wallet → Approve Transaction → Verify Portfolio</a:t>
            </a:r>
          </a:p>
          <a:p>
            <a:pPr algn="just">
              <a:spcAft>
                <a:spcPts val="1200"/>
              </a:spcAft>
              <a:defRPr sz="2200">
                <a:solidFill>
                  <a:srgbClr val="141414"/>
                </a:solidFill>
                <a:latin typeface="Times New Roman"/>
              </a:defRPr>
            </a:pPr>
            <a:r>
              <a:rPr lang="en-US" dirty="0"/>
              <a:t>	Checked ease of navigation and transaction feedback.</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18. Testing</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18</a:t>
            </a:r>
          </a:p>
        </p:txBody>
      </p:sp>
      <p:graphicFrame>
        <p:nvGraphicFramePr>
          <p:cNvPr id="9" name="Table 8">
            <a:extLst>
              <a:ext uri="{FF2B5EF4-FFF2-40B4-BE49-F238E27FC236}">
                <a16:creationId xmlns:a16="http://schemas.microsoft.com/office/drawing/2014/main" id="{7322761C-193E-4F7A-99DC-8AD99237F10A}"/>
              </a:ext>
            </a:extLst>
          </p:cNvPr>
          <p:cNvGraphicFramePr>
            <a:graphicFrameLocks noGrp="1"/>
          </p:cNvGraphicFramePr>
          <p:nvPr>
            <p:extLst>
              <p:ext uri="{D42A27DB-BD31-4B8C-83A1-F6EECF244321}">
                <p14:modId xmlns:p14="http://schemas.microsoft.com/office/powerpoint/2010/main" val="3443189707"/>
              </p:ext>
            </p:extLst>
          </p:nvPr>
        </p:nvGraphicFramePr>
        <p:xfrm>
          <a:off x="914400" y="1227326"/>
          <a:ext cx="10332720" cy="5183259"/>
        </p:xfrm>
        <a:graphic>
          <a:graphicData uri="http://schemas.openxmlformats.org/drawingml/2006/table">
            <a:tbl>
              <a:tblPr firstRow="1" bandRow="1">
                <a:tableStyleId>{5940675A-B579-460E-94D1-54222C63F5DA}</a:tableStyleId>
              </a:tblPr>
              <a:tblGrid>
                <a:gridCol w="3444240">
                  <a:extLst>
                    <a:ext uri="{9D8B030D-6E8A-4147-A177-3AD203B41FA5}">
                      <a16:colId xmlns:a16="http://schemas.microsoft.com/office/drawing/2014/main" val="2017389272"/>
                    </a:ext>
                  </a:extLst>
                </a:gridCol>
                <a:gridCol w="3444240">
                  <a:extLst>
                    <a:ext uri="{9D8B030D-6E8A-4147-A177-3AD203B41FA5}">
                      <a16:colId xmlns:a16="http://schemas.microsoft.com/office/drawing/2014/main" val="2228914440"/>
                    </a:ext>
                  </a:extLst>
                </a:gridCol>
                <a:gridCol w="3444240">
                  <a:extLst>
                    <a:ext uri="{9D8B030D-6E8A-4147-A177-3AD203B41FA5}">
                      <a16:colId xmlns:a16="http://schemas.microsoft.com/office/drawing/2014/main" val="1572982209"/>
                    </a:ext>
                  </a:extLst>
                </a:gridCol>
              </a:tblGrid>
              <a:tr h="415737">
                <a:tc>
                  <a:txBody>
                    <a:bodyPr/>
                    <a:lstStyle/>
                    <a:p>
                      <a:pPr algn="ctr"/>
                      <a:r>
                        <a:rPr lang="en-US" sz="2200" b="1" dirty="0">
                          <a:latin typeface="Times New Roman" panose="02020603050405020304" pitchFamily="18" charset="0"/>
                          <a:cs typeface="Times New Roman" panose="02020603050405020304" pitchFamily="18" charset="0"/>
                        </a:rPr>
                        <a:t>Test Case</a:t>
                      </a:r>
                    </a:p>
                  </a:txBody>
                  <a:tcPr/>
                </a:tc>
                <a:tc>
                  <a:txBody>
                    <a:bodyPr/>
                    <a:lstStyle/>
                    <a:p>
                      <a:pPr algn="ctr"/>
                      <a:r>
                        <a:rPr lang="en-US" sz="2200" b="1" dirty="0">
                          <a:latin typeface="Times New Roman" panose="02020603050405020304" pitchFamily="18" charset="0"/>
                          <a:cs typeface="Times New Roman" panose="02020603050405020304" pitchFamily="18" charset="0"/>
                        </a:rPr>
                        <a:t>Expected Outcome</a:t>
                      </a:r>
                    </a:p>
                  </a:txBody>
                  <a:tcPr/>
                </a:tc>
                <a:tc>
                  <a:txBody>
                    <a:bodyPr/>
                    <a:lstStyle/>
                    <a:p>
                      <a:pPr algn="ctr"/>
                      <a:r>
                        <a:rPr lang="en-US" sz="2200" b="1" dirty="0">
                          <a:latin typeface="Times New Roman" panose="02020603050405020304" pitchFamily="18" charset="0"/>
                          <a:cs typeface="Times New Roman" panose="02020603050405020304" pitchFamily="18" charset="0"/>
                        </a:rPr>
                        <a:t>Result</a:t>
                      </a:r>
                    </a:p>
                  </a:txBody>
                  <a:tcPr/>
                </a:tc>
                <a:extLst>
                  <a:ext uri="{0D108BD9-81ED-4DB2-BD59-A6C34878D82A}">
                    <a16:rowId xmlns:a16="http://schemas.microsoft.com/office/drawing/2014/main" val="2517446741"/>
                  </a:ext>
                </a:extLst>
              </a:tr>
              <a:tr h="569513">
                <a:tc>
                  <a:txBody>
                    <a:bodyPr/>
                    <a:lstStyle/>
                    <a:p>
                      <a:pPr algn="ctr"/>
                      <a:r>
                        <a:rPr lang="en-US" sz="2200" dirty="0">
                          <a:latin typeface="Times New Roman" panose="02020603050405020304" pitchFamily="18" charset="0"/>
                          <a:cs typeface="Times New Roman" panose="02020603050405020304" pitchFamily="18" charset="0"/>
                        </a:rPr>
                        <a:t>User registration/login</a:t>
                      </a:r>
                    </a:p>
                  </a:txBody>
                  <a:tcPr/>
                </a:tc>
                <a:tc>
                  <a:txBody>
                    <a:bodyPr/>
                    <a:lstStyle/>
                    <a:p>
                      <a:pPr algn="ctr"/>
                      <a:r>
                        <a:rPr lang="en-US" sz="2200" dirty="0">
                          <a:latin typeface="Times New Roman" panose="02020603050405020304" pitchFamily="18" charset="0"/>
                          <a:cs typeface="Times New Roman" panose="02020603050405020304" pitchFamily="18" charset="0"/>
                        </a:rPr>
                        <a:t>User successfully authenticated</a:t>
                      </a:r>
                    </a:p>
                  </a:txBody>
                  <a:tcPr/>
                </a:tc>
                <a:tc>
                  <a:txBody>
                    <a:bodyPr/>
                    <a:lstStyle/>
                    <a:p>
                      <a:r>
                        <a:rPr lang="en-US" sz="22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3026362938"/>
                  </a:ext>
                </a:extLst>
              </a:tr>
              <a:tr h="477649">
                <a:tc>
                  <a:txBody>
                    <a:bodyPr/>
                    <a:lstStyle/>
                    <a:p>
                      <a:pPr algn="ctr"/>
                      <a:r>
                        <a:rPr lang="en-US" sz="2200" dirty="0">
                          <a:latin typeface="Times New Roman" panose="02020603050405020304" pitchFamily="18" charset="0"/>
                          <a:cs typeface="Times New Roman" panose="02020603050405020304" pitchFamily="18" charset="0"/>
                        </a:rPr>
                        <a:t>Asset listing</a:t>
                      </a:r>
                    </a:p>
                  </a:txBody>
                  <a:tcPr/>
                </a:tc>
                <a:tc>
                  <a:txBody>
                    <a:bodyPr/>
                    <a:lstStyle/>
                    <a:p>
                      <a:pPr algn="ctr"/>
                      <a:r>
                        <a:rPr lang="en-US" sz="2200" dirty="0">
                          <a:latin typeface="Times New Roman" panose="02020603050405020304" pitchFamily="18" charset="0"/>
                          <a:cs typeface="Times New Roman" panose="02020603050405020304" pitchFamily="18" charset="0"/>
                        </a:rPr>
                        <a:t>Asset details displayed correctly</a:t>
                      </a:r>
                    </a:p>
                  </a:txBody>
                  <a:tcPr/>
                </a:tc>
                <a:tc>
                  <a:txBody>
                    <a:bodyPr/>
                    <a:lstStyle/>
                    <a:p>
                      <a:r>
                        <a:rPr lang="en-US" sz="22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2278642345"/>
                  </a:ext>
                </a:extLst>
              </a:tr>
              <a:tr h="569513">
                <a:tc>
                  <a:txBody>
                    <a:bodyPr/>
                    <a:lstStyle/>
                    <a:p>
                      <a:pPr algn="ctr"/>
                      <a:r>
                        <a:rPr lang="en-US" sz="2200" dirty="0">
                          <a:latin typeface="Times New Roman" panose="02020603050405020304" pitchFamily="18" charset="0"/>
                          <a:cs typeface="Times New Roman" panose="02020603050405020304" pitchFamily="18" charset="0"/>
                        </a:rPr>
                        <a:t>Wallet connection</a:t>
                      </a:r>
                    </a:p>
                  </a:txBody>
                  <a:tcPr/>
                </a:tc>
                <a:tc>
                  <a:txBody>
                    <a:bodyPr/>
                    <a:lstStyle/>
                    <a:p>
                      <a:pPr algn="ctr"/>
                      <a:r>
                        <a:rPr lang="en-US" sz="2200" dirty="0" err="1">
                          <a:latin typeface="Times New Roman" panose="02020603050405020304" pitchFamily="18" charset="0"/>
                          <a:cs typeface="Times New Roman" panose="02020603050405020304" pitchFamily="18" charset="0"/>
                        </a:rPr>
                        <a:t>MetaMask</a:t>
                      </a:r>
                      <a:r>
                        <a:rPr lang="en-US" sz="2200" dirty="0">
                          <a:latin typeface="Times New Roman" panose="02020603050405020304" pitchFamily="18" charset="0"/>
                          <a:cs typeface="Times New Roman" panose="02020603050405020304" pitchFamily="18" charset="0"/>
                        </a:rPr>
                        <a:t> connects successfully</a:t>
                      </a:r>
                    </a:p>
                  </a:txBody>
                  <a:tcPr/>
                </a:tc>
                <a:tc>
                  <a:txBody>
                    <a:bodyPr/>
                    <a:lstStyle/>
                    <a:p>
                      <a:r>
                        <a:rPr lang="en-US" sz="22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1641024700"/>
                  </a:ext>
                </a:extLst>
              </a:tr>
              <a:tr h="569513">
                <a:tc>
                  <a:txBody>
                    <a:bodyPr/>
                    <a:lstStyle/>
                    <a:p>
                      <a:pPr algn="ctr"/>
                      <a:r>
                        <a:rPr lang="en-US" sz="2200" dirty="0">
                          <a:latin typeface="Times New Roman" panose="02020603050405020304" pitchFamily="18" charset="0"/>
                          <a:cs typeface="Times New Roman" panose="02020603050405020304" pitchFamily="18" charset="0"/>
                        </a:rPr>
                        <a:t>Token Purchase</a:t>
                      </a:r>
                    </a:p>
                  </a:txBody>
                  <a:tcPr/>
                </a:tc>
                <a:tc>
                  <a:txBody>
                    <a:bodyPr/>
                    <a:lstStyle/>
                    <a:p>
                      <a:pPr algn="ctr"/>
                      <a:r>
                        <a:rPr lang="en-US" sz="2200" dirty="0">
                          <a:latin typeface="Times New Roman" panose="02020603050405020304" pitchFamily="18" charset="0"/>
                          <a:cs typeface="Times New Roman" panose="02020603050405020304" pitchFamily="18" charset="0"/>
                        </a:rPr>
                        <a:t>Tokens transferred to buyer</a:t>
                      </a:r>
                    </a:p>
                  </a:txBody>
                  <a:tcPr/>
                </a:tc>
                <a:tc>
                  <a:txBody>
                    <a:bodyPr/>
                    <a:lstStyle/>
                    <a:p>
                      <a:r>
                        <a:rPr lang="en-US" sz="22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4100981712"/>
                  </a:ext>
                </a:extLst>
              </a:tr>
              <a:tr h="569513">
                <a:tc>
                  <a:txBody>
                    <a:bodyPr/>
                    <a:lstStyle/>
                    <a:p>
                      <a:pPr algn="ctr"/>
                      <a:r>
                        <a:rPr lang="en-US" sz="2200" dirty="0">
                          <a:latin typeface="Times New Roman" panose="02020603050405020304" pitchFamily="18" charset="0"/>
                          <a:cs typeface="Times New Roman" panose="02020603050405020304" pitchFamily="18" charset="0"/>
                        </a:rPr>
                        <a:t>Token transfer</a:t>
                      </a:r>
                    </a:p>
                  </a:txBody>
                  <a:tcPr/>
                </a:tc>
                <a:tc>
                  <a:txBody>
                    <a:bodyPr/>
                    <a:lstStyle/>
                    <a:p>
                      <a:pPr algn="ctr"/>
                      <a:r>
                        <a:rPr lang="en-US" sz="2200" dirty="0">
                          <a:latin typeface="Times New Roman" panose="02020603050405020304" pitchFamily="18" charset="0"/>
                          <a:cs typeface="Times New Roman" panose="02020603050405020304" pitchFamily="18" charset="0"/>
                        </a:rPr>
                        <a:t>Ownership/balance updated</a:t>
                      </a:r>
                    </a:p>
                  </a:txBody>
                  <a:tcPr/>
                </a:tc>
                <a:tc>
                  <a:txBody>
                    <a:bodyPr/>
                    <a:lstStyle/>
                    <a:p>
                      <a:r>
                        <a:rPr lang="en-US" sz="22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157352149"/>
                  </a:ext>
                </a:extLst>
              </a:tr>
              <a:tr h="569513">
                <a:tc>
                  <a:txBody>
                    <a:bodyPr/>
                    <a:lstStyle/>
                    <a:p>
                      <a:pPr algn="ctr"/>
                      <a:r>
                        <a:rPr lang="en-US" sz="2200" dirty="0">
                          <a:latin typeface="Times New Roman" panose="02020603050405020304" pitchFamily="18" charset="0"/>
                          <a:cs typeface="Times New Roman" panose="02020603050405020304" pitchFamily="18" charset="0"/>
                        </a:rPr>
                        <a:t>Invalid transaction</a:t>
                      </a:r>
                    </a:p>
                  </a:txBody>
                  <a:tcPr/>
                </a:tc>
                <a:tc>
                  <a:txBody>
                    <a:bodyPr/>
                    <a:lstStyle/>
                    <a:p>
                      <a:pPr algn="ctr"/>
                      <a:r>
                        <a:rPr lang="en-US" sz="2200" dirty="0">
                          <a:latin typeface="Times New Roman" panose="02020603050405020304" pitchFamily="18" charset="0"/>
                          <a:cs typeface="Times New Roman" panose="02020603050405020304" pitchFamily="18" charset="0"/>
                        </a:rPr>
                        <a:t>Transaction rejected</a:t>
                      </a:r>
                    </a:p>
                  </a:txBody>
                  <a:tcPr/>
                </a:tc>
                <a:tc>
                  <a:txBody>
                    <a:bodyPr/>
                    <a:lstStyle/>
                    <a:p>
                      <a:r>
                        <a:rPr lang="en-US" sz="2200" dirty="0">
                          <a:latin typeface="Times New Roman" panose="02020603050405020304" pitchFamily="18" charset="0"/>
                          <a:cs typeface="Times New Roman" panose="02020603050405020304" pitchFamily="18" charset="0"/>
                        </a:rPr>
                        <a:t>              Passed </a:t>
                      </a:r>
                    </a:p>
                  </a:txBody>
                  <a:tcPr/>
                </a:tc>
                <a:extLst>
                  <a:ext uri="{0D108BD9-81ED-4DB2-BD59-A6C34878D82A}">
                    <a16:rowId xmlns:a16="http://schemas.microsoft.com/office/drawing/2014/main" val="3871709023"/>
                  </a:ext>
                </a:extLst>
              </a:tr>
              <a:tr h="569513">
                <a:tc>
                  <a:txBody>
                    <a:bodyPr/>
                    <a:lstStyle/>
                    <a:p>
                      <a:pPr algn="ctr"/>
                      <a:r>
                        <a:rPr lang="en-US" sz="2200" dirty="0">
                          <a:latin typeface="Times New Roman" panose="02020603050405020304" pitchFamily="18" charset="0"/>
                          <a:cs typeface="Times New Roman" panose="02020603050405020304" pitchFamily="18" charset="0"/>
                        </a:rPr>
                        <a:t>Ownership verification</a:t>
                      </a:r>
                    </a:p>
                  </a:txBody>
                  <a:tcPr/>
                </a:tc>
                <a:tc>
                  <a:txBody>
                    <a:bodyPr/>
                    <a:lstStyle/>
                    <a:p>
                      <a:pPr algn="ctr"/>
                      <a:r>
                        <a:rPr lang="en-US" sz="2200" dirty="0">
                          <a:latin typeface="Times New Roman" panose="02020603050405020304" pitchFamily="18" charset="0"/>
                          <a:cs typeface="Times New Roman" panose="02020603050405020304" pitchFamily="18" charset="0"/>
                        </a:rPr>
                        <a:t>Blockchain balance matches application</a:t>
                      </a:r>
                    </a:p>
                  </a:txBody>
                  <a:tcPr/>
                </a:tc>
                <a:tc>
                  <a:txBody>
                    <a:bodyPr/>
                    <a:lstStyle/>
                    <a:p>
                      <a:r>
                        <a:rPr lang="en-US" sz="22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1422490547"/>
                  </a:ext>
                </a:extLst>
              </a:tr>
            </a:tbl>
          </a:graphicData>
        </a:graphic>
      </p:graphicFrame>
      <p:pic>
        <p:nvPicPr>
          <p:cNvPr id="11" name="Graphic 10" descr="Checkmark">
            <a:extLst>
              <a:ext uri="{FF2B5EF4-FFF2-40B4-BE49-F238E27FC236}">
                <a16:creationId xmlns:a16="http://schemas.microsoft.com/office/drawing/2014/main" id="{1235BBC2-F8EC-4A5D-99D8-E77D1C1540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0124" y="1683272"/>
            <a:ext cx="214312" cy="430887"/>
          </a:xfrm>
          <a:prstGeom prst="rect">
            <a:avLst/>
          </a:prstGeom>
        </p:spPr>
      </p:pic>
      <p:pic>
        <p:nvPicPr>
          <p:cNvPr id="12" name="Graphic 11" descr="Checkmark">
            <a:extLst>
              <a:ext uri="{FF2B5EF4-FFF2-40B4-BE49-F238E27FC236}">
                <a16:creationId xmlns:a16="http://schemas.microsoft.com/office/drawing/2014/main" id="{FE7AE03C-FDE9-48AD-9F5D-532BF3D936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4886" y="2473487"/>
            <a:ext cx="209550" cy="430887"/>
          </a:xfrm>
          <a:prstGeom prst="rect">
            <a:avLst/>
          </a:prstGeom>
        </p:spPr>
      </p:pic>
      <p:pic>
        <p:nvPicPr>
          <p:cNvPr id="13" name="Graphic 12" descr="Checkmark">
            <a:extLst>
              <a:ext uri="{FF2B5EF4-FFF2-40B4-BE49-F238E27FC236}">
                <a16:creationId xmlns:a16="http://schemas.microsoft.com/office/drawing/2014/main" id="{ABECCE7A-A9A0-4AE9-A1C9-FBF4D71089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82025" y="3176779"/>
            <a:ext cx="209550" cy="430887"/>
          </a:xfrm>
          <a:prstGeom prst="rect">
            <a:avLst/>
          </a:prstGeom>
        </p:spPr>
      </p:pic>
      <p:pic>
        <p:nvPicPr>
          <p:cNvPr id="15" name="Graphic 14" descr="Checkmark">
            <a:extLst>
              <a:ext uri="{FF2B5EF4-FFF2-40B4-BE49-F238E27FC236}">
                <a16:creationId xmlns:a16="http://schemas.microsoft.com/office/drawing/2014/main" id="{CA21F2D0-11EC-45A8-9907-0473F3473C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0124" y="3975342"/>
            <a:ext cx="209550" cy="430887"/>
          </a:xfrm>
          <a:prstGeom prst="rect">
            <a:avLst/>
          </a:prstGeom>
        </p:spPr>
      </p:pic>
      <p:pic>
        <p:nvPicPr>
          <p:cNvPr id="16" name="Graphic 15" descr="Checkmark">
            <a:extLst>
              <a:ext uri="{FF2B5EF4-FFF2-40B4-BE49-F238E27FC236}">
                <a16:creationId xmlns:a16="http://schemas.microsoft.com/office/drawing/2014/main" id="{435589D9-122C-4BE4-A53E-4CB9341C08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86786" y="4554859"/>
            <a:ext cx="209550" cy="430887"/>
          </a:xfrm>
          <a:prstGeom prst="rect">
            <a:avLst/>
          </a:prstGeom>
        </p:spPr>
      </p:pic>
      <p:pic>
        <p:nvPicPr>
          <p:cNvPr id="17" name="Graphic 16" descr="Checkmark">
            <a:extLst>
              <a:ext uri="{FF2B5EF4-FFF2-40B4-BE49-F238E27FC236}">
                <a16:creationId xmlns:a16="http://schemas.microsoft.com/office/drawing/2014/main" id="{2D59ABEF-D20A-4A2E-9238-637A2F44EF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77260" y="5095646"/>
            <a:ext cx="209550" cy="430887"/>
          </a:xfrm>
          <a:prstGeom prst="rect">
            <a:avLst/>
          </a:prstGeom>
        </p:spPr>
      </p:pic>
      <p:pic>
        <p:nvPicPr>
          <p:cNvPr id="18" name="Graphic 17" descr="Checkmark">
            <a:extLst>
              <a:ext uri="{FF2B5EF4-FFF2-40B4-BE49-F238E27FC236}">
                <a16:creationId xmlns:a16="http://schemas.microsoft.com/office/drawing/2014/main" id="{9E177BB5-3C1E-4DD3-AABD-9E98D4451D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67735" y="5717495"/>
            <a:ext cx="209550" cy="430887"/>
          </a:xfrm>
          <a:prstGeom prst="rect">
            <a:avLst/>
          </a:prstGeom>
        </p:spPr>
      </p:pic>
    </p:spTree>
    <p:extLst>
      <p:ext uri="{BB962C8B-B14F-4D97-AF65-F5344CB8AC3E}">
        <p14:creationId xmlns:p14="http://schemas.microsoft.com/office/powerpoint/2010/main" val="2551889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19. Advantages, Conclusion &amp; Future Scope</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19</a:t>
            </a:r>
          </a:p>
        </p:txBody>
      </p:sp>
      <p:sp>
        <p:nvSpPr>
          <p:cNvPr id="8" name="TextBox 7"/>
          <p:cNvSpPr txBox="1"/>
          <p:nvPr/>
        </p:nvSpPr>
        <p:spPr>
          <a:xfrm>
            <a:off x="914400" y="1325880"/>
            <a:ext cx="10332720" cy="5724644"/>
          </a:xfrm>
          <a:prstGeom prst="rect">
            <a:avLst/>
          </a:prstGeom>
          <a:noFill/>
        </p:spPr>
        <p:txBody>
          <a:bodyPr wrap="square">
            <a:spAutoFit/>
          </a:bodyPr>
          <a:lstStyle/>
          <a:p>
            <a:pPr>
              <a:spcAft>
                <a:spcPts val="1200"/>
              </a:spcAft>
              <a:defRPr sz="2200">
                <a:solidFill>
                  <a:srgbClr val="141414"/>
                </a:solidFill>
                <a:latin typeface="Times New Roman"/>
              </a:defRPr>
            </a:pPr>
            <a:r>
              <a:rPr lang="en-US" b="1" dirty="0"/>
              <a:t>Advantages:</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b="1" dirty="0"/>
              <a:t>Fractional ownership </a:t>
            </a:r>
            <a:r>
              <a:rPr lang="en-US" dirty="0"/>
              <a:t>– users can own a smaller portion of high-value assets.</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b="1" dirty="0"/>
              <a:t>Transparency </a:t>
            </a:r>
            <a:r>
              <a:rPr lang="en-US" dirty="0"/>
              <a:t>– blockchain provides a verifiable record of token transactions.</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b="1" dirty="0"/>
              <a:t>Secure ownership management </a:t>
            </a:r>
            <a:r>
              <a:rPr lang="en-US" dirty="0"/>
              <a:t>– smart contracts manage token creation and transfers.</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b="1" dirty="0"/>
              <a:t>Reduced dependence on intermediaries </a:t>
            </a:r>
            <a:r>
              <a:rPr lang="en-US" dirty="0"/>
              <a:t>– ownership and transactions are managed through blockchain.</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b="1" dirty="0"/>
              <a:t>Easy access through web platform </a:t>
            </a:r>
            <a:r>
              <a:rPr lang="en-US" dirty="0"/>
              <a:t>– users can list assets, purchase tokens and track their portfolio.</a:t>
            </a:r>
          </a:p>
          <a:p>
            <a:pPr>
              <a:spcAft>
                <a:spcPts val="1200"/>
              </a:spcAft>
              <a:defRPr sz="2200">
                <a:solidFill>
                  <a:srgbClr val="141414"/>
                </a:solidFill>
                <a:latin typeface="Times New Roman"/>
              </a:defRPr>
            </a:pPr>
            <a:r>
              <a:rPr lang="en-US" b="1" dirty="0"/>
              <a:t>Conclusion:</a:t>
            </a:r>
          </a:p>
          <a:p>
            <a:pPr algn="just">
              <a:spcAft>
                <a:spcPts val="1200"/>
              </a:spcAft>
              <a:defRPr sz="2200">
                <a:solidFill>
                  <a:srgbClr val="141414"/>
                </a:solidFill>
                <a:latin typeface="Times New Roman"/>
              </a:defRPr>
            </a:pPr>
            <a:r>
              <a:rPr lang="en-US" dirty="0"/>
              <a:t>The project successfully demonstrates a prototype platform for converting real-world assets into fractional digital tokens using blockchain technology.</a:t>
            </a:r>
          </a:p>
          <a:p>
            <a:pPr>
              <a:spcAft>
                <a:spcPts val="1200"/>
              </a:spcAft>
              <a:defRPr sz="2200">
                <a:solidFill>
                  <a:srgbClr val="141414"/>
                </a:solidFill>
                <a:latin typeface="Times New Roman"/>
              </a:defRPr>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19. Advantages, Conclusion &amp; Future Scope</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19</a:t>
            </a:r>
          </a:p>
        </p:txBody>
      </p:sp>
      <p:sp>
        <p:nvSpPr>
          <p:cNvPr id="8" name="TextBox 7"/>
          <p:cNvSpPr txBox="1"/>
          <p:nvPr/>
        </p:nvSpPr>
        <p:spPr>
          <a:xfrm>
            <a:off x="914400" y="1219224"/>
            <a:ext cx="10332720" cy="5355312"/>
          </a:xfrm>
          <a:prstGeom prst="rect">
            <a:avLst/>
          </a:prstGeom>
          <a:noFill/>
        </p:spPr>
        <p:txBody>
          <a:bodyPr wrap="square">
            <a:spAutoFit/>
          </a:bodyPr>
          <a:lstStyle/>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React.js, Node.js/Express, MongoDB and Solidity were integrated into one platform.</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Smart contracts manage token ownership and transactions.</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err="1"/>
              <a:t>MetaMask</a:t>
            </a:r>
            <a:r>
              <a:rPr lang="en-US" dirty="0"/>
              <a:t> enables users to authorize blockchain transactions.</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Testing demonstrated the main asset, token and ownership workflows.</a:t>
            </a:r>
          </a:p>
          <a:p>
            <a:pPr algn="just">
              <a:spcAft>
                <a:spcPts val="1200"/>
              </a:spcAft>
              <a:defRPr sz="2200">
                <a:solidFill>
                  <a:srgbClr val="141414"/>
                </a:solidFill>
                <a:latin typeface="Times New Roman"/>
              </a:defRPr>
            </a:pPr>
            <a:r>
              <a:rPr lang="en-US" b="1" dirty="0"/>
              <a:t>Future Scope:</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Perform independent smart-contract security auditing &amp;  large-scale  testing.</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Improve wallet usability.</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Add support for more asset categories.</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Introduce stronger identity and compliance mechanisms.</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Deploy on a production blockchain.</a:t>
            </a:r>
          </a:p>
          <a:p>
            <a:pPr marL="342900" indent="-342900" algn="just">
              <a:spcAft>
                <a:spcPts val="1200"/>
              </a:spcAft>
              <a:buFont typeface="Arial" panose="020B0604020202020204" pitchFamily="34" charset="0"/>
              <a:buChar char="•"/>
              <a:defRPr sz="2200">
                <a:solidFill>
                  <a:srgbClr val="141414"/>
                </a:solidFill>
                <a:latin typeface="Times New Roman"/>
              </a:defRPr>
            </a:pPr>
            <a:r>
              <a:rPr lang="en-US" dirty="0"/>
              <a:t>Add more advanced secondary-market trading features.</a:t>
            </a:r>
            <a:endParaRPr dirty="0"/>
          </a:p>
        </p:txBody>
      </p:sp>
    </p:spTree>
    <p:extLst>
      <p:ext uri="{BB962C8B-B14F-4D97-AF65-F5344CB8AC3E}">
        <p14:creationId xmlns:p14="http://schemas.microsoft.com/office/powerpoint/2010/main" val="3217500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20040"/>
            <a:ext cx="10332720" cy="502920"/>
          </a:xfrm>
          <a:prstGeom prst="rect">
            <a:avLst/>
          </a:prstGeom>
          <a:noFill/>
        </p:spPr>
        <p:txBody>
          <a:bodyPr wrap="none" anchor="ctr">
            <a:spAutoFit/>
          </a:bodyPr>
          <a:lstStyle/>
          <a:p>
            <a:pPr algn="ctr"/>
            <a:r>
              <a:rPr sz="2700" b="1" i="0">
                <a:solidFill>
                  <a:srgbClr val="14184E"/>
                </a:solidFill>
                <a:latin typeface="Times New Roman"/>
              </a:rPr>
              <a:t>20. References &amp; Thank You</a:t>
            </a:r>
          </a:p>
        </p:txBody>
      </p:sp>
      <p:sp>
        <p:nvSpPr>
          <p:cNvPr id="3" name="Rectangle 2"/>
          <p:cNvSpPr/>
          <p:nvPr/>
        </p:nvSpPr>
        <p:spPr>
          <a:xfrm>
            <a:off x="777240" y="960120"/>
            <a:ext cx="10652760" cy="22860"/>
          </a:xfrm>
          <a:prstGeom prst="rect">
            <a:avLst/>
          </a:prstGeom>
          <a:solidFill>
            <a:srgbClr val="141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mc_left_logo.png"/>
          <p:cNvPicPr>
            <a:picLocks noChangeAspect="1"/>
          </p:cNvPicPr>
          <p:nvPr/>
        </p:nvPicPr>
        <p:blipFill>
          <a:blip r:embed="rId2"/>
          <a:stretch>
            <a:fillRect/>
          </a:stretch>
        </p:blipFill>
        <p:spPr>
          <a:xfrm>
            <a:off x="228600" y="91440"/>
            <a:ext cx="777240" cy="892387"/>
          </a:xfrm>
          <a:prstGeom prst="rect">
            <a:avLst/>
          </a:prstGeom>
        </p:spPr>
      </p:pic>
      <p:pic>
        <p:nvPicPr>
          <p:cNvPr id="5" name="Picture 4" descr="amc_right_logo.png"/>
          <p:cNvPicPr>
            <a:picLocks noChangeAspect="1"/>
          </p:cNvPicPr>
          <p:nvPr/>
        </p:nvPicPr>
        <p:blipFill>
          <a:blip r:embed="rId3"/>
          <a:stretch>
            <a:fillRect/>
          </a:stretch>
        </p:blipFill>
        <p:spPr>
          <a:xfrm>
            <a:off x="11109960" y="91440"/>
            <a:ext cx="777240" cy="860516"/>
          </a:xfrm>
          <a:prstGeom prst="rect">
            <a:avLst/>
          </a:prstGeom>
        </p:spPr>
      </p:pic>
      <p:sp>
        <p:nvSpPr>
          <p:cNvPr id="6" name="TextBox 5"/>
          <p:cNvSpPr txBox="1"/>
          <p:nvPr/>
        </p:nvSpPr>
        <p:spPr>
          <a:xfrm>
            <a:off x="502920" y="6473952"/>
            <a:ext cx="8869680" cy="201168"/>
          </a:xfrm>
          <a:prstGeom prst="rect">
            <a:avLst/>
          </a:prstGeom>
          <a:noFill/>
        </p:spPr>
        <p:txBody>
          <a:bodyPr wrap="none" anchor="ctr">
            <a:spAutoFit/>
          </a:bodyPr>
          <a:lstStyle/>
          <a:p>
            <a:pPr algn="l"/>
            <a:r>
              <a:rPr sz="900" b="0" i="0">
                <a:solidFill>
                  <a:srgbClr val="5A5A5A"/>
                </a:solidFill>
                <a:latin typeface="Times New Roman"/>
              </a:rPr>
              <a:t>AMC Engineering College | Major Project Phase – II | BCS786</a:t>
            </a:r>
          </a:p>
        </p:txBody>
      </p:sp>
      <p:sp>
        <p:nvSpPr>
          <p:cNvPr id="7" name="TextBox 6"/>
          <p:cNvSpPr txBox="1"/>
          <p:nvPr/>
        </p:nvSpPr>
        <p:spPr>
          <a:xfrm>
            <a:off x="11155680" y="6446520"/>
            <a:ext cx="502920" cy="228600"/>
          </a:xfrm>
          <a:prstGeom prst="rect">
            <a:avLst/>
          </a:prstGeom>
          <a:noFill/>
        </p:spPr>
        <p:txBody>
          <a:bodyPr wrap="none" anchor="ctr">
            <a:spAutoFit/>
          </a:bodyPr>
          <a:lstStyle/>
          <a:p>
            <a:pPr algn="r"/>
            <a:r>
              <a:rPr sz="1000" b="0" i="0">
                <a:solidFill>
                  <a:srgbClr val="5A5A5A"/>
                </a:solidFill>
                <a:latin typeface="Times New Roman"/>
              </a:rPr>
              <a:t>20</a:t>
            </a:r>
          </a:p>
        </p:txBody>
      </p:sp>
      <p:sp>
        <p:nvSpPr>
          <p:cNvPr id="8" name="TextBox 7"/>
          <p:cNvSpPr txBox="1"/>
          <p:nvPr/>
        </p:nvSpPr>
        <p:spPr>
          <a:xfrm>
            <a:off x="914400" y="1325880"/>
            <a:ext cx="10332720" cy="4955203"/>
          </a:xfrm>
          <a:prstGeom prst="rect">
            <a:avLst/>
          </a:prstGeom>
          <a:noFill/>
        </p:spPr>
        <p:txBody>
          <a:bodyPr wrap="square">
            <a:spAutoFit/>
          </a:bodyPr>
          <a:lstStyle/>
          <a:p>
            <a:pPr>
              <a:spcAft>
                <a:spcPts val="1200"/>
              </a:spcAft>
              <a:defRPr sz="2200">
                <a:solidFill>
                  <a:srgbClr val="141414"/>
                </a:solidFill>
                <a:latin typeface="Times New Roman"/>
              </a:defRPr>
            </a:pPr>
            <a:r>
              <a:rPr lang="en-US" b="1" dirty="0"/>
              <a:t>REFERENCES</a:t>
            </a:r>
          </a:p>
          <a:p>
            <a:pPr>
              <a:spcAft>
                <a:spcPts val="1200"/>
              </a:spcAft>
              <a:defRPr sz="2200">
                <a:solidFill>
                  <a:srgbClr val="141414"/>
                </a:solidFill>
                <a:latin typeface="Times New Roman"/>
              </a:defRPr>
            </a:pPr>
            <a:r>
              <a:rPr lang="en-US" dirty="0"/>
              <a:t>Nishith Desai Associates (2025) – Real Estate </a:t>
            </a:r>
            <a:r>
              <a:rPr lang="en-US" dirty="0" err="1"/>
              <a:t>Tokenisation</a:t>
            </a:r>
            <a:r>
              <a:rPr lang="en-US" dirty="0"/>
              <a:t> — Legal, Tax and Regulatory Considerations.</a:t>
            </a:r>
          </a:p>
          <a:p>
            <a:pPr>
              <a:spcAft>
                <a:spcPts val="1200"/>
              </a:spcAft>
              <a:defRPr sz="2200">
                <a:solidFill>
                  <a:srgbClr val="141414"/>
                </a:solidFill>
                <a:latin typeface="Times New Roman"/>
              </a:defRPr>
            </a:pPr>
            <a:r>
              <a:rPr lang="en-US" dirty="0" err="1"/>
              <a:t>Agur</a:t>
            </a:r>
            <a:r>
              <a:rPr lang="en-US" dirty="0"/>
              <a:t> et al. (2025) – Tokenization and Financial Market Inefficiencies.</a:t>
            </a:r>
          </a:p>
          <a:p>
            <a:pPr>
              <a:spcAft>
                <a:spcPts val="1200"/>
              </a:spcAft>
              <a:defRPr sz="2200">
                <a:solidFill>
                  <a:srgbClr val="141414"/>
                </a:solidFill>
                <a:latin typeface="Times New Roman"/>
              </a:defRPr>
            </a:pPr>
            <a:r>
              <a:rPr lang="en-US" dirty="0"/>
              <a:t>World Economic Forum (2025) – Asset Tokenization in Financial Markets.</a:t>
            </a:r>
          </a:p>
          <a:p>
            <a:pPr>
              <a:spcAft>
                <a:spcPts val="1200"/>
              </a:spcAft>
              <a:defRPr sz="2200">
                <a:solidFill>
                  <a:srgbClr val="141414"/>
                </a:solidFill>
                <a:latin typeface="Times New Roman"/>
              </a:defRPr>
            </a:pPr>
            <a:r>
              <a:rPr lang="en-US" dirty="0" err="1"/>
              <a:t>Soni</a:t>
            </a:r>
            <a:r>
              <a:rPr lang="en-US" dirty="0"/>
              <a:t>, Fines &amp; Sun (2025) – An Investment Perspective on Tokenization.</a:t>
            </a:r>
          </a:p>
          <a:p>
            <a:pPr>
              <a:spcAft>
                <a:spcPts val="1200"/>
              </a:spcAft>
              <a:defRPr sz="2200">
                <a:solidFill>
                  <a:srgbClr val="141414"/>
                </a:solidFill>
                <a:latin typeface="Times New Roman"/>
              </a:defRPr>
            </a:pPr>
            <a:r>
              <a:rPr lang="en-US" dirty="0"/>
              <a:t>IFSCA (2025) – Regulatory Approach towards Tokenization of Real-World Assets.</a:t>
            </a:r>
          </a:p>
          <a:p>
            <a:pPr>
              <a:spcAft>
                <a:spcPts val="1200"/>
              </a:spcAft>
              <a:defRPr sz="2200">
                <a:solidFill>
                  <a:srgbClr val="141414"/>
                </a:solidFill>
                <a:latin typeface="Times New Roman"/>
              </a:defRPr>
            </a:pPr>
            <a:r>
              <a:rPr lang="en-US" dirty="0"/>
              <a:t>Benedetti &amp; Rodriguez-</a:t>
            </a:r>
            <a:r>
              <a:rPr lang="en-US" dirty="0" err="1"/>
              <a:t>Garnica</a:t>
            </a:r>
            <a:r>
              <a:rPr lang="en-US" dirty="0"/>
              <a:t> (2021) – Tokenized Assets and Securities.</a:t>
            </a:r>
          </a:p>
          <a:p>
            <a:pPr>
              <a:spcAft>
                <a:spcPts val="1200"/>
              </a:spcAft>
              <a:defRPr sz="2200">
                <a:solidFill>
                  <a:srgbClr val="141414"/>
                </a:solidFill>
                <a:latin typeface="Times New Roman"/>
              </a:defRPr>
            </a:pPr>
            <a:endParaRPr lang="en-US" sz="2800" dirty="0"/>
          </a:p>
          <a:p>
            <a:pPr>
              <a:spcAft>
                <a:spcPts val="1200"/>
              </a:spcAft>
              <a:defRPr sz="2200">
                <a:solidFill>
                  <a:srgbClr val="141414"/>
                </a:solidFill>
                <a:latin typeface="Times New Roman"/>
              </a:defRPr>
            </a:pPr>
            <a:r>
              <a:rPr lang="en-US" sz="2800" dirty="0"/>
              <a:t>                                         </a:t>
            </a:r>
            <a:r>
              <a:rPr lang="en-US" sz="3200" b="1" dirty="0"/>
              <a:t>THANK YOU</a:t>
            </a:r>
            <a:endParaRPr sz="32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1968</TotalTime>
  <Words>3238</Words>
  <Application>Microsoft Office PowerPoint</Application>
  <PresentationFormat>Widescreen</PresentationFormat>
  <Paragraphs>443</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SANJU</dc:creator>
  <cp:keywords/>
  <dc:description>generated using python-pptx</dc:description>
  <cp:lastModifiedBy>Omkar Bharath Pukale</cp:lastModifiedBy>
  <cp:revision>58</cp:revision>
  <dcterms:created xsi:type="dcterms:W3CDTF">2013-01-27T09:14:16Z</dcterms:created>
  <dcterms:modified xsi:type="dcterms:W3CDTF">2026-10-06T01:50:07Z</dcterms:modified>
  <cp:category/>
</cp:coreProperties>
</file>